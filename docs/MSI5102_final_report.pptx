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90" r:id="rId6"/>
    <p:sldId id="271" r:id="rId7"/>
    <p:sldId id="285" r:id="rId8"/>
    <p:sldId id="284" r:id="rId9"/>
    <p:sldId id="260" r:id="rId10"/>
    <p:sldId id="261" r:id="rId11"/>
    <p:sldId id="279" r:id="rId12"/>
    <p:sldId id="262" r:id="rId13"/>
    <p:sldId id="263" r:id="rId14"/>
    <p:sldId id="264" r:id="rId15"/>
    <p:sldId id="280" r:id="rId16"/>
    <p:sldId id="288" r:id="rId17"/>
    <p:sldId id="265" r:id="rId18"/>
    <p:sldId id="266" r:id="rId19"/>
    <p:sldId id="293" r:id="rId20"/>
    <p:sldId id="268" r:id="rId21"/>
    <p:sldId id="281" r:id="rId22"/>
    <p:sldId id="269" r:id="rId23"/>
    <p:sldId id="270" r:id="rId24"/>
    <p:sldId id="282" r:id="rId25"/>
    <p:sldId id="273" r:id="rId26"/>
    <p:sldId id="274" r:id="rId27"/>
    <p:sldId id="275" r:id="rId28"/>
    <p:sldId id="276" r:id="rId29"/>
    <p:sldId id="294" r:id="rId30"/>
    <p:sldId id="277"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E01C8B-3828-1E15-BDF5-BA2ECC257552}" name="Timothy Gan" initials="TG" userId="603b8ecd324149de" providerId="Windows Live"/>
  <p188:author id="{288F25A8-9833-5441-1BBD-7C50E276D034}" name="Jia Jie" initials="JJ" userId="S::e1553212@u.nus.edu::6cc7a658-4fb6-4d94-bc39-771ba042685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6FC"/>
    <a:srgbClr val="1E2760"/>
    <a:srgbClr val="718096"/>
    <a:srgbClr val="37A169"/>
    <a:srgbClr val="E53E3E"/>
    <a:srgbClr val="E9B930"/>
    <a:srgbClr val="805AD5"/>
    <a:srgbClr val="3C7ECA"/>
    <a:srgbClr val="3D7CCA"/>
    <a:srgbClr val="434A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92"/>
    <p:restoredTop sz="96245" autoAdjust="0"/>
  </p:normalViewPr>
  <p:slideViewPr>
    <p:cSldViewPr snapToGrid="0" snapToObjects="1">
      <p:cViewPr varScale="1">
        <p:scale>
          <a:sx n="148" d="100"/>
          <a:sy n="148" d="100"/>
        </p:scale>
        <p:origin x="20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3D7DCA"/>
            </a:solidFill>
            <a:effectLst/>
          </c:spPr>
          <c:invertIfNegative val="0"/>
          <c:dLbls>
            <c:numFmt formatCode="#,##0" sourceLinked="0"/>
            <c:spPr>
              <a:noFill/>
              <a:ln>
                <a:noFill/>
              </a:ln>
              <a:effectLst/>
            </c:spPr>
            <c:txPr>
              <a:bodyPr/>
              <a:lstStyle/>
              <a:p>
                <a:pPr>
                  <a:defRPr sz="1100" b="0" i="0" u="none" strike="noStrike">
                    <a:solidFill>
                      <a:srgbClr val="1E2761"/>
                    </a:solidFill>
                    <a:latin typeface="Arial"/>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CNN</c:v>
                </c:pt>
                <c:pt idx="1">
                  <c:v>MLP</c:v>
                </c:pt>
                <c:pt idx="2">
                  <c:v>KNN</c:v>
                </c:pt>
                <c:pt idx="3">
                  <c:v>LR</c:v>
                </c:pt>
              </c:strCache>
            </c:strRef>
          </c:cat>
          <c:val>
            <c:numRef>
              <c:f>Sheet1!$B$2:$B$5</c:f>
              <c:numCache>
                <c:formatCode>General</c:formatCode>
                <c:ptCount val="4"/>
                <c:pt idx="0">
                  <c:v>99.65</c:v>
                </c:pt>
                <c:pt idx="1">
                  <c:v>98.72</c:v>
                </c:pt>
                <c:pt idx="2">
                  <c:v>97.74</c:v>
                </c:pt>
                <c:pt idx="3">
                  <c:v>92.27</c:v>
                </c:pt>
              </c:numCache>
            </c:numRef>
          </c:val>
          <c:extLst>
            <c:ext xmlns:c16="http://schemas.microsoft.com/office/drawing/2014/chart" uri="{C3380CC4-5D6E-409C-BE32-E72D297353CC}">
              <c16:uniqueId val="{00000000-1EC9-A940-8149-A40C9507804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00"/>
          <c:min val="8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4A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0026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1743B-8914-E82C-A824-0FBD476A7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91F46-3063-E107-4315-27559E159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07AAD-1F50-8528-2FDF-BF7189BD307E}"/>
              </a:ext>
            </a:extLst>
          </p:cNvPr>
          <p:cNvSpPr>
            <a:spLocks noGrp="1"/>
          </p:cNvSpPr>
          <p:nvPr>
            <p:ph type="body" idx="1"/>
          </p:nvPr>
        </p:nvSpPr>
        <p:spPr/>
        <p:txBody>
          <a:bodyPr/>
          <a:lstStyle/>
          <a:p>
            <a:r>
              <a:rPr lang="zh-SG" altLang="en-US" sz="1200" b="0" i="0" kern="1200" dirty="0">
                <a:solidFill>
                  <a:schemeClr val="tx1"/>
                </a:solidFill>
                <a:effectLst/>
                <a:latin typeface="+mn-lt"/>
                <a:ea typeface="+mn-ea"/>
                <a:cs typeface="+mn-cs"/>
              </a:rPr>
              <a:t>两个传统模型可以共享一个清晰的调参框架</a:t>
            </a:r>
          </a:p>
          <a:p>
            <a:r>
              <a:rPr lang="zh-SG" altLang="en-US" sz="1200" b="0" i="0" kern="1200" dirty="0">
                <a:solidFill>
                  <a:schemeClr val="tx1"/>
                </a:solidFill>
                <a:effectLst/>
                <a:latin typeface="+mn-lt"/>
                <a:ea typeface="+mn-ea"/>
                <a:cs typeface="+mn-cs"/>
              </a:rPr>
              <a:t>可以直接比较不同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保留比例下的表现</a:t>
            </a:r>
          </a:p>
          <a:p>
            <a:r>
              <a:rPr lang="zh-SG" altLang="en-US" sz="1200" b="0" i="0" kern="1200" dirty="0">
                <a:solidFill>
                  <a:schemeClr val="tx1"/>
                </a:solidFill>
                <a:effectLst/>
                <a:latin typeface="+mn-lt"/>
                <a:ea typeface="+mn-ea"/>
                <a:cs typeface="+mn-cs"/>
              </a:rPr>
              <a:t>还能避免数据泄露，因为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在 </a:t>
            </a:r>
            <a:r>
              <a:rPr lang="en-US" altLang="zh-SG" sz="1200" b="0" i="0" kern="1200" dirty="0">
                <a:solidFill>
                  <a:schemeClr val="tx1"/>
                </a:solidFill>
                <a:effectLst/>
                <a:latin typeface="+mn-lt"/>
                <a:ea typeface="+mn-ea"/>
                <a:cs typeface="+mn-cs"/>
              </a:rPr>
              <a:t>CV fold </a:t>
            </a:r>
            <a:r>
              <a:rPr lang="zh-SG" altLang="en-US" sz="1200" b="0" i="0" kern="1200" dirty="0">
                <a:solidFill>
                  <a:schemeClr val="tx1"/>
                </a:solidFill>
                <a:effectLst/>
                <a:latin typeface="+mn-lt"/>
                <a:ea typeface="+mn-ea"/>
                <a:cs typeface="+mn-cs"/>
              </a:rPr>
              <a:t>内拟合</a:t>
            </a:r>
            <a:br>
              <a:rPr lang="en-US" altLang="zh-SG" sz="1200" b="0" i="0" kern="1200" dirty="0">
                <a:solidFill>
                  <a:schemeClr val="tx1"/>
                </a:solidFill>
                <a:effectLst/>
                <a:latin typeface="+mn-lt"/>
                <a:ea typeface="+mn-ea"/>
                <a:cs typeface="+mn-cs"/>
              </a:rPr>
            </a:br>
            <a:r>
              <a:rPr lang="zh-SG" altLang="en-US" sz="1200" b="0" i="0" kern="1200" dirty="0">
                <a:solidFill>
                  <a:schemeClr val="tx1"/>
                </a:solidFill>
                <a:effectLst/>
                <a:latin typeface="+mn-lt"/>
                <a:ea typeface="+mn-ea"/>
                <a:cs typeface="+mn-cs"/>
              </a:rPr>
              <a:t>假设当前这轮 </a:t>
            </a:r>
            <a:r>
              <a:rPr lang="en-US" altLang="zh-SG" sz="1200" b="0" i="0" kern="1200" dirty="0">
                <a:solidFill>
                  <a:schemeClr val="tx1"/>
                </a:solidFill>
                <a:effectLst/>
                <a:latin typeface="+mn-lt"/>
                <a:ea typeface="+mn-ea"/>
                <a:cs typeface="+mn-cs"/>
              </a:rPr>
              <a:t>CV </a:t>
            </a:r>
            <a:r>
              <a:rPr lang="zh-SG" altLang="en-US" sz="1200" b="0" i="0" kern="1200" dirty="0">
                <a:solidFill>
                  <a:schemeClr val="tx1"/>
                </a:solidFill>
                <a:effectLst/>
                <a:latin typeface="+mn-lt"/>
                <a:ea typeface="+mn-ea"/>
                <a:cs typeface="+mn-cs"/>
              </a:rPr>
              <a:t>里：</a:t>
            </a:r>
          </a:p>
          <a:p>
            <a:r>
              <a:rPr lang="en-US" altLang="zh-SG" sz="1200" b="0" i="0" kern="1200" dirty="0">
                <a:solidFill>
                  <a:schemeClr val="tx1"/>
                </a:solidFill>
                <a:effectLst/>
                <a:latin typeface="+mn-lt"/>
                <a:ea typeface="+mn-ea"/>
                <a:cs typeface="+mn-cs"/>
              </a:rPr>
              <a:t>fold-train </a:t>
            </a:r>
            <a:r>
              <a:rPr lang="zh-SG" altLang="en-US" sz="1200" b="0" i="0" kern="1200" dirty="0">
                <a:solidFill>
                  <a:schemeClr val="tx1"/>
                </a:solidFill>
                <a:effectLst/>
                <a:latin typeface="+mn-lt"/>
                <a:ea typeface="+mn-ea"/>
                <a:cs typeface="+mn-cs"/>
              </a:rPr>
              <a:t>有 </a:t>
            </a:r>
            <a:r>
              <a:rPr lang="en-US" altLang="zh-SG" sz="1200" b="0" i="0" kern="1200" dirty="0">
                <a:solidFill>
                  <a:schemeClr val="tx1"/>
                </a:solidFill>
                <a:effectLst/>
                <a:latin typeface="+mn-lt"/>
                <a:ea typeface="+mn-ea"/>
                <a:cs typeface="+mn-cs"/>
              </a:rPr>
              <a:t>48000 </a:t>
            </a:r>
            <a:r>
              <a:rPr lang="zh-SG" altLang="en-US" sz="1200" b="0" i="0" kern="1200" dirty="0">
                <a:solidFill>
                  <a:schemeClr val="tx1"/>
                </a:solidFill>
                <a:effectLst/>
                <a:latin typeface="+mn-lt"/>
                <a:ea typeface="+mn-ea"/>
                <a:cs typeface="+mn-cs"/>
              </a:rPr>
              <a:t>条</a:t>
            </a:r>
          </a:p>
          <a:p>
            <a:r>
              <a:rPr lang="en-US" altLang="zh-SG" sz="1200" b="0" i="0" kern="1200" dirty="0">
                <a:solidFill>
                  <a:schemeClr val="tx1"/>
                </a:solidFill>
                <a:effectLst/>
                <a:latin typeface="+mn-lt"/>
                <a:ea typeface="+mn-ea"/>
                <a:cs typeface="+mn-cs"/>
              </a:rPr>
              <a:t>fold-</a:t>
            </a:r>
            <a:r>
              <a:rPr lang="en-US" altLang="zh-SG" sz="1200" b="0" i="0" kern="1200" dirty="0" err="1">
                <a:solidFill>
                  <a:schemeClr val="tx1"/>
                </a:solidFill>
                <a:effectLst/>
                <a:latin typeface="+mn-lt"/>
                <a:ea typeface="+mn-ea"/>
                <a:cs typeface="+mn-cs"/>
              </a:rPr>
              <a:t>val</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有 </a:t>
            </a:r>
            <a:r>
              <a:rPr lang="en-US" altLang="zh-SG" sz="1200" b="0" i="0" kern="1200" dirty="0">
                <a:solidFill>
                  <a:schemeClr val="tx1"/>
                </a:solidFill>
                <a:effectLst/>
                <a:latin typeface="+mn-lt"/>
                <a:ea typeface="+mn-ea"/>
                <a:cs typeface="+mn-cs"/>
              </a:rPr>
              <a:t>12000 </a:t>
            </a:r>
            <a:r>
              <a:rPr lang="zh-SG" altLang="en-US" sz="1200" b="0" i="0" kern="1200" dirty="0">
                <a:solidFill>
                  <a:schemeClr val="tx1"/>
                </a:solidFill>
                <a:effectLst/>
                <a:latin typeface="+mn-lt"/>
                <a:ea typeface="+mn-ea"/>
                <a:cs typeface="+mn-cs"/>
              </a:rPr>
              <a:t>条</a:t>
            </a:r>
            <a:endParaRPr lang="en-US" altLang="zh-SG" sz="1200" b="0" i="0" kern="1200" dirty="0">
              <a:solidFill>
                <a:schemeClr val="tx1"/>
              </a:solidFill>
              <a:effectLst/>
              <a:latin typeface="+mn-lt"/>
              <a:ea typeface="+mn-ea"/>
              <a:cs typeface="+mn-cs"/>
            </a:endParaRPr>
          </a:p>
          <a:p>
            <a:r>
              <a:rPr lang="zh-SG" altLang="en-US" sz="1200" b="0" i="0" kern="1200" dirty="0">
                <a:solidFill>
                  <a:schemeClr val="tx1"/>
                </a:solidFill>
                <a:effectLst/>
                <a:latin typeface="+mn-lt"/>
                <a:ea typeface="+mn-ea"/>
                <a:cs typeface="+mn-cs"/>
              </a:rPr>
              <a:t>用 </a:t>
            </a:r>
            <a:r>
              <a:rPr lang="en-US" altLang="zh-SG" sz="1200" b="0" i="0" kern="1200" dirty="0">
                <a:solidFill>
                  <a:schemeClr val="tx1"/>
                </a:solidFill>
                <a:effectLst/>
                <a:latin typeface="+mn-lt"/>
                <a:ea typeface="+mn-ea"/>
                <a:cs typeface="+mn-cs"/>
              </a:rPr>
              <a:t>fold-train </a:t>
            </a:r>
            <a:r>
              <a:rPr lang="zh-SG" altLang="en-US" sz="1200" b="0" i="0" kern="1200" dirty="0">
                <a:solidFill>
                  <a:schemeClr val="tx1"/>
                </a:solidFill>
                <a:effectLst/>
                <a:latin typeface="+mn-lt"/>
                <a:ea typeface="+mn-ea"/>
                <a:cs typeface="+mn-cs"/>
              </a:rPr>
              <a:t>执行</a:t>
            </a:r>
            <a:r>
              <a:rPr lang="en-US" altLang="zh-SG" sz="1200" b="0" i="0" kern="1200" dirty="0" err="1">
                <a:solidFill>
                  <a:schemeClr val="tx1"/>
                </a:solidFill>
                <a:effectLst/>
                <a:latin typeface="+mn-lt"/>
                <a:ea typeface="+mn-ea"/>
                <a:cs typeface="+mn-cs"/>
              </a:rPr>
              <a:t>pca.fit</a:t>
            </a:r>
            <a:r>
              <a:rPr lang="en-US" altLang="zh-SG" sz="1200" b="0" i="0" kern="1200" dirty="0">
                <a:solidFill>
                  <a:schemeClr val="tx1"/>
                </a:solidFill>
                <a:effectLst/>
                <a:latin typeface="+mn-lt"/>
                <a:ea typeface="+mn-ea"/>
                <a:cs typeface="+mn-cs"/>
              </a:rPr>
              <a:t>(</a:t>
            </a:r>
            <a:r>
              <a:rPr lang="en-US" altLang="zh-SG" sz="1200" b="0" i="0" kern="1200" dirty="0" err="1">
                <a:solidFill>
                  <a:schemeClr val="tx1"/>
                </a:solidFill>
                <a:effectLst/>
                <a:latin typeface="+mn-lt"/>
                <a:ea typeface="+mn-ea"/>
                <a:cs typeface="+mn-cs"/>
              </a:rPr>
              <a:t>fold_train</a:t>
            </a:r>
            <a:r>
              <a:rPr lang="en-US" altLang="zh-SG" sz="1200" b="0" i="0" kern="1200" dirty="0">
                <a:solidFill>
                  <a:schemeClr val="tx1"/>
                </a:solidFill>
                <a:effectLst/>
                <a:latin typeface="+mn-lt"/>
                <a:ea typeface="+mn-ea"/>
                <a:cs typeface="+mn-cs"/>
              </a:rPr>
              <a:t>)</a:t>
            </a:r>
            <a:br>
              <a:rPr lang="en-US" altLang="zh-SG" sz="1200" b="0" i="0" kern="1200" dirty="0">
                <a:solidFill>
                  <a:schemeClr val="tx1"/>
                </a:solidFill>
                <a:effectLst/>
                <a:latin typeface="+mn-lt"/>
                <a:ea typeface="+mn-ea"/>
                <a:cs typeface="+mn-cs"/>
              </a:rPr>
            </a:br>
            <a:r>
              <a:rPr lang="zh-SG" altLang="en-US" sz="1200" b="0" i="0" kern="1200" dirty="0">
                <a:solidFill>
                  <a:schemeClr val="tx1"/>
                </a:solidFill>
                <a:effectLst/>
                <a:latin typeface="+mn-lt"/>
                <a:ea typeface="+mn-ea"/>
                <a:cs typeface="+mn-cs"/>
              </a:rPr>
              <a:t>再分别做</a:t>
            </a:r>
            <a:r>
              <a:rPr lang="en-US" altLang="zh-SG"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altLang="zh-SG" sz="1200" b="0" i="0" kern="1200" dirty="0" err="1">
                <a:solidFill>
                  <a:schemeClr val="tx1"/>
                </a:solidFill>
                <a:effectLst/>
                <a:latin typeface="+mn-lt"/>
                <a:ea typeface="+mn-ea"/>
                <a:cs typeface="+mn-cs"/>
              </a:rPr>
              <a:t>fold_train_pca</a:t>
            </a:r>
            <a:r>
              <a:rPr lang="en-US" altLang="zh-SG" sz="1200" b="0" i="0" kern="1200" dirty="0">
                <a:solidFill>
                  <a:schemeClr val="tx1"/>
                </a:solidFill>
                <a:effectLst/>
                <a:latin typeface="+mn-lt"/>
                <a:ea typeface="+mn-ea"/>
                <a:cs typeface="+mn-cs"/>
              </a:rPr>
              <a:t> = </a:t>
            </a:r>
            <a:r>
              <a:rPr lang="en-US" altLang="zh-SG" sz="1200" b="0" i="0" kern="1200" dirty="0" err="1">
                <a:solidFill>
                  <a:schemeClr val="tx1"/>
                </a:solidFill>
                <a:effectLst/>
                <a:latin typeface="+mn-lt"/>
                <a:ea typeface="+mn-ea"/>
                <a:cs typeface="+mn-cs"/>
              </a:rPr>
              <a:t>pca.transform</a:t>
            </a:r>
            <a:r>
              <a:rPr lang="en-US" altLang="zh-SG" sz="1200" b="0" i="0" kern="1200" dirty="0">
                <a:solidFill>
                  <a:schemeClr val="tx1"/>
                </a:solidFill>
                <a:effectLst/>
                <a:latin typeface="+mn-lt"/>
                <a:ea typeface="+mn-ea"/>
                <a:cs typeface="+mn-cs"/>
              </a:rPr>
              <a:t>(</a:t>
            </a:r>
            <a:r>
              <a:rPr lang="en-US" altLang="zh-SG" sz="1200" b="0" i="0" kern="1200" dirty="0" err="1">
                <a:solidFill>
                  <a:schemeClr val="tx1"/>
                </a:solidFill>
                <a:effectLst/>
                <a:latin typeface="+mn-lt"/>
                <a:ea typeface="+mn-ea"/>
                <a:cs typeface="+mn-cs"/>
              </a:rPr>
              <a:t>fold_train</a:t>
            </a:r>
            <a:r>
              <a:rPr lang="en-US" altLang="zh-SG"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把 </a:t>
            </a:r>
            <a:r>
              <a:rPr lang="en-US" altLang="zh-SG" sz="1200" b="0" i="0" kern="1200" dirty="0" err="1">
                <a:solidFill>
                  <a:schemeClr val="tx1"/>
                </a:solidFill>
                <a:effectLst/>
                <a:latin typeface="+mn-lt"/>
                <a:ea typeface="+mn-ea"/>
                <a:cs typeface="+mn-cs"/>
              </a:rPr>
              <a:t>fold_train</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投影到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空间</a:t>
            </a:r>
            <a:r>
              <a:rPr lang="zh-CN" altLang="en-US" sz="1200" b="0" i="0" kern="1200" dirty="0">
                <a:solidFill>
                  <a:schemeClr val="tx1"/>
                </a:solidFill>
                <a:effectLst/>
                <a:latin typeface="+mn-lt"/>
                <a:ea typeface="+mn-ea"/>
                <a:cs typeface="+mn-cs"/>
              </a:rPr>
              <a:t>）</a:t>
            </a:r>
            <a:br>
              <a:rPr lang="en-US" altLang="zh-SG" sz="1200" b="0" i="0" kern="1200" dirty="0">
                <a:solidFill>
                  <a:schemeClr val="tx1"/>
                </a:solidFill>
                <a:effectLst/>
                <a:latin typeface="+mn-lt"/>
                <a:ea typeface="+mn-ea"/>
                <a:cs typeface="+mn-cs"/>
              </a:rPr>
            </a:br>
            <a:r>
              <a:rPr lang="en-US" altLang="zh-SG" sz="1200" b="0" i="0" kern="1200" dirty="0" err="1">
                <a:solidFill>
                  <a:schemeClr val="tx1"/>
                </a:solidFill>
                <a:effectLst/>
                <a:latin typeface="+mn-lt"/>
                <a:ea typeface="+mn-ea"/>
                <a:cs typeface="+mn-cs"/>
              </a:rPr>
              <a:t>fold_val_pca</a:t>
            </a:r>
            <a:r>
              <a:rPr lang="en-US" altLang="zh-SG" sz="1200" b="0" i="0" kern="1200" dirty="0">
                <a:solidFill>
                  <a:schemeClr val="tx1"/>
                </a:solidFill>
                <a:effectLst/>
                <a:latin typeface="+mn-lt"/>
                <a:ea typeface="+mn-ea"/>
                <a:cs typeface="+mn-cs"/>
              </a:rPr>
              <a:t> = </a:t>
            </a:r>
            <a:r>
              <a:rPr lang="en-US" altLang="zh-SG" sz="1200" b="0" i="0" kern="1200" dirty="0" err="1">
                <a:solidFill>
                  <a:schemeClr val="tx1"/>
                </a:solidFill>
                <a:effectLst/>
                <a:latin typeface="+mn-lt"/>
                <a:ea typeface="+mn-ea"/>
                <a:cs typeface="+mn-cs"/>
              </a:rPr>
              <a:t>pca.transform</a:t>
            </a:r>
            <a:r>
              <a:rPr lang="en-US" altLang="zh-SG" sz="1200" b="0" i="0" kern="1200" dirty="0">
                <a:solidFill>
                  <a:schemeClr val="tx1"/>
                </a:solidFill>
                <a:effectLst/>
                <a:latin typeface="+mn-lt"/>
                <a:ea typeface="+mn-ea"/>
                <a:cs typeface="+mn-cs"/>
              </a:rPr>
              <a:t>(</a:t>
            </a:r>
            <a:r>
              <a:rPr lang="en-US" altLang="zh-SG" sz="1200" b="0" i="0" kern="1200" dirty="0" err="1">
                <a:solidFill>
                  <a:schemeClr val="tx1"/>
                </a:solidFill>
                <a:effectLst/>
                <a:latin typeface="+mn-lt"/>
                <a:ea typeface="+mn-ea"/>
                <a:cs typeface="+mn-cs"/>
              </a:rPr>
              <a:t>fold_val</a:t>
            </a:r>
            <a:r>
              <a:rPr lang="en-US" altLang="zh-SG" sz="1200" b="0" i="0" kern="1200" dirty="0">
                <a:solidFill>
                  <a:schemeClr val="tx1"/>
                </a:solidFill>
                <a:effectLst/>
                <a:latin typeface="+mn-lt"/>
                <a:ea typeface="+mn-ea"/>
                <a:cs typeface="+mn-cs"/>
              </a:rPr>
              <a:t>)</a:t>
            </a:r>
            <a:br>
              <a:rPr lang="en-US" altLang="zh-SG" sz="1200" b="0" i="0" kern="1200" dirty="0">
                <a:solidFill>
                  <a:schemeClr val="tx1"/>
                </a:solidFill>
                <a:effectLst/>
                <a:latin typeface="+mn-lt"/>
                <a:ea typeface="+mn-ea"/>
                <a:cs typeface="+mn-cs"/>
              </a:rPr>
            </a:br>
            <a:r>
              <a:rPr lang="zh-SG" altLang="en-US" sz="1200" b="0" i="0" kern="1200" dirty="0">
                <a:solidFill>
                  <a:schemeClr val="tx1"/>
                </a:solidFill>
                <a:effectLst/>
                <a:latin typeface="+mn-lt"/>
                <a:ea typeface="+mn-ea"/>
                <a:cs typeface="+mn-cs"/>
              </a:rPr>
              <a:t>用刚才只在 </a:t>
            </a:r>
            <a:r>
              <a:rPr lang="en-US" altLang="zh-SG" sz="1200" b="0" i="0" kern="1200" dirty="0">
                <a:solidFill>
                  <a:schemeClr val="tx1"/>
                </a:solidFill>
                <a:effectLst/>
                <a:latin typeface="+mn-lt"/>
                <a:ea typeface="+mn-ea"/>
                <a:cs typeface="+mn-cs"/>
              </a:rPr>
              <a:t>fold-train </a:t>
            </a:r>
            <a:r>
              <a:rPr lang="zh-SG" altLang="en-US" sz="1200" b="0" i="0" kern="1200" dirty="0">
                <a:solidFill>
                  <a:schemeClr val="tx1"/>
                </a:solidFill>
                <a:effectLst/>
                <a:latin typeface="+mn-lt"/>
                <a:ea typeface="+mn-ea"/>
                <a:cs typeface="+mn-cs"/>
              </a:rPr>
              <a:t>上学出来的同一个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规则</a:t>
            </a:r>
          </a:p>
          <a:p>
            <a:r>
              <a:rPr lang="zh-SG" altLang="en-US" sz="1200" b="0" i="0" kern="1200" dirty="0">
                <a:solidFill>
                  <a:schemeClr val="tx1"/>
                </a:solidFill>
                <a:effectLst/>
                <a:latin typeface="+mn-lt"/>
                <a:ea typeface="+mn-ea"/>
                <a:cs typeface="+mn-cs"/>
              </a:rPr>
              <a:t>把训练折和验证折都投影到同一个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空间里</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SG"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SG" sz="1200" b="0" i="0" kern="1200" dirty="0">
              <a:solidFill>
                <a:schemeClr val="tx1"/>
              </a:solidFill>
              <a:effectLst/>
              <a:latin typeface="+mn-lt"/>
              <a:ea typeface="+mn-ea"/>
              <a:cs typeface="+mn-cs"/>
            </a:endParaRPr>
          </a:p>
          <a:p>
            <a:endParaRPr lang="zh-SG" altLang="en-US" sz="1200" b="0" i="0" kern="1200" dirty="0">
              <a:solidFill>
                <a:schemeClr val="tx1"/>
              </a:solidFill>
              <a:effectLst/>
              <a:latin typeface="+mn-lt"/>
              <a:ea typeface="+mn-ea"/>
              <a:cs typeface="+mn-cs"/>
            </a:endParaRPr>
          </a:p>
          <a:p>
            <a:endParaRPr lang="zh-SG" alt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D21DF75-3E43-573D-4856-6EBFF4115CD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68587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80390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F07A9-A27A-AEEF-19DF-78D83A65C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63F5D-10A7-98D0-50BA-ECB5350B2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D2518F-B916-E537-473A-44FEBF5745C0}"/>
              </a:ext>
            </a:extLst>
          </p:cNvPr>
          <p:cNvSpPr>
            <a:spLocks noGrp="1"/>
          </p:cNvSpPr>
          <p:nvPr>
            <p:ph type="body" idx="1"/>
          </p:nvPr>
        </p:nvSpPr>
        <p:spPr/>
        <p:txBody>
          <a:bodyPr/>
          <a:lstStyle/>
          <a:p>
            <a:r>
              <a:rPr lang="en-US" altLang="zh-CN" dirty="0"/>
              <a:t>The PCA projection reveals broad global organization but substantial class overlap. Several digit classes exhibit directional tendencies in the 2D plane, yet the class clouds remain heavily entangled in the center of the projection. This is especially visible for digits with similar stroke patterns, such as `2`, `3`, `5`, `8`, and `9`.</a:t>
            </a:r>
            <a:br>
              <a:rPr lang="en-US" altLang="zh-CN" dirty="0"/>
            </a:br>
            <a:br>
              <a:rPr lang="en-US" altLang="zh-CN" dirty="0"/>
            </a:br>
            <a:r>
              <a:rPr lang="en-US" altLang="zh-CN" dirty="0"/>
              <a:t>From an analytical perspective, the PCA plot supports the following interpretation:</a:t>
            </a:r>
            <a:br>
              <a:rPr lang="en-US" altLang="zh-CN" dirty="0"/>
            </a:br>
            <a:br>
              <a:rPr lang="en-US" altLang="zh-CN" dirty="0"/>
            </a:br>
            <a:r>
              <a:rPr lang="en-US" altLang="zh-CN" dirty="0"/>
              <a:t>The t-SNE projection produces a much clearer organization of the data. Most digit classes form compact and visually coherent clusters, with only limited overlap between morphologically similar classes. Compared with PCA, t-SNE makes local neighborhood structure much more explicit.</a:t>
            </a:r>
          </a:p>
          <a:p>
            <a:endParaRPr lang="en-US" altLang="zh-CN" dirty="0"/>
          </a:p>
          <a:p>
            <a:r>
              <a:rPr lang="en-US" altLang="zh-CN" dirty="0"/>
              <a:t>This suggests that:</a:t>
            </a:r>
          </a:p>
          <a:p>
            <a:endParaRPr lang="en-US" altLang="zh-CN" dirty="0"/>
          </a:p>
          <a:p>
            <a:r>
              <a:rPr lang="en-US" altLang="zh-CN" dirty="0"/>
              <a:t>- in the original high-dimensional feature space, samples from the same class tend to form locally coherent neighborhoods</a:t>
            </a:r>
          </a:p>
          <a:p>
            <a:r>
              <a:rPr lang="en-US" altLang="zh-CN" dirty="0"/>
              <a:t>- class separation is more apparent in a nonlinear manifold view than in a linear 2D projection</a:t>
            </a:r>
          </a:p>
          <a:p>
            <a:r>
              <a:rPr lang="en-US" altLang="zh-CN" dirty="0"/>
              <a:t>- methods that exploit local or nonlinear structure are better aligned with the geometry of MNIST</a:t>
            </a:r>
          </a:p>
          <a:p>
            <a:endParaRPr lang="en-US" altLang="zh-CN" dirty="0"/>
          </a:p>
          <a:p>
            <a:br>
              <a:rPr lang="en-US" altLang="zh-CN" dirty="0"/>
            </a:br>
            <a:br>
              <a:rPr lang="en-US" altLang="zh-CN" dirty="0"/>
            </a:br>
            <a:r>
              <a:rPr lang="en-US" altLang="zh-CN" dirty="0"/>
              <a:t>-----</a:t>
            </a:r>
            <a:br>
              <a:rPr lang="en-US" altLang="zh-CN" dirty="0"/>
            </a:br>
            <a:br>
              <a:rPr lang="en-US" altLang="zh-CN" dirty="0"/>
            </a:br>
            <a:r>
              <a:rPr lang="en-US" dirty="0"/>
              <a:t>[Tim]: Missing: Interpretation of clustering patterns</a:t>
            </a:r>
            <a:br>
              <a:rPr lang="en-US" dirty="0"/>
            </a:br>
            <a:r>
              <a:rPr lang="en-US" dirty="0"/>
              <a:t>t-SNE visualization is much better, </a:t>
            </a:r>
            <a:r>
              <a:rPr lang="en-US" dirty="0" err="1"/>
              <a:t>ighly</a:t>
            </a:r>
            <a:r>
              <a:rPr lang="en-US" dirty="0"/>
              <a:t> distinct clusters. It also shows some of the established ‘common misclassifications’ like 4 and 9, 3 and 8, 3 and 5.</a:t>
            </a:r>
            <a:br>
              <a:rPr lang="en-US" dirty="0"/>
            </a:br>
            <a:r>
              <a:rPr lang="en-US" dirty="0"/>
              <a:t>Why it is better? Because it preserves local non-linear structures and </a:t>
            </a:r>
            <a:r>
              <a:rPr lang="en-US" dirty="0" err="1"/>
              <a:t>prioritises</a:t>
            </a:r>
            <a:r>
              <a:rPr lang="en-US" dirty="0"/>
              <a:t> local </a:t>
            </a:r>
            <a:r>
              <a:rPr lang="en-US" dirty="0" err="1"/>
              <a:t>neighbours</a:t>
            </a:r>
            <a:r>
              <a:rPr lang="en-US" dirty="0"/>
              <a:t>, thereby similar points are placed closer together forming more distinct clusters.</a:t>
            </a:r>
          </a:p>
        </p:txBody>
      </p:sp>
      <p:sp>
        <p:nvSpPr>
          <p:cNvPr id="4" name="Slide Number Placeholder 3">
            <a:extLst>
              <a:ext uri="{FF2B5EF4-FFF2-40B4-BE49-F238E27FC236}">
                <a16:creationId xmlns:a16="http://schemas.microsoft.com/office/drawing/2014/main" id="{CBBDF61F-2A45-53A6-8802-22141CB37FF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65170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DD4D3-8361-D318-E755-88E968C6E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F84A1-6594-0A33-AA9C-E68BF3B32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3B8F2-D1F9-2280-32E8-75E65E00FA54}"/>
              </a:ext>
            </a:extLst>
          </p:cNvPr>
          <p:cNvSpPr>
            <a:spLocks noGrp="1"/>
          </p:cNvSpPr>
          <p:nvPr>
            <p:ph type="body" idx="1"/>
          </p:nvPr>
        </p:nvSpPr>
        <p:spPr/>
        <p:txBody>
          <a:bodyPr/>
          <a:lstStyle/>
          <a:p>
            <a:r>
              <a:rPr lang="en-US" altLang="zh-CN" dirty="0"/>
              <a:t>- MNIST contains meaningful low-dimensional global structure.</a:t>
            </a:r>
          </a:p>
          <a:p>
            <a:r>
              <a:rPr lang="en-US" altLang="zh-CN" dirty="0"/>
              <a:t>- That global structure is not sufficient, in only two linear components, to separate classes cleanly.</a:t>
            </a:r>
          </a:p>
          <a:p>
            <a:r>
              <a:rPr lang="en-US" altLang="zh-CN" dirty="0"/>
              <a:t>- A purely linear low-dimensional view does not capture the full discriminative geometry of the dataset.</a:t>
            </a:r>
          </a:p>
          <a:p>
            <a:endParaRPr lang="en-US" altLang="zh-CN" dirty="0"/>
          </a:p>
          <a:p>
            <a:r>
              <a:rPr lang="en-US" altLang="zh-CN" dirty="0"/>
              <a:t>This observation is consistent with the model results. Logistic Regression, which relies on linear decision boundaries after PCA, performs substantially worse than KNN, MLP, and CNN.</a:t>
            </a:r>
            <a:br>
              <a:rPr lang="en-US" altLang="zh-CN" dirty="0"/>
            </a:br>
            <a:br>
              <a:rPr lang="en-US" altLang="zh-CN" dirty="0"/>
            </a:br>
            <a:r>
              <a:rPr lang="en-US" altLang="zh-CN" dirty="0"/>
              <a:t>This interpretation is again consistent with the empirical model ranking:</a:t>
            </a:r>
          </a:p>
          <a:p>
            <a:endParaRPr lang="en-US" altLang="zh-CN" dirty="0"/>
          </a:p>
          <a:p>
            <a:r>
              <a:rPr lang="en-US" altLang="zh-CN" dirty="0"/>
              <a:t>- Logistic Regression is weakest</a:t>
            </a:r>
          </a:p>
          <a:p>
            <a:r>
              <a:rPr lang="en-US" altLang="zh-CN" dirty="0"/>
              <a:t>- KNN is substantially stronger because it leverages local neighborhood information</a:t>
            </a:r>
          </a:p>
          <a:p>
            <a:r>
              <a:rPr lang="en-US" altLang="zh-CN" dirty="0"/>
              <a:t>- MLP and CNN outperform both classical baselines because they learn nonlinear decision boundaries</a:t>
            </a:r>
          </a:p>
          <a:p>
            <a:r>
              <a:rPr lang="en-US" altLang="zh-CN" dirty="0"/>
              <a:t>- CNN performs best because it also exploits the spatial structure of the image</a:t>
            </a:r>
            <a:endParaRPr lang="en-US" dirty="0"/>
          </a:p>
        </p:txBody>
      </p:sp>
      <p:sp>
        <p:nvSpPr>
          <p:cNvPr id="4" name="Slide Number Placeholder 3">
            <a:extLst>
              <a:ext uri="{FF2B5EF4-FFF2-40B4-BE49-F238E27FC236}">
                <a16:creationId xmlns:a16="http://schemas.microsoft.com/office/drawing/2014/main" id="{9D0C1383-7ECF-09A4-1D8B-DA21F54A532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26425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SG" sz="1200" b="0" i="0" kern="1200" dirty="0">
                <a:solidFill>
                  <a:schemeClr val="tx1"/>
                </a:solidFill>
                <a:effectLst/>
                <a:latin typeface="+mn-lt"/>
                <a:ea typeface="+mn-ea"/>
                <a:cs typeface="+mn-cs"/>
              </a:rPr>
              <a:t>distance </a:t>
            </a:r>
            <a:r>
              <a:rPr lang="zh-SG" altLang="en-US" sz="1200" b="0" i="0" kern="1200" dirty="0">
                <a:solidFill>
                  <a:schemeClr val="tx1"/>
                </a:solidFill>
                <a:effectLst/>
                <a:latin typeface="+mn-lt"/>
                <a:ea typeface="+mn-ea"/>
                <a:cs typeface="+mn-cs"/>
              </a:rPr>
              <a:t>时距离越近权重越大</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9DC1-BA89-C959-7DA0-E5520EAE0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B4783-05AA-A919-67A6-7329D0065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044B0-863F-92E1-BB5B-DCED6447D3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8AE18A-F678-4F81-3706-88266753C5D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38633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altLang="zh-SG" sz="1200" b="0" i="0" kern="1200" dirty="0">
                <a:solidFill>
                  <a:schemeClr val="tx1"/>
                </a:solidFill>
                <a:effectLst/>
                <a:latin typeface="+mn-lt"/>
                <a:ea typeface="+mn-ea"/>
                <a:cs typeface="+mn-cs"/>
              </a:rPr>
              <a:t>1) </a:t>
            </a:r>
            <a:r>
              <a:rPr lang="en-US" dirty="0"/>
              <a:t>“Since MNIST images are dense and represent smooth shapes, Euclidean distance better captures overall visual similarity, whereas Manhattan distance is more suited for sparse data like text.”</a:t>
            </a:r>
            <a:br>
              <a:rPr lang="en-US" dirty="0"/>
            </a:br>
            <a:r>
              <a:rPr lang="en-US" dirty="0"/>
              <a:t>2) Although MNIST is dense, not all pixel variations are equally informative. Retaining 90% variance removes redundant and noisy components while preserving the key structural features of digits, improving KNN’s distance calculations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SG" dirty="0"/>
              <a:t>3) </a:t>
            </a:r>
            <a:r>
              <a:rPr lang="en-US" dirty="0"/>
              <a:t>“In MNIST, small differences in pixel values can significantly affect digit identity, so giving higher weight to closer </a:t>
            </a:r>
            <a:r>
              <a:rPr lang="en-US" dirty="0" err="1"/>
              <a:t>neighbours</a:t>
            </a:r>
            <a:r>
              <a:rPr lang="en-US" dirty="0"/>
              <a:t> improves classification accuracy.”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SG" dirty="0"/>
              <a:t>4) </a:t>
            </a:r>
            <a:r>
              <a:rPr lang="en-US" dirty="0"/>
              <a:t>“A small k works better because MNIST has locally distinct clusters, and using too many </a:t>
            </a:r>
            <a:r>
              <a:rPr lang="en-US" dirty="0" err="1"/>
              <a:t>neighbours</a:t>
            </a:r>
            <a:r>
              <a:rPr lang="en-US" dirty="0"/>
              <a:t> can mix similar-looking digits and reduce accuracy.”</a:t>
            </a:r>
            <a:br>
              <a:rPr lang="en-US" dirty="0"/>
            </a:br>
            <a:br>
              <a:rPr lang="en-US" dirty="0"/>
            </a:br>
            <a:r>
              <a:rPr lang="en-US" dirty="0"/>
              <a:t>“The stability of top configurations suggests that MNIST has a well-structured feature space, where reasonable parameter choices consistently yield good performance.”</a:t>
            </a:r>
            <a:br>
              <a:rPr lang="en-US" dirty="0"/>
            </a:br>
            <a:br>
              <a:rPr lang="en-US" dirty="0"/>
            </a:br>
            <a:r>
              <a:rPr lang="en-US" dirty="0"/>
              <a:t>These findings align with the nature of MNIST as a dense, continuous image dataset. Euclidean distance performs better because it captures global shape similarity, while distance-weighted voting improves sensitivity to subtle pixel differences. A small k works best due to locally distinct clusters, avoiding class mixing. Additionally, PCA at 90% removes redundant variation while preserving key structure. Together, these results reflect that MNIST has a well-structured, continuous feature space where local similarity and shape information are critical.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applied PCA to reduce dimensionality and remove noise, followed by Logistic Regression to learn linear decision boundaries across the 10 digit classes. We compared </a:t>
            </a:r>
            <a:r>
              <a:rPr lang="en-US" dirty="0" err="1"/>
              <a:t>lbfgs</a:t>
            </a:r>
            <a:r>
              <a:rPr lang="en-US" dirty="0"/>
              <a:t> and saga </a:t>
            </a:r>
            <a:r>
              <a:rPr lang="en-US" dirty="0" err="1"/>
              <a:t>optimisers</a:t>
            </a:r>
            <a:r>
              <a:rPr lang="en-US" dirty="0"/>
              <a:t>, and found that </a:t>
            </a:r>
            <a:r>
              <a:rPr lang="en-US" dirty="0" err="1"/>
              <a:t>lbfgs</a:t>
            </a:r>
            <a:r>
              <a:rPr lang="en-US" dirty="0"/>
              <a:t> performed better due to its stability on dense data like MNIST. The </a:t>
            </a:r>
            <a:r>
              <a:rPr lang="en-US" dirty="0" err="1"/>
              <a:t>regularisation</a:t>
            </a:r>
            <a:r>
              <a:rPr lang="en-US" dirty="0"/>
              <a:t> parameter C controls model flexibility, and a smaller value of 0.1 provided better </a:t>
            </a:r>
            <a:r>
              <a:rPr lang="en-US" dirty="0" err="1"/>
              <a:t>generalisation</a:t>
            </a:r>
            <a:r>
              <a:rPr lang="en-US" dirty="0"/>
              <a:t>. However, Logistic Regression underperforms overall because it is limited to linear boundaries, which are insufficient for complex image data</a:t>
            </a:r>
            <a:br>
              <a:rPr lang="en-US" altLang="zh-SG" sz="1200" b="0" i="0" kern="1200" dirty="0">
                <a:solidFill>
                  <a:schemeClr val="tx1"/>
                </a:solidFill>
                <a:effectLst/>
                <a:latin typeface="+mn-lt"/>
                <a:ea typeface="+mn-ea"/>
                <a:cs typeface="+mn-cs"/>
              </a:rPr>
            </a:br>
            <a:br>
              <a:rPr lang="en-US" altLang="zh-SG" sz="1200" b="0" i="0" kern="1200" dirty="0">
                <a:solidFill>
                  <a:schemeClr val="tx1"/>
                </a:solidFill>
                <a:effectLst/>
                <a:latin typeface="+mn-lt"/>
                <a:ea typeface="+mn-ea"/>
                <a:cs typeface="+mn-cs"/>
              </a:rPr>
            </a:b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先把图像压缩到更低维、噪声更少的线性子空间</a:t>
            </a:r>
            <a:r>
              <a:rPr lang="en-US" altLang="zh-SG" sz="1200" b="0" i="0" kern="1200" dirty="0">
                <a:solidFill>
                  <a:schemeClr val="tx1"/>
                </a:solidFill>
                <a:effectLst/>
                <a:latin typeface="+mn-lt"/>
                <a:ea typeface="+mn-ea"/>
                <a:cs typeface="+mn-cs"/>
              </a:rPr>
              <a:t>, Logistic Regression </a:t>
            </a:r>
            <a:r>
              <a:rPr lang="zh-SG" altLang="en-US" sz="1200" b="0" i="0" kern="1200" dirty="0">
                <a:solidFill>
                  <a:schemeClr val="tx1"/>
                </a:solidFill>
                <a:effectLst/>
                <a:latin typeface="+mn-lt"/>
                <a:ea typeface="+mn-ea"/>
                <a:cs typeface="+mn-cs"/>
              </a:rPr>
              <a:t>再在这个子空间里学习 </a:t>
            </a:r>
            <a:r>
              <a:rPr lang="en-US" altLang="zh-SG" sz="1200" b="0" i="0" kern="1200" dirty="0">
                <a:solidFill>
                  <a:schemeClr val="tx1"/>
                </a:solidFill>
                <a:effectLst/>
                <a:latin typeface="+mn-lt"/>
                <a:ea typeface="+mn-ea"/>
                <a:cs typeface="+mn-cs"/>
              </a:rPr>
              <a:t>10 </a:t>
            </a:r>
            <a:r>
              <a:rPr lang="zh-SG" altLang="en-US" sz="1200" b="0" i="0" kern="1200" dirty="0">
                <a:solidFill>
                  <a:schemeClr val="tx1"/>
                </a:solidFill>
                <a:effectLst/>
                <a:latin typeface="+mn-lt"/>
                <a:ea typeface="+mn-ea"/>
                <a:cs typeface="+mn-cs"/>
              </a:rPr>
              <a:t>类 </a:t>
            </a:r>
            <a:r>
              <a:rPr lang="en-US" altLang="zh-SG" sz="1200" b="0" i="0" kern="1200" dirty="0" err="1">
                <a:solidFill>
                  <a:schemeClr val="tx1"/>
                </a:solidFill>
                <a:effectLst/>
                <a:latin typeface="+mn-lt"/>
                <a:ea typeface="+mn-ea"/>
                <a:cs typeface="+mn-cs"/>
              </a:rPr>
              <a:t>softmax</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线性边界</a:t>
            </a:r>
            <a:br>
              <a:rPr lang="en-US" altLang="zh-SG" sz="1200" b="0" i="0" kern="1200" dirty="0">
                <a:solidFill>
                  <a:schemeClr val="tx1"/>
                </a:solidFill>
                <a:effectLst/>
                <a:latin typeface="+mn-lt"/>
                <a:ea typeface="+mn-ea"/>
                <a:cs typeface="+mn-cs"/>
              </a:rPr>
            </a:br>
            <a:r>
              <a:rPr lang="en-US" altLang="zh-SG" sz="1200" b="0" i="0" kern="1200" dirty="0" err="1">
                <a:solidFill>
                  <a:schemeClr val="tx1"/>
                </a:solidFill>
                <a:effectLst/>
                <a:latin typeface="+mn-lt"/>
                <a:ea typeface="+mn-ea"/>
                <a:cs typeface="+mn-cs"/>
              </a:rPr>
              <a:t>lbfgs</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是二阶近似优化方法，适合中小到中等规模的稠密数据，收敛稳定，做多分类 </a:t>
            </a:r>
            <a:r>
              <a:rPr lang="en-US" altLang="zh-SG" sz="1200" b="0" i="0" kern="1200" dirty="0" err="1">
                <a:solidFill>
                  <a:schemeClr val="tx1"/>
                </a:solidFill>
                <a:effectLst/>
                <a:latin typeface="+mn-lt"/>
                <a:ea typeface="+mn-ea"/>
                <a:cs typeface="+mn-cs"/>
              </a:rPr>
              <a:t>softmax</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很常见。</a:t>
            </a:r>
          </a:p>
          <a:p>
            <a:r>
              <a:rPr lang="en-US" altLang="zh-SG" sz="1200" b="0" i="0" kern="1200" dirty="0">
                <a:solidFill>
                  <a:schemeClr val="tx1"/>
                </a:solidFill>
                <a:effectLst/>
                <a:latin typeface="+mn-lt"/>
                <a:ea typeface="+mn-ea"/>
                <a:cs typeface="+mn-cs"/>
              </a:rPr>
              <a:t>saga</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是随机梯度类方法，适合更大规模数据，也支持 </a:t>
            </a:r>
            <a:r>
              <a:rPr lang="en-US" altLang="zh-SG" sz="1200" b="0" i="0" kern="1200" dirty="0">
                <a:solidFill>
                  <a:schemeClr val="tx1"/>
                </a:solidFill>
                <a:effectLst/>
                <a:latin typeface="+mn-lt"/>
                <a:ea typeface="+mn-ea"/>
                <a:cs typeface="+mn-cs"/>
              </a:rPr>
              <a:t>L1</a:t>
            </a:r>
            <a:r>
              <a:rPr lang="zh-SG" altLang="en-US" sz="1200" b="0" i="0" kern="1200" dirty="0">
                <a:solidFill>
                  <a:schemeClr val="tx1"/>
                </a:solidFill>
                <a:effectLst/>
                <a:latin typeface="+mn-lt"/>
                <a:ea typeface="+mn-ea"/>
                <a:cs typeface="+mn-cs"/>
              </a:rPr>
              <a:t>、</a:t>
            </a:r>
            <a:r>
              <a:rPr lang="en-US" altLang="zh-SG" sz="1200" b="0" i="0" kern="1200" dirty="0" err="1">
                <a:solidFill>
                  <a:schemeClr val="tx1"/>
                </a:solidFill>
                <a:effectLst/>
                <a:latin typeface="+mn-lt"/>
                <a:ea typeface="+mn-ea"/>
                <a:cs typeface="+mn-cs"/>
              </a:rPr>
              <a:t>ElasticNet</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这类稀疏正则。</a:t>
            </a:r>
          </a:p>
          <a:p>
            <a:r>
              <a:rPr lang="en-US" altLang="zh-SG" sz="1200" b="0" i="0" kern="1200" dirty="0">
                <a:solidFill>
                  <a:schemeClr val="tx1"/>
                </a:solidFill>
                <a:effectLst/>
                <a:latin typeface="+mn-lt"/>
                <a:ea typeface="+mn-ea"/>
                <a:cs typeface="+mn-cs"/>
              </a:rPr>
              <a:t>C </a:t>
            </a:r>
            <a:r>
              <a:rPr lang="zh-SG" altLang="en-US" sz="1200" b="0" i="0" kern="1200" dirty="0">
                <a:solidFill>
                  <a:schemeClr val="tx1"/>
                </a:solidFill>
                <a:effectLst/>
                <a:latin typeface="+mn-lt"/>
                <a:ea typeface="+mn-ea"/>
                <a:cs typeface="+mn-cs"/>
              </a:rPr>
              <a:t>控制正则强度</a:t>
            </a:r>
          </a:p>
          <a:p>
            <a:pPr lvl="1"/>
            <a:r>
              <a:rPr lang="en-US" altLang="zh-SG" sz="1200" b="0" i="0" kern="1200" dirty="0">
                <a:solidFill>
                  <a:schemeClr val="tx1"/>
                </a:solidFill>
                <a:effectLst/>
                <a:latin typeface="+mn-lt"/>
                <a:ea typeface="+mn-ea"/>
                <a:cs typeface="+mn-cs"/>
              </a:rPr>
              <a:t>C </a:t>
            </a:r>
            <a:r>
              <a:rPr lang="zh-SG" altLang="en-US" sz="1200" b="0" i="0" kern="1200" dirty="0">
                <a:solidFill>
                  <a:schemeClr val="tx1"/>
                </a:solidFill>
                <a:effectLst/>
                <a:latin typeface="+mn-lt"/>
                <a:ea typeface="+mn-ea"/>
                <a:cs typeface="+mn-cs"/>
              </a:rPr>
              <a:t>越小，正则越强</a:t>
            </a:r>
          </a:p>
          <a:p>
            <a:pPr lvl="1"/>
            <a:r>
              <a:rPr lang="en-US" altLang="zh-SG" sz="1200" b="0" i="0" kern="1200" dirty="0">
                <a:solidFill>
                  <a:schemeClr val="tx1"/>
                </a:solidFill>
                <a:effectLst/>
                <a:latin typeface="+mn-lt"/>
                <a:ea typeface="+mn-ea"/>
                <a:cs typeface="+mn-cs"/>
              </a:rPr>
              <a:t>C </a:t>
            </a:r>
            <a:r>
              <a:rPr lang="zh-SG" altLang="en-US" sz="1200" b="0" i="0" kern="1200" dirty="0">
                <a:solidFill>
                  <a:schemeClr val="tx1"/>
                </a:solidFill>
                <a:effectLst/>
                <a:latin typeface="+mn-lt"/>
                <a:ea typeface="+mn-ea"/>
                <a:cs typeface="+mn-cs"/>
              </a:rPr>
              <a:t>越大，模型越自由</a:t>
            </a:r>
          </a:p>
          <a:p>
            <a:endParaRPr lang="en-US" altLang="zh-SG" sz="1200" b="0" i="0" kern="1200" dirty="0">
              <a:solidFill>
                <a:schemeClr val="tx1"/>
              </a:solidFill>
              <a:effectLst/>
              <a:latin typeface="+mn-lt"/>
              <a:ea typeface="+mn-ea"/>
              <a:cs typeface="+mn-cs"/>
            </a:endParaRPr>
          </a:p>
          <a:p>
            <a:endParaRPr lang="en-US" altLang="zh-SG" sz="1200" b="0" i="0" kern="1200" dirty="0">
              <a:solidFill>
                <a:schemeClr val="tx1"/>
              </a:solidFill>
              <a:effectLst/>
              <a:latin typeface="+mn-lt"/>
              <a:ea typeface="+mn-ea"/>
              <a:cs typeface="+mn-cs"/>
            </a:endParaRPr>
          </a:p>
          <a:p>
            <a:r>
              <a:rPr lang="en-US" altLang="zh-SG" sz="1200" b="0" i="0" kern="1200" dirty="0">
                <a:solidFill>
                  <a:schemeClr val="tx1"/>
                </a:solidFill>
                <a:effectLst/>
                <a:latin typeface="+mn-lt"/>
                <a:ea typeface="+mn-ea"/>
                <a:cs typeface="+mn-cs"/>
              </a:rPr>
              <a:t>Best parameters: {'C': 0.1, 'penalty': 'l2', 'solver': '</a:t>
            </a:r>
            <a:r>
              <a:rPr lang="en-US" altLang="zh-SG" sz="1200" b="0" i="0" kern="1200" dirty="0" err="1">
                <a:solidFill>
                  <a:schemeClr val="tx1"/>
                </a:solidFill>
                <a:effectLst/>
                <a:latin typeface="+mn-lt"/>
                <a:ea typeface="+mn-ea"/>
                <a:cs typeface="+mn-cs"/>
              </a:rPr>
              <a:t>lbfgs</a:t>
            </a:r>
            <a:r>
              <a:rPr lang="en-US" altLang="zh-SG" sz="1200" b="0" i="0" kern="1200" dirty="0">
                <a:solidFill>
                  <a:schemeClr val="tx1"/>
                </a:solidFill>
                <a:effectLst/>
                <a:latin typeface="+mn-lt"/>
                <a:ea typeface="+mn-ea"/>
                <a:cs typeface="+mn-cs"/>
              </a:rPr>
              <a:t>’} </a:t>
            </a:r>
            <a:br>
              <a:rPr lang="en-US" altLang="zh-SG" sz="1200" b="0" i="0" kern="1200" dirty="0">
                <a:solidFill>
                  <a:schemeClr val="tx1"/>
                </a:solidFill>
                <a:effectLst/>
                <a:latin typeface="+mn-lt"/>
                <a:ea typeface="+mn-ea"/>
                <a:cs typeface="+mn-cs"/>
              </a:rPr>
            </a:br>
            <a:r>
              <a:rPr lang="en-US" altLang="zh-SG" sz="1200" b="0" i="0" kern="1200" dirty="0">
                <a:solidFill>
                  <a:schemeClr val="tx1"/>
                </a:solidFill>
                <a:effectLst/>
                <a:latin typeface="+mn-lt"/>
                <a:ea typeface="+mn-ea"/>
                <a:cs typeface="+mn-cs"/>
              </a:rPr>
              <a:t>Best CV accuracy: 0.9223 </a:t>
            </a:r>
            <a:r>
              <a:rPr lang="en-US" altLang="zh-SG" sz="1200" b="0" i="0" kern="1200" dirty="0" err="1">
                <a:solidFill>
                  <a:schemeClr val="tx1"/>
                </a:solidFill>
                <a:effectLst/>
                <a:latin typeface="+mn-lt"/>
                <a:ea typeface="+mn-ea"/>
                <a:cs typeface="+mn-cs"/>
              </a:rPr>
              <a:t>GridSearchCV</a:t>
            </a:r>
            <a:r>
              <a:rPr lang="en-US" altLang="zh-SG" sz="1200" b="0" i="0" kern="1200" dirty="0">
                <a:solidFill>
                  <a:schemeClr val="tx1"/>
                </a:solidFill>
                <a:effectLst/>
                <a:latin typeface="+mn-lt"/>
                <a:ea typeface="+mn-ea"/>
                <a:cs typeface="+mn-cs"/>
              </a:rPr>
              <a:t> total time: 3168.49s </a:t>
            </a:r>
            <a:br>
              <a:rPr lang="en-US" altLang="zh-SG" sz="1200" b="0" i="0" kern="1200" dirty="0">
                <a:solidFill>
                  <a:schemeClr val="tx1"/>
                </a:solidFill>
                <a:effectLst/>
                <a:latin typeface="+mn-lt"/>
                <a:ea typeface="+mn-ea"/>
                <a:cs typeface="+mn-cs"/>
              </a:rPr>
            </a:br>
            <a:r>
              <a:rPr lang="en-US" altLang="zh-SG" sz="1200" b="0" i="0" kern="1200" dirty="0">
                <a:solidFill>
                  <a:schemeClr val="tx1"/>
                </a:solidFill>
                <a:effectLst/>
                <a:latin typeface="+mn-lt"/>
                <a:ea typeface="+mn-ea"/>
                <a:cs typeface="+mn-cs"/>
              </a:rPr>
              <a:t>Estimated CV-only search time: 3166.08s </a:t>
            </a:r>
            <a:br>
              <a:rPr lang="en-US" altLang="zh-SG" sz="1200" b="0" i="0" kern="1200" dirty="0">
                <a:solidFill>
                  <a:schemeClr val="tx1"/>
                </a:solidFill>
                <a:effectLst/>
                <a:latin typeface="+mn-lt"/>
                <a:ea typeface="+mn-ea"/>
                <a:cs typeface="+mn-cs"/>
              </a:rPr>
            </a:br>
            <a:r>
              <a:rPr lang="en-US" altLang="zh-SG" sz="1200" b="0" i="0" kern="1200" dirty="0" err="1">
                <a:solidFill>
                  <a:schemeClr val="tx1"/>
                </a:solidFill>
                <a:effectLst/>
                <a:latin typeface="+mn-lt"/>
                <a:ea typeface="+mn-ea"/>
                <a:cs typeface="+mn-cs"/>
              </a:rPr>
              <a:t>GridSearchCV</a:t>
            </a:r>
            <a:r>
              <a:rPr lang="en-US" altLang="zh-SG" sz="1200" b="0" i="0" kern="1200" dirty="0">
                <a:solidFill>
                  <a:schemeClr val="tx1"/>
                </a:solidFill>
                <a:effectLst/>
                <a:latin typeface="+mn-lt"/>
                <a:ea typeface="+mn-ea"/>
                <a:cs typeface="+mn-cs"/>
              </a:rPr>
              <a:t> internal refit time: 2.41s </a:t>
            </a:r>
            <a:br>
              <a:rPr lang="en-US" altLang="zh-SG" sz="1200" b="0" i="0" kern="1200" dirty="0">
                <a:solidFill>
                  <a:schemeClr val="tx1"/>
                </a:solidFill>
                <a:effectLst/>
                <a:latin typeface="+mn-lt"/>
                <a:ea typeface="+mn-ea"/>
                <a:cs typeface="+mn-cs"/>
              </a:rPr>
            </a:br>
            <a:r>
              <a:rPr lang="en-US" altLang="zh-SG" sz="1200" b="0" i="0" kern="1200" dirty="0">
                <a:solidFill>
                  <a:schemeClr val="tx1"/>
                </a:solidFill>
                <a:effectLst/>
                <a:latin typeface="+mn-lt"/>
                <a:ea typeface="+mn-ea"/>
                <a:cs typeface="+mn-cs"/>
              </a:rPr>
              <a:t>Best estimator: </a:t>
            </a:r>
            <a:r>
              <a:rPr lang="en-US" altLang="zh-SG" sz="1200" b="0" i="0" kern="1200" dirty="0" err="1">
                <a:solidFill>
                  <a:schemeClr val="tx1"/>
                </a:solidFill>
                <a:effectLst/>
                <a:latin typeface="+mn-lt"/>
                <a:ea typeface="+mn-ea"/>
                <a:cs typeface="+mn-cs"/>
              </a:rPr>
              <a:t>LogisticRegression</a:t>
            </a:r>
            <a:r>
              <a:rPr lang="en-US" altLang="zh-SG" sz="1200" b="0" i="0" kern="1200" dirty="0">
                <a:solidFill>
                  <a:schemeClr val="tx1"/>
                </a:solidFill>
                <a:effectLst/>
                <a:latin typeface="+mn-lt"/>
                <a:ea typeface="+mn-ea"/>
                <a:cs typeface="+mn-cs"/>
              </a:rPr>
              <a:t>(C=0.1, </a:t>
            </a:r>
            <a:r>
              <a:rPr lang="en-US" altLang="zh-SG" sz="1200" b="0" i="0" kern="1200" dirty="0" err="1">
                <a:solidFill>
                  <a:schemeClr val="tx1"/>
                </a:solidFill>
                <a:effectLst/>
                <a:latin typeface="+mn-lt"/>
                <a:ea typeface="+mn-ea"/>
                <a:cs typeface="+mn-cs"/>
              </a:rPr>
              <a:t>max_iter</a:t>
            </a:r>
            <a:r>
              <a:rPr lang="en-US" altLang="zh-SG" sz="1200" b="0" i="0" kern="1200" dirty="0">
                <a:solidFill>
                  <a:schemeClr val="tx1"/>
                </a:solidFill>
                <a:effectLst/>
                <a:latin typeface="+mn-lt"/>
                <a:ea typeface="+mn-ea"/>
                <a:cs typeface="+mn-cs"/>
              </a:rPr>
              <a:t>=5000, penalty='l2', </a:t>
            </a:r>
            <a:r>
              <a:rPr lang="en-US" altLang="zh-SG" sz="1200" b="0" i="0" kern="1200" dirty="0" err="1">
                <a:solidFill>
                  <a:schemeClr val="tx1"/>
                </a:solidFill>
                <a:effectLst/>
                <a:latin typeface="+mn-lt"/>
                <a:ea typeface="+mn-ea"/>
                <a:cs typeface="+mn-cs"/>
              </a:rPr>
              <a:t>random_state</a:t>
            </a:r>
            <a:r>
              <a:rPr lang="en-US" altLang="zh-SG" sz="1200" b="0" i="0" kern="1200" dirty="0">
                <a:solidFill>
                  <a:schemeClr val="tx1"/>
                </a:solidFill>
                <a:effectLst/>
                <a:latin typeface="+mn-lt"/>
                <a:ea typeface="+mn-ea"/>
                <a:cs typeface="+mn-cs"/>
              </a:rPr>
              <a:t>=42)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C5A2F-151F-4047-0DA0-44DA4C40D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EB631-29DB-B0F8-1180-8150A5635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397EA-15AB-E9EE-852D-FE2C685778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C3A32C-F18D-5E6D-58CF-F16ED85B1B7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60625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1EF6-FF74-D909-4E6F-6AED63765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9418B-51E5-747E-AA2A-DDBF3704A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F4036-F241-CCE6-00D9-0C312325A611}"/>
              </a:ext>
            </a:extLst>
          </p:cNvPr>
          <p:cNvSpPr>
            <a:spLocks noGrp="1"/>
          </p:cNvSpPr>
          <p:nvPr>
            <p:ph type="body" idx="1"/>
          </p:nvPr>
        </p:nvSpPr>
        <p:spPr/>
        <p:txBody>
          <a:bodyPr/>
          <a:lstStyle/>
          <a:p>
            <a:r>
              <a:rPr lang="en-US" dirty="0"/>
              <a:t>The best Logistic Regression configuration used C = 0.1 and retained 99% variance through PCA, indicating that the model benefits from more features. While both </a:t>
            </a:r>
            <a:r>
              <a:rPr lang="en-US" dirty="0" err="1"/>
              <a:t>lbfgs</a:t>
            </a:r>
            <a:r>
              <a:rPr lang="en-US" dirty="0"/>
              <a:t> and saga achieved similar accuracy, </a:t>
            </a:r>
            <a:r>
              <a:rPr lang="en-US" dirty="0" err="1"/>
              <a:t>lbfgs</a:t>
            </a:r>
            <a:r>
              <a:rPr lang="en-US" dirty="0"/>
              <a:t> was more efficient and therefore preferred. However, Logistic Regression significantly underperforms compared to other models because it is limited to linear decision boundaries, which are insufficient for capturing the complex, non-linear structure of handwritten digits</a:t>
            </a:r>
          </a:p>
        </p:txBody>
      </p:sp>
      <p:sp>
        <p:nvSpPr>
          <p:cNvPr id="4" name="Slide Number Placeholder 3">
            <a:extLst>
              <a:ext uri="{FF2B5EF4-FFF2-40B4-BE49-F238E27FC236}">
                <a16:creationId xmlns:a16="http://schemas.microsoft.com/office/drawing/2014/main" id="{C48A8092-46D1-4906-447C-5C77BF39E15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622589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t>1,</a:t>
            </a:r>
            <a:r>
              <a:rPr kumimoji="1" lang="zh-CN" altLang="en-US" sz="1200" dirty="0"/>
              <a:t> </a:t>
            </a:r>
            <a:r>
              <a:rPr kumimoji="1" lang="en-US" altLang="zh-CN" sz="1200" dirty="0"/>
              <a:t>32,</a:t>
            </a:r>
            <a:r>
              <a:rPr kumimoji="1" lang="zh-CN" altLang="en-US" sz="1200" dirty="0"/>
              <a:t> </a:t>
            </a:r>
            <a:r>
              <a:rPr kumimoji="1" lang="en-US" altLang="zh-CN" sz="1200" dirty="0"/>
              <a:t>3x3</a:t>
            </a:r>
            <a:endParaRPr kumimoji="1" lang="zh-SG" altLang="en-US" sz="1200" dirty="0"/>
          </a:p>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输入通道数，</a:t>
            </a:r>
            <a:r>
              <a:rPr lang="en-US" altLang="zh-CN" sz="1200" b="0" i="0" kern="1200" dirty="0">
                <a:solidFill>
                  <a:schemeClr val="tx1"/>
                </a:solidFill>
                <a:effectLst/>
                <a:latin typeface="+mn-lt"/>
                <a:ea typeface="+mn-ea"/>
                <a:cs typeface="+mn-cs"/>
              </a:rPr>
              <a:t>32</a:t>
            </a:r>
            <a:r>
              <a:rPr lang="zh-CN" altLang="en-US" sz="1200" b="0" i="0" kern="1200" dirty="0">
                <a:solidFill>
                  <a:schemeClr val="tx1"/>
                </a:solidFill>
                <a:effectLst/>
                <a:latin typeface="+mn-lt"/>
                <a:ea typeface="+mn-ea"/>
                <a:cs typeface="+mn-cs"/>
              </a:rPr>
              <a:t>输出通道数（卷积深度）</a:t>
            </a:r>
            <a:r>
              <a:rPr lang="en-US" altLang="zh-CN" sz="1200" b="0" i="0" kern="1200" dirty="0">
                <a:solidFill>
                  <a:schemeClr val="tx1"/>
                </a:solidFill>
                <a:effectLst/>
                <a:latin typeface="+mn-lt"/>
                <a:ea typeface="+mn-ea"/>
                <a:cs typeface="+mn-cs"/>
              </a:rPr>
              <a:t>3x3</a:t>
            </a:r>
            <a:r>
              <a:rPr lang="zh-CN" altLang="en-US" sz="1200" b="0" i="0" kern="1200" dirty="0">
                <a:solidFill>
                  <a:schemeClr val="tx1"/>
                </a:solidFill>
                <a:effectLst/>
                <a:latin typeface="+mn-lt"/>
                <a:ea typeface="+mn-ea"/>
                <a:cs typeface="+mn-cs"/>
              </a:rPr>
              <a:t>卷积大小</a:t>
            </a:r>
            <a:br>
              <a:rPr lang="en-US" altLang="zh-SG" sz="1200" b="0" i="0" kern="1200" dirty="0">
                <a:solidFill>
                  <a:schemeClr val="tx1"/>
                </a:solidFill>
                <a:effectLst/>
                <a:latin typeface="+mn-lt"/>
                <a:ea typeface="+mn-ea"/>
                <a:cs typeface="+mn-cs"/>
              </a:rPr>
            </a:br>
            <a:r>
              <a:rPr lang="en-US" altLang="zh-SG" sz="1200" b="0" i="0" kern="1200" dirty="0" err="1">
                <a:solidFill>
                  <a:schemeClr val="tx1"/>
                </a:solidFill>
                <a:effectLst/>
                <a:latin typeface="+mn-lt"/>
                <a:ea typeface="+mn-ea"/>
                <a:cs typeface="+mn-cs"/>
              </a:rPr>
              <a:t>MaxPool</a:t>
            </a:r>
            <a:r>
              <a:rPr lang="en-US" altLang="zh-SG" sz="1200" b="0" i="0" kern="1200" dirty="0">
                <a:solidFill>
                  <a:schemeClr val="tx1"/>
                </a:solidFill>
                <a:effectLst/>
                <a:latin typeface="+mn-lt"/>
                <a:ea typeface="+mn-ea"/>
                <a:cs typeface="+mn-cs"/>
              </a:rPr>
              <a:t>(2)</a:t>
            </a:r>
            <a:br>
              <a:rPr lang="en-US" altLang="zh-SG" sz="1200" b="0" i="0" kern="1200" dirty="0">
                <a:solidFill>
                  <a:schemeClr val="tx1"/>
                </a:solidFill>
                <a:effectLst/>
                <a:latin typeface="+mn-lt"/>
                <a:ea typeface="+mn-ea"/>
                <a:cs typeface="+mn-cs"/>
              </a:rPr>
            </a:br>
            <a:r>
              <a:rPr lang="zh-SG" altLang="en-US" sz="1200" b="0" i="0" kern="1200" dirty="0">
                <a:solidFill>
                  <a:schemeClr val="tx1"/>
                </a:solidFill>
                <a:effectLst/>
                <a:latin typeface="+mn-lt"/>
                <a:ea typeface="+mn-ea"/>
                <a:cs typeface="+mn-cs"/>
              </a:rPr>
              <a:t>池化窗口大小 </a:t>
            </a:r>
            <a:r>
              <a:rPr lang="en-US" altLang="zh-SG" sz="1200" b="0" i="0" kern="1200" dirty="0">
                <a:solidFill>
                  <a:schemeClr val="tx1"/>
                </a:solidFill>
                <a:effectLst/>
                <a:latin typeface="+mn-lt"/>
                <a:ea typeface="+mn-ea"/>
                <a:cs typeface="+mn-cs"/>
              </a:rPr>
              <a:t>2x2</a:t>
            </a:r>
          </a:p>
          <a:p>
            <a:r>
              <a:rPr lang="en-US" altLang="zh-SG" sz="1200" b="0" i="0" kern="1200" dirty="0">
                <a:solidFill>
                  <a:schemeClr val="tx1"/>
                </a:solidFill>
                <a:effectLst/>
                <a:latin typeface="+mn-lt"/>
                <a:ea typeface="+mn-ea"/>
                <a:cs typeface="+mn-cs"/>
              </a:rPr>
              <a:t>stride </a:t>
            </a:r>
            <a:r>
              <a:rPr lang="zh-SG" altLang="en-US" sz="1200" b="0" i="0" kern="1200" dirty="0">
                <a:solidFill>
                  <a:schemeClr val="tx1"/>
                </a:solidFill>
                <a:effectLst/>
                <a:latin typeface="+mn-lt"/>
                <a:ea typeface="+mn-ea"/>
                <a:cs typeface="+mn-cs"/>
              </a:rPr>
              <a:t>默认也是 </a:t>
            </a:r>
            <a:r>
              <a:rPr lang="en-US" altLang="zh-SG" sz="1200" b="0" i="0" kern="1200" dirty="0">
                <a:solidFill>
                  <a:schemeClr val="tx1"/>
                </a:solidFill>
                <a:effectLst/>
                <a:latin typeface="+mn-lt"/>
                <a:ea typeface="+mn-ea"/>
                <a:cs typeface="+mn-cs"/>
              </a:rPr>
              <a:t>2</a:t>
            </a:r>
            <a:endParaRPr lang="zh-SG" alt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D2E35-7932-6E35-F5CC-7C536B4F3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94D1D-C86E-9F32-595E-4D7F58390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F59EF-0B5F-A7A1-0F43-E3933A5B6D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90B230-7AC7-6B9C-9DD5-4E1D43F9A2FA}"/>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7906422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superior performance of CNN highlights the importance of model-data alignment — models that exploit spatial structure significantly outperform generic models on image data.”</a:t>
            </a:r>
          </a:p>
          <a:p>
            <a:br>
              <a:rPr lang="en-US" dirty="0"/>
            </a:br>
            <a:r>
              <a:rPr lang="en-US" dirty="0"/>
              <a:t>The MLP model treats each image as a flat vector of pixels, which causes it to lose important spatial relationships between </a:t>
            </a:r>
            <a:r>
              <a:rPr lang="en-US" dirty="0" err="1"/>
              <a:t>neighbouring</a:t>
            </a:r>
            <a:r>
              <a:rPr lang="en-US" dirty="0"/>
              <a:t> pixels. As a result, it struggles to capture meaningful patterns such as edges and shapes. In contrast, CNN preserves spatial structure through convolutional layers, allowing it to learn hierarchical features like edges and digit shapes. This makes CNN significantly more effective for image classification tasks like MNIST, resulting in higher accuracy and better </a:t>
            </a:r>
            <a:r>
              <a:rPr lang="en-US" dirty="0" err="1"/>
              <a:t>generalisation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A1889-130F-7782-E87E-0D171D2C7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C6C25-7246-7D8B-4662-F9C471FD7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98F72-87A3-75DA-339B-5BA4D4ADF1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96FEE9-D4AC-B79B-80C9-00CA2C83D5B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81639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8AC66-6751-A1A3-B6ED-B4DC4989A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2F659-B589-C362-C7FF-047DA3277E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72BC4-CCD2-5CBB-77B8-A7CF61160F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B97526-C775-EF96-B158-C06DDD10F5DD}"/>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991021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EB738-94C9-348A-1EC0-43B67BD24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CE298-66A5-D569-6DA0-E6ECF9335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E6FB0-AAA2-7810-A7FB-50B6378D5B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ABCBA1-3AA0-2D32-5CEC-03C2CBDA35DE}"/>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2741277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seaskyjj/MNIST-MSI"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B931"/>
          </a:solidFill>
          <a:ln/>
        </p:spPr>
        <p:txBody>
          <a:bodyPr/>
          <a:lstStyle/>
          <a:p>
            <a:endParaRPr lang="zh-SG" altLang="en-US"/>
          </a:p>
        </p:txBody>
      </p:sp>
      <p:sp>
        <p:nvSpPr>
          <p:cNvPr id="3" name="Text 1"/>
          <p:cNvSpPr/>
          <p:nvPr/>
        </p:nvSpPr>
        <p:spPr>
          <a:xfrm>
            <a:off x="731520" y="914400"/>
            <a:ext cx="7680960" cy="457200"/>
          </a:xfrm>
          <a:prstGeom prst="rect">
            <a:avLst/>
          </a:prstGeom>
          <a:noFill/>
          <a:ln/>
        </p:spPr>
        <p:txBody>
          <a:bodyPr wrap="square" lIns="0" tIns="0" rIns="0" bIns="0" rtlCol="0" anchor="ctr"/>
          <a:lstStyle/>
          <a:p>
            <a:pPr marL="0" indent="0">
              <a:buNone/>
            </a:pPr>
            <a:r>
              <a:rPr lang="en-US" sz="1400" kern="0" spc="400" dirty="0">
                <a:solidFill>
                  <a:srgbClr val="CADCFC"/>
                </a:solidFill>
                <a:latin typeface="Calibri" pitchFamily="34" charset="0"/>
                <a:ea typeface="Calibri" pitchFamily="34" charset="-122"/>
                <a:cs typeface="Calibri" pitchFamily="34" charset="-120"/>
              </a:rPr>
              <a:t>MSI 5102  |  Type 2 Project</a:t>
            </a:r>
            <a:endParaRPr lang="en-US" sz="1400" dirty="0"/>
          </a:p>
        </p:txBody>
      </p:sp>
      <p:sp>
        <p:nvSpPr>
          <p:cNvPr id="4" name="Text 2"/>
          <p:cNvSpPr/>
          <p:nvPr/>
        </p:nvSpPr>
        <p:spPr>
          <a:xfrm>
            <a:off x="731520" y="1554480"/>
            <a:ext cx="7680960" cy="91440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Handwritten Digit Recognition</a:t>
            </a:r>
            <a:endParaRPr lang="en-US" sz="4000" dirty="0"/>
          </a:p>
        </p:txBody>
      </p:sp>
      <p:sp>
        <p:nvSpPr>
          <p:cNvPr id="5" name="Text 3"/>
          <p:cNvSpPr/>
          <p:nvPr/>
        </p:nvSpPr>
        <p:spPr>
          <a:xfrm>
            <a:off x="731520" y="2606040"/>
            <a:ext cx="768096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MNIST Dataset  |  KNN  |  Logistic Regression  |  MLP  |  CNN</a:t>
            </a:r>
            <a:endParaRPr lang="en-US" sz="1300" dirty="0"/>
          </a:p>
        </p:txBody>
      </p:sp>
      <p:sp>
        <p:nvSpPr>
          <p:cNvPr id="6" name="Shape 4"/>
          <p:cNvSpPr/>
          <p:nvPr/>
        </p:nvSpPr>
        <p:spPr>
          <a:xfrm>
            <a:off x="731520" y="3200400"/>
            <a:ext cx="1828800" cy="3658"/>
          </a:xfrm>
          <a:prstGeom prst="rect">
            <a:avLst/>
          </a:prstGeom>
          <a:solidFill>
            <a:srgbClr val="E8B931"/>
          </a:solidFill>
          <a:ln/>
        </p:spPr>
        <p:txBody>
          <a:bodyPr/>
          <a:lstStyle/>
          <a:p>
            <a:endParaRPr lang="zh-SG" altLang="en-US"/>
          </a:p>
        </p:txBody>
      </p:sp>
      <p:sp>
        <p:nvSpPr>
          <p:cNvPr id="7" name="Text 5"/>
          <p:cNvSpPr/>
          <p:nvPr/>
        </p:nvSpPr>
        <p:spPr>
          <a:xfrm>
            <a:off x="731520" y="3429000"/>
            <a:ext cx="7680960" cy="365760"/>
          </a:xfrm>
          <a:prstGeom prst="rect">
            <a:avLst/>
          </a:prstGeom>
          <a:noFill/>
          <a:ln/>
        </p:spPr>
        <p:txBody>
          <a:bodyPr wrap="square" lIns="0" tIns="0" rIns="0" bIns="0" rtlCol="0" anchor="ctr"/>
          <a:lstStyle/>
          <a:p>
            <a:pPr marL="0" indent="0">
              <a:buNone/>
            </a:pPr>
            <a:r>
              <a:rPr lang="en-US" sz="1400" i="1" dirty="0">
                <a:solidFill>
                  <a:srgbClr val="8A94A6"/>
                </a:solidFill>
                <a:latin typeface="Calibri" pitchFamily="34" charset="0"/>
                <a:ea typeface="Calibri" pitchFamily="34" charset="-122"/>
                <a:cs typeface="Calibri" pitchFamily="34" charset="-120"/>
              </a:rPr>
              <a:t>Experiment Report &amp; Model Comparison</a:t>
            </a:r>
            <a:endParaRPr lang="en-US" sz="1400" dirty="0"/>
          </a:p>
        </p:txBody>
      </p:sp>
      <p:sp>
        <p:nvSpPr>
          <p:cNvPr id="8" name="Shape 6"/>
          <p:cNvSpPr/>
          <p:nvPr/>
        </p:nvSpPr>
        <p:spPr>
          <a:xfrm>
            <a:off x="0" y="5070348"/>
            <a:ext cx="9144000" cy="73152"/>
          </a:xfrm>
          <a:prstGeom prst="rect">
            <a:avLst/>
          </a:prstGeom>
          <a:solidFill>
            <a:srgbClr val="E8B931"/>
          </a:solidFill>
          <a:ln/>
        </p:spPr>
        <p:txBody>
          <a:bodyPr/>
          <a:lstStyle/>
          <a:p>
            <a:endParaRPr lang="zh-SG"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Agenda</a:t>
            </a:r>
            <a:endParaRPr lang="en-US" sz="2400" dirty="0"/>
          </a:p>
        </p:txBody>
      </p:sp>
      <p:sp>
        <p:nvSpPr>
          <p:cNvPr id="3" name="Shape 1"/>
          <p:cNvSpPr/>
          <p:nvPr/>
        </p:nvSpPr>
        <p:spPr>
          <a:xfrm>
            <a:off x="731520" y="1005840"/>
            <a:ext cx="1097280" cy="3658"/>
          </a:xfrm>
          <a:prstGeom prst="rect">
            <a:avLst/>
          </a:prstGeom>
          <a:solidFill>
            <a:srgbClr val="E8B931"/>
          </a:solidFill>
          <a:ln/>
        </p:spPr>
        <p:txBody>
          <a:bodyPr/>
          <a:lstStyle/>
          <a:p>
            <a:endParaRPr lang="zh-SG" altLang="en-US"/>
          </a:p>
        </p:txBody>
      </p:sp>
      <p:sp>
        <p:nvSpPr>
          <p:cNvPr id="4" name="Text 2"/>
          <p:cNvSpPr/>
          <p:nvPr/>
        </p:nvSpPr>
        <p:spPr>
          <a:xfrm>
            <a:off x="731520" y="1325880"/>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5" name="Text 3"/>
          <p:cNvSpPr/>
          <p:nvPr/>
        </p:nvSpPr>
        <p:spPr>
          <a:xfrm>
            <a:off x="1371600" y="1325880"/>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Dataset &amp; Workflow</a:t>
            </a:r>
            <a:endParaRPr lang="en-US" sz="1500" dirty="0"/>
          </a:p>
        </p:txBody>
      </p:sp>
      <p:sp>
        <p:nvSpPr>
          <p:cNvPr id="6" name="Text 4"/>
          <p:cNvSpPr/>
          <p:nvPr/>
        </p:nvSpPr>
        <p:spPr>
          <a:xfrm>
            <a:off x="731520" y="1709928"/>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7" name="Text 5"/>
          <p:cNvSpPr/>
          <p:nvPr/>
        </p:nvSpPr>
        <p:spPr>
          <a:xfrm>
            <a:off x="1371600" y="2089485"/>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KNN — Pipeline &amp; Grid Search</a:t>
            </a:r>
            <a:r>
              <a:rPr lang="zh-CN" altLang="en-US" sz="1500" dirty="0">
                <a:solidFill>
                  <a:srgbClr val="4A5568"/>
                </a:solidFill>
                <a:latin typeface="Calibri" pitchFamily="34" charset="0"/>
                <a:ea typeface="Calibri" pitchFamily="34" charset="-122"/>
                <a:cs typeface="Calibri" pitchFamily="34" charset="-120"/>
              </a:rPr>
              <a:t> </a:t>
            </a:r>
            <a:r>
              <a:rPr lang="en-US" altLang="zh-CN" sz="1500" dirty="0">
                <a:solidFill>
                  <a:srgbClr val="4A5568"/>
                </a:solidFill>
                <a:latin typeface="Calibri" pitchFamily="34" charset="0"/>
                <a:ea typeface="Calibri" pitchFamily="34" charset="-122"/>
                <a:cs typeface="Calibri" pitchFamily="34" charset="-120"/>
              </a:rPr>
              <a:t>Result</a:t>
            </a:r>
            <a:endParaRPr lang="en-US" sz="1500" dirty="0"/>
          </a:p>
        </p:txBody>
      </p:sp>
      <p:sp>
        <p:nvSpPr>
          <p:cNvPr id="8" name="Text 6"/>
          <p:cNvSpPr/>
          <p:nvPr/>
        </p:nvSpPr>
        <p:spPr>
          <a:xfrm>
            <a:off x="731520" y="2093976"/>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9" name="Text 7"/>
          <p:cNvSpPr/>
          <p:nvPr/>
        </p:nvSpPr>
        <p:spPr>
          <a:xfrm>
            <a:off x="1371600" y="2473533"/>
            <a:ext cx="6400800" cy="320040"/>
          </a:xfrm>
          <a:prstGeom prst="rect">
            <a:avLst/>
          </a:prstGeom>
          <a:noFill/>
          <a:ln/>
        </p:spPr>
        <p:txBody>
          <a:bodyPr wrap="square" lIns="0" tIns="0" rIns="0" bIns="0" rtlCol="0" anchor="ctr"/>
          <a:lstStyle/>
          <a:p>
            <a:r>
              <a:rPr lang="en-US" sz="1500" dirty="0">
                <a:solidFill>
                  <a:srgbClr val="4A5568"/>
                </a:solidFill>
                <a:latin typeface="Calibri" pitchFamily="34" charset="0"/>
                <a:ea typeface="Calibri" pitchFamily="34" charset="-122"/>
                <a:cs typeface="Calibri" pitchFamily="34" charset="-120"/>
              </a:rPr>
              <a:t>Logistic Regression — Pipeline &amp; Grid Search</a:t>
            </a:r>
            <a:r>
              <a:rPr lang="zh-CN" altLang="en-US" sz="1500" dirty="0">
                <a:solidFill>
                  <a:srgbClr val="4A5568"/>
                </a:solidFill>
                <a:latin typeface="Calibri" pitchFamily="34" charset="0"/>
                <a:ea typeface="Calibri" pitchFamily="34" charset="-122"/>
                <a:cs typeface="Calibri" pitchFamily="34" charset="-120"/>
              </a:rPr>
              <a:t> </a:t>
            </a:r>
            <a:r>
              <a:rPr lang="en-US" altLang="zh-CN" sz="1500" dirty="0">
                <a:solidFill>
                  <a:srgbClr val="4A5568"/>
                </a:solidFill>
                <a:latin typeface="Calibri" pitchFamily="34" charset="0"/>
                <a:ea typeface="Calibri" pitchFamily="34" charset="-122"/>
                <a:cs typeface="Calibri" pitchFamily="34" charset="-120"/>
              </a:rPr>
              <a:t>Result</a:t>
            </a:r>
            <a:endParaRPr lang="en-US" sz="1500" dirty="0"/>
          </a:p>
        </p:txBody>
      </p:sp>
      <p:sp>
        <p:nvSpPr>
          <p:cNvPr id="10" name="Text 8"/>
          <p:cNvSpPr/>
          <p:nvPr/>
        </p:nvSpPr>
        <p:spPr>
          <a:xfrm>
            <a:off x="731520" y="2478024"/>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1" name="Text 9"/>
          <p:cNvSpPr/>
          <p:nvPr/>
        </p:nvSpPr>
        <p:spPr>
          <a:xfrm>
            <a:off x="1371600" y="2857581"/>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MLP Neural Network</a:t>
            </a:r>
            <a:r>
              <a:rPr lang="zh-CN" altLang="en-US" sz="1500" dirty="0">
                <a:solidFill>
                  <a:srgbClr val="4A5568"/>
                </a:solidFill>
                <a:latin typeface="Calibri" pitchFamily="34" charset="0"/>
                <a:ea typeface="Calibri" pitchFamily="34" charset="-122"/>
                <a:cs typeface="Calibri" pitchFamily="34" charset="-120"/>
              </a:rPr>
              <a:t> </a:t>
            </a:r>
            <a:r>
              <a:rPr lang="en-US" altLang="zh-CN" sz="1500" dirty="0">
                <a:solidFill>
                  <a:srgbClr val="4A5568"/>
                </a:solidFill>
                <a:latin typeface="Calibri" pitchFamily="34" charset="0"/>
                <a:ea typeface="Calibri" pitchFamily="34" charset="-122"/>
                <a:cs typeface="Calibri" pitchFamily="34" charset="-120"/>
              </a:rPr>
              <a:t>&amp;</a:t>
            </a:r>
            <a:r>
              <a:rPr lang="zh-CN" altLang="en-US" sz="1500" dirty="0">
                <a:solidFill>
                  <a:srgbClr val="4A5568"/>
                </a:solidFill>
                <a:latin typeface="Calibri" pitchFamily="34" charset="0"/>
                <a:ea typeface="Calibri" pitchFamily="34" charset="-122"/>
                <a:cs typeface="Calibri" pitchFamily="34" charset="-120"/>
              </a:rPr>
              <a:t> </a:t>
            </a:r>
            <a:r>
              <a:rPr lang="en-US" altLang="zh-CN" sz="1500" dirty="0">
                <a:solidFill>
                  <a:srgbClr val="4A5568"/>
                </a:solidFill>
                <a:latin typeface="Calibri" pitchFamily="34" charset="0"/>
                <a:ea typeface="Calibri" pitchFamily="34" charset="-122"/>
                <a:cs typeface="Calibri" pitchFamily="34" charset="-120"/>
              </a:rPr>
              <a:t>CNN</a:t>
            </a:r>
            <a:endParaRPr lang="en-US" sz="1500" dirty="0"/>
          </a:p>
        </p:txBody>
      </p:sp>
      <p:sp>
        <p:nvSpPr>
          <p:cNvPr id="12" name="Text 10"/>
          <p:cNvSpPr/>
          <p:nvPr/>
        </p:nvSpPr>
        <p:spPr>
          <a:xfrm>
            <a:off x="731520" y="2862072"/>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14" name="Text 12"/>
          <p:cNvSpPr/>
          <p:nvPr/>
        </p:nvSpPr>
        <p:spPr>
          <a:xfrm>
            <a:off x="731520" y="3246120"/>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15" name="Text 13"/>
          <p:cNvSpPr/>
          <p:nvPr/>
        </p:nvSpPr>
        <p:spPr>
          <a:xfrm>
            <a:off x="1371600" y="3237057"/>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Final Model Comparison</a:t>
            </a:r>
            <a:endParaRPr lang="en-US" sz="1500" dirty="0"/>
          </a:p>
        </p:txBody>
      </p:sp>
      <p:sp>
        <p:nvSpPr>
          <p:cNvPr id="16" name="Text 14"/>
          <p:cNvSpPr/>
          <p:nvPr/>
        </p:nvSpPr>
        <p:spPr>
          <a:xfrm>
            <a:off x="731520" y="3630168"/>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17" name="Text 15"/>
          <p:cNvSpPr/>
          <p:nvPr/>
        </p:nvSpPr>
        <p:spPr>
          <a:xfrm>
            <a:off x="1371600" y="1714419"/>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Dimensionality Reduction (PCA &amp; t-SNE)</a:t>
            </a:r>
            <a:endParaRPr lang="en-US" sz="1500" dirty="0"/>
          </a:p>
        </p:txBody>
      </p:sp>
      <p:sp>
        <p:nvSpPr>
          <p:cNvPr id="18" name="Text 16"/>
          <p:cNvSpPr/>
          <p:nvPr/>
        </p:nvSpPr>
        <p:spPr>
          <a:xfrm>
            <a:off x="731520" y="4014216"/>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19" name="Text 17"/>
          <p:cNvSpPr/>
          <p:nvPr/>
        </p:nvSpPr>
        <p:spPr>
          <a:xfrm>
            <a:off x="1371600" y="3625596"/>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Ablation Study</a:t>
            </a:r>
            <a:endParaRPr lang="en-US" sz="1500" dirty="0"/>
          </a:p>
        </p:txBody>
      </p:sp>
      <p:sp>
        <p:nvSpPr>
          <p:cNvPr id="21" name="Text 19"/>
          <p:cNvSpPr/>
          <p:nvPr/>
        </p:nvSpPr>
        <p:spPr>
          <a:xfrm>
            <a:off x="1371600" y="4009644"/>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Conclusions</a:t>
            </a:r>
            <a:endParaRPr lang="en-US" sz="1500" dirty="0"/>
          </a:p>
        </p:txBody>
      </p:sp>
      <p:sp>
        <p:nvSpPr>
          <p:cNvPr id="22" name="Text 20"/>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01</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Dataset &amp; Workflow</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26072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Dataset &amp; Workflow</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8" name="Shape 6"/>
          <p:cNvSpPr/>
          <p:nvPr/>
        </p:nvSpPr>
        <p:spPr>
          <a:xfrm>
            <a:off x="414338" y="1342548"/>
            <a:ext cx="3495675" cy="2458403"/>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dirty="0"/>
          </a:p>
        </p:txBody>
      </p:sp>
      <p:sp>
        <p:nvSpPr>
          <p:cNvPr id="9" name="Shape 7"/>
          <p:cNvSpPr/>
          <p:nvPr/>
        </p:nvSpPr>
        <p:spPr>
          <a:xfrm>
            <a:off x="414338" y="1342549"/>
            <a:ext cx="64008" cy="2458402"/>
          </a:xfrm>
          <a:prstGeom prst="rect">
            <a:avLst/>
          </a:prstGeom>
          <a:solidFill>
            <a:srgbClr val="E8B931"/>
          </a:solidFill>
          <a:ln/>
        </p:spPr>
        <p:txBody>
          <a:bodyPr/>
          <a:lstStyle/>
          <a:p>
            <a:endParaRPr lang="zh-SG" altLang="en-US"/>
          </a:p>
        </p:txBody>
      </p:sp>
      <p:sp>
        <p:nvSpPr>
          <p:cNvPr id="11" name="Text 9"/>
          <p:cNvSpPr/>
          <p:nvPr/>
        </p:nvSpPr>
        <p:spPr>
          <a:xfrm>
            <a:off x="580645" y="1543527"/>
            <a:ext cx="3329368" cy="2074280"/>
          </a:xfrm>
          <a:prstGeom prst="rect">
            <a:avLst/>
          </a:prstGeom>
          <a:noFill/>
          <a:ln/>
        </p:spPr>
        <p:txBody>
          <a:bodyPr wrap="square" rtlCol="0" anchor="ctr"/>
          <a:lstStyle/>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Load &amp; normalize MNIST</a:t>
            </a:r>
          </a:p>
          <a:p>
            <a:pPr marL="800100" lvl="1" indent="-342900">
              <a:spcAft>
                <a:spcPts val="200"/>
              </a:spcAft>
              <a:buSzPct val="100000"/>
              <a:buFont typeface="+mj-lt"/>
              <a:buAutoNum type="alphaLcPeriod"/>
            </a:pPr>
            <a:r>
              <a:rPr lang="fr-FR" sz="1400" dirty="0">
                <a:solidFill>
                  <a:srgbClr val="4A5568"/>
                </a:solidFill>
              </a:rPr>
              <a:t>70,000 </a:t>
            </a:r>
            <a:r>
              <a:rPr lang="fr-FR" sz="1400" dirty="0" err="1">
                <a:solidFill>
                  <a:srgbClr val="4A5568"/>
                </a:solidFill>
              </a:rPr>
              <a:t>grayscale</a:t>
            </a:r>
            <a:r>
              <a:rPr lang="fr-FR" sz="1400" dirty="0">
                <a:solidFill>
                  <a:srgbClr val="4A5568"/>
                </a:solidFill>
              </a:rPr>
              <a:t> images (28x28)</a:t>
            </a:r>
          </a:p>
          <a:p>
            <a:pPr marL="800100" lvl="1" indent="-342900">
              <a:spcAft>
                <a:spcPts val="200"/>
              </a:spcAft>
              <a:buSzPct val="100000"/>
              <a:buFont typeface="+mj-lt"/>
              <a:buAutoNum type="alphaLcPeriod"/>
            </a:pPr>
            <a:r>
              <a:rPr lang="fr-FR" sz="1400" dirty="0">
                <a:solidFill>
                  <a:srgbClr val="4A5568"/>
                </a:solidFill>
              </a:rPr>
              <a:t>10 classes (digits 0-9)</a:t>
            </a:r>
          </a:p>
          <a:p>
            <a:pPr marL="800100" lvl="1" indent="-342900">
              <a:spcAft>
                <a:spcPts val="200"/>
              </a:spcAft>
              <a:buSzPct val="100000"/>
              <a:buFont typeface="+mj-lt"/>
              <a:buAutoNum type="alphaLcPeriod"/>
            </a:pPr>
            <a:r>
              <a:rPr lang="en-US" sz="1400" dirty="0">
                <a:solidFill>
                  <a:srgbClr val="4A5568"/>
                </a:solidFill>
                <a:latin typeface="Calibri" pitchFamily="34" charset="0"/>
                <a:ea typeface="Calibri" pitchFamily="34" charset="-122"/>
                <a:cs typeface="Calibri" pitchFamily="34" charset="-120"/>
              </a:rPr>
              <a:t>Pixels normalized to [0, 1]</a:t>
            </a:r>
            <a:endParaRPr lang="en-US" sz="1400" dirty="0">
              <a:solidFill>
                <a:srgbClr val="4A5568"/>
              </a:solidFill>
            </a:endParaRPr>
          </a:p>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GridSearchCV for KNN &amp; LR (Pipeline)</a:t>
            </a:r>
            <a:endParaRPr lang="en-US" sz="1400" dirty="0"/>
          </a:p>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Train MLP &amp; CNN (54K train / 6K val)</a:t>
            </a:r>
            <a:endParaRPr lang="en-US" sz="1400" dirty="0"/>
          </a:p>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Evaluate all models on test set (10K)</a:t>
            </a:r>
            <a:endParaRPr lang="en-US" sz="1400" dirty="0"/>
          </a:p>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PCA &amp; t-SNE visualization</a:t>
            </a:r>
            <a:endParaRPr lang="en-US" sz="1400" dirty="0"/>
          </a:p>
        </p:txBody>
      </p:sp>
      <p:sp>
        <p:nvSpPr>
          <p:cNvPr id="24" name="Text 22"/>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25" name="图片 25">
            <a:extLst>
              <a:ext uri="{FF2B5EF4-FFF2-40B4-BE49-F238E27FC236}">
                <a16:creationId xmlns:a16="http://schemas.microsoft.com/office/drawing/2014/main" id="{2D09C243-978B-693B-34A9-148C13F72941}"/>
              </a:ext>
            </a:extLst>
          </p:cNvPr>
          <p:cNvPicPr>
            <a:picLocks noChangeAspect="1"/>
          </p:cNvPicPr>
          <p:nvPr/>
        </p:nvPicPr>
        <p:blipFill>
          <a:blip r:embed="rId3"/>
          <a:stretch>
            <a:fillRect/>
          </a:stretch>
        </p:blipFill>
        <p:spPr>
          <a:xfrm>
            <a:off x="4193749" y="2972261"/>
            <a:ext cx="4602016" cy="1612318"/>
          </a:xfrm>
          <a:prstGeom prst="rect">
            <a:avLst/>
          </a:prstGeom>
        </p:spPr>
      </p:pic>
      <p:sp>
        <p:nvSpPr>
          <p:cNvPr id="26" name="Text 5">
            <a:extLst>
              <a:ext uri="{FF2B5EF4-FFF2-40B4-BE49-F238E27FC236}">
                <a16:creationId xmlns:a16="http://schemas.microsoft.com/office/drawing/2014/main" id="{6009D77F-0B0B-BCE3-C357-FCB3459AE014}"/>
              </a:ext>
            </a:extLst>
          </p:cNvPr>
          <p:cNvSpPr/>
          <p:nvPr/>
        </p:nvSpPr>
        <p:spPr>
          <a:xfrm>
            <a:off x="4193749" y="2501181"/>
            <a:ext cx="4602016" cy="434339"/>
          </a:xfrm>
          <a:prstGeom prst="rect">
            <a:avLst/>
          </a:prstGeom>
          <a:solidFill>
            <a:schemeClr val="bg1"/>
          </a:solidFill>
          <a:ln/>
        </p:spPr>
        <p:txBody>
          <a:bodyPr wrap="square" rtlCol="0" anchor="ctr"/>
          <a:lstStyle/>
          <a:p>
            <a:pPr algn="ctr">
              <a:spcAft>
                <a:spcPts val="400"/>
              </a:spcAft>
              <a:buSzPct val="100000"/>
            </a:pPr>
            <a:r>
              <a:rPr lang="en-US" sz="1400" dirty="0">
                <a:solidFill>
                  <a:srgbClr val="4A5568"/>
                </a:solidFill>
                <a:latin typeface="Calibri" pitchFamily="34" charset="0"/>
                <a:ea typeface="Calibri" pitchFamily="34" charset="-122"/>
                <a:cs typeface="Calibri" pitchFamily="34" charset="-120"/>
              </a:rPr>
              <a:t>60,000 train / 10,000 test (follows MNIST benchmark)</a:t>
            </a:r>
          </a:p>
        </p:txBody>
      </p:sp>
      <p:sp>
        <p:nvSpPr>
          <p:cNvPr id="27" name="Right Brace 26">
            <a:extLst>
              <a:ext uri="{FF2B5EF4-FFF2-40B4-BE49-F238E27FC236}">
                <a16:creationId xmlns:a16="http://schemas.microsoft.com/office/drawing/2014/main" id="{1C4109BC-578C-1C6A-AEBE-5573D0C6F7AA}"/>
              </a:ext>
            </a:extLst>
          </p:cNvPr>
          <p:cNvSpPr/>
          <p:nvPr/>
        </p:nvSpPr>
        <p:spPr>
          <a:xfrm>
            <a:off x="3821907" y="2726931"/>
            <a:ext cx="278511" cy="434339"/>
          </a:xfrm>
          <a:prstGeom prst="rightBrace">
            <a:avLst/>
          </a:prstGeom>
          <a:ln w="28575">
            <a:solidFill>
              <a:srgbClr val="3D7CC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4" name="Shape 3">
            <a:extLst>
              <a:ext uri="{FF2B5EF4-FFF2-40B4-BE49-F238E27FC236}">
                <a16:creationId xmlns:a16="http://schemas.microsoft.com/office/drawing/2014/main" id="{8C9BA7EF-9538-4F6C-D1BF-8759DE343D9B}"/>
              </a:ext>
            </a:extLst>
          </p:cNvPr>
          <p:cNvSpPr/>
          <p:nvPr/>
        </p:nvSpPr>
        <p:spPr>
          <a:xfrm>
            <a:off x="4193749" y="2492668"/>
            <a:ext cx="64007" cy="434339"/>
          </a:xfrm>
          <a:prstGeom prst="rect">
            <a:avLst/>
          </a:prstGeom>
          <a:solidFill>
            <a:srgbClr val="3D7DCA"/>
          </a:solidFill>
          <a:ln/>
        </p:spPr>
        <p:txBody>
          <a:bodyPr/>
          <a:lstStyle/>
          <a:p>
            <a:endParaRPr lang="zh-SG" altLang="en-US"/>
          </a:p>
        </p:txBody>
      </p:sp>
      <p:pic>
        <p:nvPicPr>
          <p:cNvPr id="6" name="Picture 5" descr="It seems like you've provided a sequence of numbers without any context or visual content. Could you provide more information or clarify what you'd like me to describe or help with?&#10;&#10;AI-generated content may be incorrect.">
            <a:extLst>
              <a:ext uri="{FF2B5EF4-FFF2-40B4-BE49-F238E27FC236}">
                <a16:creationId xmlns:a16="http://schemas.microsoft.com/office/drawing/2014/main" id="{9D765E91-1DA7-0BB3-5A53-9B81D11F4FED}"/>
              </a:ext>
            </a:extLst>
          </p:cNvPr>
          <p:cNvPicPr>
            <a:picLocks noChangeAspect="1"/>
          </p:cNvPicPr>
          <p:nvPr/>
        </p:nvPicPr>
        <p:blipFill>
          <a:blip r:embed="rId4"/>
          <a:stretch>
            <a:fillRect/>
          </a:stretch>
        </p:blipFill>
        <p:spPr>
          <a:xfrm>
            <a:off x="4257756" y="1824200"/>
            <a:ext cx="4538009" cy="366741"/>
          </a:xfrm>
          <a:prstGeom prst="rect">
            <a:avLst/>
          </a:prstGeom>
        </p:spPr>
      </p:pic>
      <p:sp>
        <p:nvSpPr>
          <p:cNvPr id="7" name="Right Brace 6">
            <a:extLst>
              <a:ext uri="{FF2B5EF4-FFF2-40B4-BE49-F238E27FC236}">
                <a16:creationId xmlns:a16="http://schemas.microsoft.com/office/drawing/2014/main" id="{F577B5E9-0CA5-20CA-917D-17370987EB10}"/>
              </a:ext>
            </a:extLst>
          </p:cNvPr>
          <p:cNvSpPr/>
          <p:nvPr/>
        </p:nvSpPr>
        <p:spPr>
          <a:xfrm>
            <a:off x="3861028" y="1913018"/>
            <a:ext cx="278511" cy="340043"/>
          </a:xfrm>
          <a:prstGeom prst="rightBrace">
            <a:avLst/>
          </a:prstGeom>
          <a:ln w="28575">
            <a:solidFill>
              <a:srgbClr val="3D7CC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0EA05481-F2BE-800B-80E7-CCB4D11FD7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400839-766C-B3BD-5C74-237BFA3752CD}"/>
              </a:ext>
            </a:extLst>
          </p:cNvPr>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Implementation</a:t>
            </a:r>
            <a:r>
              <a:rPr lang="zh-CN" altLang="en-US" sz="2400" b="1" dirty="0">
                <a:solidFill>
                  <a:srgbClr val="1E2761"/>
                </a:solidFill>
                <a:latin typeface="Georgia" pitchFamily="34" charset="0"/>
                <a:ea typeface="Georgia" pitchFamily="34" charset="-122"/>
                <a:cs typeface="Georgia" pitchFamily="34" charset="-120"/>
              </a:rPr>
              <a:t> </a:t>
            </a:r>
            <a:r>
              <a:rPr lang="en-US" sz="2400" b="1" dirty="0">
                <a:solidFill>
                  <a:srgbClr val="1E2761"/>
                </a:solidFill>
                <a:latin typeface="Georgia" pitchFamily="34" charset="0"/>
                <a:ea typeface="Georgia" pitchFamily="34" charset="-122"/>
                <a:cs typeface="Georgia" pitchFamily="34" charset="-120"/>
              </a:rPr>
              <a:t>Pipeline (</a:t>
            </a:r>
            <a:r>
              <a:rPr lang="en-US" altLang="zh-CN" sz="2400" b="1" dirty="0">
                <a:solidFill>
                  <a:srgbClr val="1E2761"/>
                </a:solidFill>
                <a:latin typeface="Georgia" pitchFamily="34" charset="0"/>
                <a:ea typeface="Georgia" pitchFamily="34" charset="-122"/>
                <a:cs typeface="Georgia" pitchFamily="34" charset="-120"/>
              </a:rPr>
              <a:t>5fold</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t>
            </a:r>
            <a:r>
              <a:rPr lang="zh-CN" altLang="en-US" sz="2400" b="1" dirty="0">
                <a:solidFill>
                  <a:srgbClr val="1E2761"/>
                </a:solidFill>
                <a:latin typeface="Georgia" pitchFamily="34" charset="0"/>
                <a:ea typeface="Georgia" pitchFamily="34" charset="-122"/>
                <a:cs typeface="Georgia" pitchFamily="34" charset="-120"/>
              </a:rPr>
              <a:t> </a:t>
            </a:r>
            <a:r>
              <a:rPr lang="en-US" sz="2400" b="1" dirty="0">
                <a:solidFill>
                  <a:srgbClr val="1E2761"/>
                </a:solidFill>
                <a:latin typeface="Georgia" pitchFamily="34" charset="0"/>
                <a:ea typeface="Georgia" pitchFamily="34" charset="-122"/>
                <a:cs typeface="Georgia" pitchFamily="34" charset="-120"/>
              </a:rPr>
              <a:t>PCA + </a:t>
            </a:r>
            <a:r>
              <a:rPr lang="en-US" altLang="zh-CN" sz="2400" b="1" dirty="0">
                <a:solidFill>
                  <a:srgbClr val="1E2761"/>
                </a:solidFill>
                <a:latin typeface="Georgia" pitchFamily="34" charset="0"/>
                <a:ea typeface="Georgia" pitchFamily="34" charset="-122"/>
                <a:cs typeface="Georgia" pitchFamily="34" charset="-120"/>
              </a:rPr>
              <a:t>Model</a:t>
            </a:r>
            <a:r>
              <a:rPr lang="en-US" sz="2400" b="1" dirty="0">
                <a:solidFill>
                  <a:srgbClr val="1E2761"/>
                </a:solidFill>
                <a:latin typeface="Georgia" pitchFamily="34" charset="0"/>
                <a:ea typeface="Georgia" pitchFamily="34" charset="-122"/>
                <a:cs typeface="Georgia" pitchFamily="34" charset="-120"/>
              </a:rPr>
              <a:t>)</a:t>
            </a:r>
            <a:endParaRPr lang="en-US" sz="2400" dirty="0"/>
          </a:p>
        </p:txBody>
      </p:sp>
      <p:sp>
        <p:nvSpPr>
          <p:cNvPr id="3" name="Shape 1">
            <a:extLst>
              <a:ext uri="{FF2B5EF4-FFF2-40B4-BE49-F238E27FC236}">
                <a16:creationId xmlns:a16="http://schemas.microsoft.com/office/drawing/2014/main" id="{0A03BCA2-2EDD-8857-083B-D67E77A2DF30}"/>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a:extLst>
              <a:ext uri="{FF2B5EF4-FFF2-40B4-BE49-F238E27FC236}">
                <a16:creationId xmlns:a16="http://schemas.microsoft.com/office/drawing/2014/main" id="{7703DEE0-B700-3B10-9BBA-E010D2321D29}"/>
              </a:ext>
            </a:extLst>
          </p:cNvPr>
          <p:cNvSpPr/>
          <p:nvPr/>
        </p:nvSpPr>
        <p:spPr>
          <a:xfrm>
            <a:off x="184786" y="868680"/>
            <a:ext cx="4251960" cy="1961461"/>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dirty="0"/>
          </a:p>
        </p:txBody>
      </p:sp>
      <p:sp>
        <p:nvSpPr>
          <p:cNvPr id="5" name="Shape 3">
            <a:extLst>
              <a:ext uri="{FF2B5EF4-FFF2-40B4-BE49-F238E27FC236}">
                <a16:creationId xmlns:a16="http://schemas.microsoft.com/office/drawing/2014/main" id="{B1117410-FFDE-ACBA-59A3-A20A9376F48E}"/>
              </a:ext>
            </a:extLst>
          </p:cNvPr>
          <p:cNvSpPr/>
          <p:nvPr/>
        </p:nvSpPr>
        <p:spPr>
          <a:xfrm>
            <a:off x="184785" y="868680"/>
            <a:ext cx="89536" cy="1961461"/>
          </a:xfrm>
          <a:prstGeom prst="rect">
            <a:avLst/>
          </a:prstGeom>
          <a:solidFill>
            <a:srgbClr val="3D7DCA"/>
          </a:solidFill>
          <a:ln/>
        </p:spPr>
        <p:txBody>
          <a:bodyPr/>
          <a:lstStyle/>
          <a:p>
            <a:endParaRPr lang="zh-SG" altLang="en-US"/>
          </a:p>
        </p:txBody>
      </p:sp>
      <p:sp>
        <p:nvSpPr>
          <p:cNvPr id="6" name="Text 4">
            <a:extLst>
              <a:ext uri="{FF2B5EF4-FFF2-40B4-BE49-F238E27FC236}">
                <a16:creationId xmlns:a16="http://schemas.microsoft.com/office/drawing/2014/main" id="{2F133DDE-FA8B-76E3-42B3-97644CAE5E02}"/>
              </a:ext>
            </a:extLst>
          </p:cNvPr>
          <p:cNvSpPr/>
          <p:nvPr/>
        </p:nvSpPr>
        <p:spPr>
          <a:xfrm>
            <a:off x="346711" y="960120"/>
            <a:ext cx="3611880" cy="320040"/>
          </a:xfrm>
          <a:prstGeom prst="rect">
            <a:avLst/>
          </a:prstGeom>
          <a:noFill/>
          <a:ln/>
        </p:spPr>
        <p:txBody>
          <a:bodyPr wrap="square" lIns="0" tIns="0" rIns="0" bIns="0" rtlCol="0" anchor="ctr"/>
          <a:lstStyle/>
          <a:p>
            <a:r>
              <a:rPr lang="en-US" altLang="zh-CN" sz="1500" b="1" dirty="0">
                <a:solidFill>
                  <a:srgbClr val="1E2761"/>
                </a:solidFill>
                <a:latin typeface="Georgia" pitchFamily="34" charset="0"/>
                <a:ea typeface="Georgia" pitchFamily="34" charset="-122"/>
                <a:cs typeface="Georgia" pitchFamily="34" charset="-120"/>
              </a:rPr>
              <a:t>KNN</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Python</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Pipeline</a:t>
            </a:r>
            <a:endParaRPr lang="en-US" sz="1500" dirty="0"/>
          </a:p>
        </p:txBody>
      </p:sp>
      <p:sp>
        <p:nvSpPr>
          <p:cNvPr id="7" name="Text 5">
            <a:extLst>
              <a:ext uri="{FF2B5EF4-FFF2-40B4-BE49-F238E27FC236}">
                <a16:creationId xmlns:a16="http://schemas.microsoft.com/office/drawing/2014/main" id="{295459B1-453A-47F9-140C-C132552F948F}"/>
              </a:ext>
            </a:extLst>
          </p:cNvPr>
          <p:cNvSpPr/>
          <p:nvPr/>
        </p:nvSpPr>
        <p:spPr>
          <a:xfrm>
            <a:off x="459106" y="1325879"/>
            <a:ext cx="3792855" cy="1371601"/>
          </a:xfrm>
          <a:prstGeom prst="rect">
            <a:avLst/>
          </a:prstGeom>
          <a:noFill/>
          <a:ln/>
        </p:spPr>
        <p:txBody>
          <a:bodyPr wrap="square" rtlCol="0" anchor="ctr"/>
          <a:lstStyle/>
          <a:p>
            <a:pPr>
              <a:spcAft>
                <a:spcPts val="400"/>
              </a:spcAft>
              <a:buSzPct val="100000"/>
            </a:pPr>
            <a:r>
              <a:rPr lang="en-US" sz="1200" b="1" dirty="0">
                <a:solidFill>
                  <a:srgbClr val="4A5568"/>
                </a:solidFill>
                <a:latin typeface="Calibri" pitchFamily="34" charset="0"/>
                <a:cs typeface="Calibri" pitchFamily="34" charset="-120"/>
              </a:rPr>
              <a:t>Pipeline(</a:t>
            </a:r>
          </a:p>
          <a:p>
            <a:pPr>
              <a:spcAft>
                <a:spcPts val="400"/>
              </a:spcAft>
              <a:buSzPct val="100000"/>
            </a:pPr>
            <a:r>
              <a:rPr lang="en-US" sz="1200" b="1" dirty="0">
                <a:solidFill>
                  <a:srgbClr val="4A5568"/>
                </a:solidFill>
                <a:latin typeface="Calibri" pitchFamily="34" charset="0"/>
                <a:cs typeface="Calibri" pitchFamily="34" charset="-120"/>
              </a:rPr>
              <a:t>    steps=[</a:t>
            </a:r>
          </a:p>
          <a:p>
            <a:pPr>
              <a:spcAft>
                <a:spcPts val="400"/>
              </a:spcAft>
              <a:buSzPct val="100000"/>
            </a:pP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pca</a:t>
            </a:r>
            <a:r>
              <a:rPr lang="en-US" sz="1200" b="1" dirty="0">
                <a:solidFill>
                  <a:srgbClr val="4A5568"/>
                </a:solidFill>
                <a:latin typeface="Calibri" pitchFamily="34" charset="0"/>
                <a:cs typeface="Calibri" pitchFamily="34" charset="-120"/>
              </a:rPr>
              <a:t>', PCA(</a:t>
            </a:r>
            <a:r>
              <a:rPr lang="en-US" sz="1200" b="1" dirty="0" err="1">
                <a:solidFill>
                  <a:srgbClr val="4A5568"/>
                </a:solidFill>
                <a:latin typeface="Calibri" pitchFamily="34" charset="0"/>
                <a:cs typeface="Calibri" pitchFamily="34" charset="-120"/>
              </a:rPr>
              <a:t>svd_solver</a:t>
            </a:r>
            <a:r>
              <a:rPr lang="en-US" sz="1200" b="1" dirty="0">
                <a:solidFill>
                  <a:srgbClr val="4A5568"/>
                </a:solidFill>
                <a:latin typeface="Calibri" pitchFamily="34" charset="0"/>
                <a:cs typeface="Calibri" pitchFamily="34" charset="-120"/>
              </a:rPr>
              <a:t>='full', </a:t>
            </a:r>
            <a:r>
              <a:rPr lang="en-US" sz="1200" b="1" dirty="0" err="1">
                <a:solidFill>
                  <a:srgbClr val="4A5568"/>
                </a:solidFill>
                <a:latin typeface="Calibri" pitchFamily="34" charset="0"/>
                <a:cs typeface="Calibri" pitchFamily="34" charset="-120"/>
              </a:rPr>
              <a:t>random_state</a:t>
            </a:r>
            <a:r>
              <a:rPr lang="en-US" sz="1200" b="1" dirty="0">
                <a:solidFill>
                  <a:srgbClr val="4A5568"/>
                </a:solidFill>
                <a:latin typeface="Calibri" pitchFamily="34" charset="0"/>
                <a:cs typeface="Calibri" pitchFamily="34" charset="-120"/>
              </a:rPr>
              <a:t>=SEED)),</a:t>
            </a:r>
          </a:p>
          <a:p>
            <a:pPr>
              <a:spcAft>
                <a:spcPts val="400"/>
              </a:spcAft>
              <a:buSzPct val="100000"/>
            </a:pP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knn</a:t>
            </a: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KNeighborsClassifier</a:t>
            </a:r>
            <a:r>
              <a:rPr lang="en-US" sz="1200" b="1" dirty="0">
                <a:solidFill>
                  <a:srgbClr val="4A5568"/>
                </a:solidFill>
                <a:latin typeface="Calibri" pitchFamily="34" charset="0"/>
                <a:cs typeface="Calibri" pitchFamily="34" charset="-120"/>
              </a:rPr>
              <a:t>()),],</a:t>
            </a:r>
          </a:p>
          <a:p>
            <a:pPr>
              <a:spcAft>
                <a:spcPts val="400"/>
              </a:spcAft>
              <a:buSzPct val="100000"/>
            </a:pPr>
            <a:r>
              <a:rPr lang="en-US" sz="1200" b="1" dirty="0">
                <a:solidFill>
                  <a:srgbClr val="4A5568"/>
                </a:solidFill>
                <a:latin typeface="Calibri" pitchFamily="34" charset="0"/>
                <a:cs typeface="Calibri" pitchFamily="34" charset="-120"/>
              </a:rPr>
              <a:t>    memory=</a:t>
            </a:r>
            <a:r>
              <a:rPr lang="en-US" sz="1200" b="1" dirty="0" err="1">
                <a:solidFill>
                  <a:srgbClr val="4A5568"/>
                </a:solidFill>
                <a:latin typeface="Calibri" pitchFamily="34" charset="0"/>
                <a:cs typeface="Calibri" pitchFamily="34" charset="-120"/>
              </a:rPr>
              <a:t>pipeline_memory</a:t>
            </a:r>
            <a:r>
              <a:rPr lang="en-US" sz="1200" b="1" dirty="0">
                <a:solidFill>
                  <a:srgbClr val="4A5568"/>
                </a:solidFill>
                <a:latin typeface="Calibri" pitchFamily="34" charset="0"/>
                <a:cs typeface="Calibri" pitchFamily="34" charset="-120"/>
              </a:rPr>
              <a:t>,</a:t>
            </a:r>
          </a:p>
          <a:p>
            <a:pPr>
              <a:spcAft>
                <a:spcPts val="400"/>
              </a:spcAft>
              <a:buSzPct val="100000"/>
            </a:pPr>
            <a:r>
              <a:rPr lang="en-US" sz="1200" b="1" dirty="0">
                <a:solidFill>
                  <a:srgbClr val="4A5568"/>
                </a:solidFill>
                <a:latin typeface="Calibri" pitchFamily="34" charset="0"/>
                <a:cs typeface="Calibri" pitchFamily="34" charset="-120"/>
              </a:rPr>
              <a:t>)</a:t>
            </a:r>
          </a:p>
        </p:txBody>
      </p:sp>
      <p:sp>
        <p:nvSpPr>
          <p:cNvPr id="8" name="Shape 6">
            <a:extLst>
              <a:ext uri="{FF2B5EF4-FFF2-40B4-BE49-F238E27FC236}">
                <a16:creationId xmlns:a16="http://schemas.microsoft.com/office/drawing/2014/main" id="{3B21C64F-8124-D38B-7380-1B391BFA44F5}"/>
              </a:ext>
            </a:extLst>
          </p:cNvPr>
          <p:cNvSpPr/>
          <p:nvPr/>
        </p:nvSpPr>
        <p:spPr>
          <a:xfrm>
            <a:off x="4572001" y="868680"/>
            <a:ext cx="4251960" cy="1961461"/>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a:extLst>
              <a:ext uri="{FF2B5EF4-FFF2-40B4-BE49-F238E27FC236}">
                <a16:creationId xmlns:a16="http://schemas.microsoft.com/office/drawing/2014/main" id="{EE58E48A-DFF4-4998-E463-1CBFB5FA7034}"/>
              </a:ext>
            </a:extLst>
          </p:cNvPr>
          <p:cNvSpPr/>
          <p:nvPr/>
        </p:nvSpPr>
        <p:spPr>
          <a:xfrm>
            <a:off x="4572000" y="868680"/>
            <a:ext cx="93346" cy="1961461"/>
          </a:xfrm>
          <a:prstGeom prst="rect">
            <a:avLst/>
          </a:prstGeom>
          <a:solidFill>
            <a:srgbClr val="38A169"/>
          </a:solidFill>
          <a:ln/>
        </p:spPr>
        <p:txBody>
          <a:bodyPr/>
          <a:lstStyle/>
          <a:p>
            <a:endParaRPr lang="zh-SG" altLang="en-US"/>
          </a:p>
        </p:txBody>
      </p:sp>
      <p:sp>
        <p:nvSpPr>
          <p:cNvPr id="10" name="Text 8">
            <a:extLst>
              <a:ext uri="{FF2B5EF4-FFF2-40B4-BE49-F238E27FC236}">
                <a16:creationId xmlns:a16="http://schemas.microsoft.com/office/drawing/2014/main" id="{91B633E5-98DC-80ED-99C5-6A424103F6CA}"/>
              </a:ext>
            </a:extLst>
          </p:cNvPr>
          <p:cNvSpPr/>
          <p:nvPr/>
        </p:nvSpPr>
        <p:spPr>
          <a:xfrm>
            <a:off x="4800601" y="960120"/>
            <a:ext cx="3474720" cy="320040"/>
          </a:xfrm>
          <a:prstGeom prst="rect">
            <a:avLst/>
          </a:prstGeom>
          <a:noFill/>
          <a:ln/>
        </p:spPr>
        <p:txBody>
          <a:bodyPr wrap="square" lIns="0" tIns="0" rIns="0" bIns="0" rtlCol="0" anchor="ctr"/>
          <a:lstStyle/>
          <a:p>
            <a:r>
              <a:rPr lang="en-US" altLang="zh-CN" sz="1500" b="1" dirty="0">
                <a:solidFill>
                  <a:srgbClr val="1E2761"/>
                </a:solidFill>
                <a:latin typeface="Georgia" pitchFamily="34" charset="0"/>
              </a:rPr>
              <a:t>KNN</a:t>
            </a:r>
            <a:r>
              <a:rPr lang="zh-CN" altLang="en-US" sz="1500" b="1" dirty="0">
                <a:solidFill>
                  <a:srgbClr val="1E2761"/>
                </a:solidFill>
                <a:latin typeface="Georgia" pitchFamily="34" charset="0"/>
              </a:rPr>
              <a:t> </a:t>
            </a:r>
            <a:r>
              <a:rPr lang="en-US" altLang="zh-SG" sz="1500" b="1" dirty="0">
                <a:solidFill>
                  <a:srgbClr val="1E2761"/>
                </a:solidFill>
                <a:latin typeface="Georgia" pitchFamily="34" charset="0"/>
              </a:rPr>
              <a:t>Search </a:t>
            </a:r>
            <a:r>
              <a:rPr lang="en-US" altLang="zh-CN" sz="1500" b="1" dirty="0">
                <a:solidFill>
                  <a:srgbClr val="1E2761"/>
                </a:solidFill>
                <a:latin typeface="Georgia" pitchFamily="34" charset="0"/>
              </a:rPr>
              <a:t>S</a:t>
            </a:r>
            <a:r>
              <a:rPr lang="en-US" altLang="zh-SG" sz="1500" b="1" dirty="0">
                <a:solidFill>
                  <a:srgbClr val="1E2761"/>
                </a:solidFill>
                <a:latin typeface="Georgia" pitchFamily="34" charset="0"/>
              </a:rPr>
              <a:t>pace</a:t>
            </a:r>
            <a:endParaRPr lang="en-US" sz="1500" b="1" dirty="0">
              <a:solidFill>
                <a:srgbClr val="1E2761"/>
              </a:solidFill>
              <a:latin typeface="Georgia" pitchFamily="34" charset="0"/>
            </a:endParaRPr>
          </a:p>
        </p:txBody>
      </p:sp>
      <p:sp>
        <p:nvSpPr>
          <p:cNvPr id="11" name="Text 9">
            <a:extLst>
              <a:ext uri="{FF2B5EF4-FFF2-40B4-BE49-F238E27FC236}">
                <a16:creationId xmlns:a16="http://schemas.microsoft.com/office/drawing/2014/main" id="{C77B1892-B92C-F5B2-B882-3C9846B81C87}"/>
              </a:ext>
            </a:extLst>
          </p:cNvPr>
          <p:cNvSpPr/>
          <p:nvPr/>
        </p:nvSpPr>
        <p:spPr>
          <a:xfrm>
            <a:off x="4846321" y="1325880"/>
            <a:ext cx="3383280" cy="1371600"/>
          </a:xfrm>
          <a:prstGeom prst="rect">
            <a:avLst/>
          </a:prstGeom>
          <a:noFill/>
          <a:ln/>
        </p:spPr>
        <p:txBody>
          <a:bodyPr wrap="square" rtlCol="0" anchor="ctr"/>
          <a:lstStyle/>
          <a:p>
            <a:pPr>
              <a:spcAft>
                <a:spcPts val="400"/>
              </a:spcAft>
              <a:buSzPct val="100000"/>
            </a:pPr>
            <a:r>
              <a:rPr lang="en-US" sz="1200" dirty="0"/>
              <a:t>KNN_PARAM_GRID = {</a:t>
            </a:r>
          </a:p>
          <a:p>
            <a:pPr>
              <a:spcAft>
                <a:spcPts val="400"/>
              </a:spcAft>
              <a:buSzPct val="100000"/>
            </a:pPr>
            <a:r>
              <a:rPr lang="en-US" sz="1200" dirty="0"/>
              <a:t>    '</a:t>
            </a:r>
            <a:r>
              <a:rPr lang="en-US" sz="1200" dirty="0" err="1"/>
              <a:t>pca</a:t>
            </a:r>
            <a:r>
              <a:rPr lang="en-US" sz="1200" dirty="0"/>
              <a:t>__</a:t>
            </a:r>
            <a:r>
              <a:rPr lang="en-US" sz="1200" dirty="0" err="1"/>
              <a:t>n_components</a:t>
            </a:r>
            <a:r>
              <a:rPr lang="en-US" sz="1200" dirty="0"/>
              <a:t>': [0.90, 0.95, 0.99],</a:t>
            </a:r>
          </a:p>
          <a:p>
            <a:pPr>
              <a:spcAft>
                <a:spcPts val="400"/>
              </a:spcAft>
              <a:buSzPct val="100000"/>
            </a:pPr>
            <a:r>
              <a:rPr lang="en-US" sz="1200" dirty="0"/>
              <a:t>    '</a:t>
            </a:r>
            <a:r>
              <a:rPr lang="en-US" sz="1200" dirty="0" err="1"/>
              <a:t>knn</a:t>
            </a:r>
            <a:r>
              <a:rPr lang="en-US" sz="1200" dirty="0"/>
              <a:t>__</a:t>
            </a:r>
            <a:r>
              <a:rPr lang="en-US" sz="1200" dirty="0" err="1"/>
              <a:t>n_neighbors</a:t>
            </a:r>
            <a:r>
              <a:rPr lang="en-US" sz="1200" dirty="0"/>
              <a:t>': [1, 3, 5, 7, 9],</a:t>
            </a:r>
          </a:p>
          <a:p>
            <a:pPr>
              <a:spcAft>
                <a:spcPts val="400"/>
              </a:spcAft>
              <a:buSzPct val="100000"/>
            </a:pPr>
            <a:r>
              <a:rPr lang="en-US" sz="1200" dirty="0"/>
              <a:t>    '</a:t>
            </a:r>
            <a:r>
              <a:rPr lang="en-US" sz="1200" dirty="0" err="1"/>
              <a:t>knn</a:t>
            </a:r>
            <a:r>
              <a:rPr lang="en-US" sz="1200" dirty="0"/>
              <a:t>__weights': ['uniform', 'distance'],</a:t>
            </a:r>
          </a:p>
          <a:p>
            <a:pPr>
              <a:spcAft>
                <a:spcPts val="400"/>
              </a:spcAft>
              <a:buSzPct val="100000"/>
            </a:pPr>
            <a:r>
              <a:rPr lang="en-US" sz="1200" dirty="0"/>
              <a:t>    '</a:t>
            </a:r>
            <a:r>
              <a:rPr lang="en-US" sz="1200" dirty="0" err="1"/>
              <a:t>knn</a:t>
            </a:r>
            <a:r>
              <a:rPr lang="en-US" sz="1200" dirty="0"/>
              <a:t>__metric': ['</a:t>
            </a:r>
            <a:r>
              <a:rPr lang="en-US" sz="1200" dirty="0" err="1"/>
              <a:t>euclidean</a:t>
            </a:r>
            <a:r>
              <a:rPr lang="en-US" sz="1200" dirty="0"/>
              <a:t>', '</a:t>
            </a:r>
            <a:r>
              <a:rPr lang="en-US" sz="1200" dirty="0" err="1"/>
              <a:t>manhattan</a:t>
            </a:r>
            <a:r>
              <a:rPr lang="en-US" sz="1200" dirty="0"/>
              <a:t>'],</a:t>
            </a:r>
          </a:p>
          <a:p>
            <a:pPr>
              <a:spcAft>
                <a:spcPts val="400"/>
              </a:spcAft>
              <a:buSzPct val="100000"/>
            </a:pPr>
            <a:r>
              <a:rPr lang="en-US" sz="1200" dirty="0"/>
              <a:t>}</a:t>
            </a:r>
          </a:p>
        </p:txBody>
      </p:sp>
      <p:sp>
        <p:nvSpPr>
          <p:cNvPr id="14" name="Text 12">
            <a:extLst>
              <a:ext uri="{FF2B5EF4-FFF2-40B4-BE49-F238E27FC236}">
                <a16:creationId xmlns:a16="http://schemas.microsoft.com/office/drawing/2014/main" id="{C53EC7A6-3402-4155-7CC8-CC4F2001469E}"/>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
        <p:nvSpPr>
          <p:cNvPr id="15" name="Shape 2">
            <a:extLst>
              <a:ext uri="{FF2B5EF4-FFF2-40B4-BE49-F238E27FC236}">
                <a16:creationId xmlns:a16="http://schemas.microsoft.com/office/drawing/2014/main" id="{3499D304-3A4E-D52E-AF96-9236CA88BD69}"/>
              </a:ext>
            </a:extLst>
          </p:cNvPr>
          <p:cNvSpPr/>
          <p:nvPr/>
        </p:nvSpPr>
        <p:spPr>
          <a:xfrm>
            <a:off x="184785" y="2921581"/>
            <a:ext cx="4251960" cy="1961461"/>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dirty="0"/>
          </a:p>
        </p:txBody>
      </p:sp>
      <p:sp>
        <p:nvSpPr>
          <p:cNvPr id="16" name="Shape 3">
            <a:extLst>
              <a:ext uri="{FF2B5EF4-FFF2-40B4-BE49-F238E27FC236}">
                <a16:creationId xmlns:a16="http://schemas.microsoft.com/office/drawing/2014/main" id="{13EDA2CD-0E92-4D1E-229F-55DDA8CF4A08}"/>
              </a:ext>
            </a:extLst>
          </p:cNvPr>
          <p:cNvSpPr/>
          <p:nvPr/>
        </p:nvSpPr>
        <p:spPr>
          <a:xfrm>
            <a:off x="184784" y="2921581"/>
            <a:ext cx="89536" cy="1961461"/>
          </a:xfrm>
          <a:prstGeom prst="rect">
            <a:avLst/>
          </a:prstGeom>
          <a:solidFill>
            <a:srgbClr val="3D7DCA"/>
          </a:solidFill>
          <a:ln/>
        </p:spPr>
        <p:txBody>
          <a:bodyPr/>
          <a:lstStyle/>
          <a:p>
            <a:endParaRPr lang="zh-SG" altLang="en-US"/>
          </a:p>
        </p:txBody>
      </p:sp>
      <p:sp>
        <p:nvSpPr>
          <p:cNvPr id="17" name="Text 4">
            <a:extLst>
              <a:ext uri="{FF2B5EF4-FFF2-40B4-BE49-F238E27FC236}">
                <a16:creationId xmlns:a16="http://schemas.microsoft.com/office/drawing/2014/main" id="{C4BD2FE4-E975-A927-97DD-B936BB92E37F}"/>
              </a:ext>
            </a:extLst>
          </p:cNvPr>
          <p:cNvSpPr/>
          <p:nvPr/>
        </p:nvSpPr>
        <p:spPr>
          <a:xfrm>
            <a:off x="346710" y="3013021"/>
            <a:ext cx="3611880" cy="320040"/>
          </a:xfrm>
          <a:prstGeom prst="rect">
            <a:avLst/>
          </a:prstGeom>
          <a:noFill/>
          <a:ln/>
        </p:spPr>
        <p:txBody>
          <a:bodyPr wrap="square" lIns="0" tIns="0" rIns="0" bIns="0" rtlCol="0" anchor="ctr"/>
          <a:lstStyle/>
          <a:p>
            <a:r>
              <a:rPr lang="en-US" altLang="zh-CN" sz="1500" b="1" dirty="0">
                <a:solidFill>
                  <a:srgbClr val="1E2761"/>
                </a:solidFill>
                <a:latin typeface="Georgia" pitchFamily="34" charset="0"/>
                <a:ea typeface="Georgia" pitchFamily="34" charset="-122"/>
                <a:cs typeface="Georgia" pitchFamily="34" charset="-120"/>
              </a:rPr>
              <a:t>LR</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Python</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Pipeline</a:t>
            </a:r>
            <a:endParaRPr lang="en-US" sz="1500" dirty="0"/>
          </a:p>
        </p:txBody>
      </p:sp>
      <p:sp>
        <p:nvSpPr>
          <p:cNvPr id="18" name="Text 5">
            <a:extLst>
              <a:ext uri="{FF2B5EF4-FFF2-40B4-BE49-F238E27FC236}">
                <a16:creationId xmlns:a16="http://schemas.microsoft.com/office/drawing/2014/main" id="{3E7E5CF2-ACCB-59D0-CF47-85826A3B39FC}"/>
              </a:ext>
            </a:extLst>
          </p:cNvPr>
          <p:cNvSpPr/>
          <p:nvPr/>
        </p:nvSpPr>
        <p:spPr>
          <a:xfrm>
            <a:off x="459105" y="3407355"/>
            <a:ext cx="3931919" cy="1371601"/>
          </a:xfrm>
          <a:prstGeom prst="rect">
            <a:avLst/>
          </a:prstGeom>
          <a:noFill/>
          <a:ln/>
        </p:spPr>
        <p:txBody>
          <a:bodyPr wrap="square" rtlCol="0" anchor="ctr"/>
          <a:lstStyle/>
          <a:p>
            <a:pPr>
              <a:spcAft>
                <a:spcPts val="400"/>
              </a:spcAft>
              <a:buSzPct val="100000"/>
            </a:pPr>
            <a:r>
              <a:rPr lang="en-US" sz="1200" b="1" dirty="0">
                <a:solidFill>
                  <a:srgbClr val="4A5568"/>
                </a:solidFill>
                <a:latin typeface="Calibri" pitchFamily="34" charset="0"/>
                <a:cs typeface="Calibri" pitchFamily="34" charset="-120"/>
              </a:rPr>
              <a:t>Pipeline(</a:t>
            </a:r>
          </a:p>
          <a:p>
            <a:pPr>
              <a:spcAft>
                <a:spcPts val="400"/>
              </a:spcAft>
              <a:buSzPct val="100000"/>
            </a:pPr>
            <a:r>
              <a:rPr lang="en-US" sz="1200" b="1" dirty="0">
                <a:solidFill>
                  <a:srgbClr val="4A5568"/>
                </a:solidFill>
                <a:latin typeface="Calibri" pitchFamily="34" charset="0"/>
                <a:cs typeface="Calibri" pitchFamily="34" charset="-120"/>
              </a:rPr>
              <a:t>    steps=[</a:t>
            </a:r>
          </a:p>
          <a:p>
            <a:pPr>
              <a:spcAft>
                <a:spcPts val="400"/>
              </a:spcAft>
              <a:buSzPct val="100000"/>
            </a:pP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pca</a:t>
            </a:r>
            <a:r>
              <a:rPr lang="en-US" sz="1200" b="1" dirty="0">
                <a:solidFill>
                  <a:srgbClr val="4A5568"/>
                </a:solidFill>
                <a:latin typeface="Calibri" pitchFamily="34" charset="0"/>
                <a:cs typeface="Calibri" pitchFamily="34" charset="-120"/>
              </a:rPr>
              <a:t>', PCA(</a:t>
            </a:r>
            <a:r>
              <a:rPr lang="en-US" sz="1200" b="1" dirty="0" err="1">
                <a:solidFill>
                  <a:srgbClr val="4A5568"/>
                </a:solidFill>
                <a:latin typeface="Calibri" pitchFamily="34" charset="0"/>
                <a:cs typeface="Calibri" pitchFamily="34" charset="-120"/>
              </a:rPr>
              <a:t>svd_solver</a:t>
            </a:r>
            <a:r>
              <a:rPr lang="en-US" sz="1200" b="1" dirty="0">
                <a:solidFill>
                  <a:srgbClr val="4A5568"/>
                </a:solidFill>
                <a:latin typeface="Calibri" pitchFamily="34" charset="0"/>
                <a:cs typeface="Calibri" pitchFamily="34" charset="-120"/>
              </a:rPr>
              <a:t>='full', </a:t>
            </a:r>
            <a:r>
              <a:rPr lang="en-US" sz="1200" b="1" dirty="0" err="1">
                <a:solidFill>
                  <a:srgbClr val="4A5568"/>
                </a:solidFill>
                <a:latin typeface="Calibri" pitchFamily="34" charset="0"/>
                <a:cs typeface="Calibri" pitchFamily="34" charset="-120"/>
              </a:rPr>
              <a:t>random_state</a:t>
            </a:r>
            <a:r>
              <a:rPr lang="en-US" sz="1200" b="1" dirty="0">
                <a:solidFill>
                  <a:srgbClr val="4A5568"/>
                </a:solidFill>
                <a:latin typeface="Calibri" pitchFamily="34" charset="0"/>
                <a:cs typeface="Calibri" pitchFamily="34" charset="-120"/>
              </a:rPr>
              <a:t>=SEED)),</a:t>
            </a:r>
          </a:p>
          <a:p>
            <a:pPr>
              <a:spcAft>
                <a:spcPts val="400"/>
              </a:spcAft>
              <a:buSzPct val="100000"/>
            </a:pP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lr</a:t>
            </a: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LogisticRegression</a:t>
            </a:r>
            <a:r>
              <a:rPr lang="en-US" sz="1200" b="1" dirty="0">
                <a:solidFill>
                  <a:srgbClr val="4A5568"/>
                </a:solidFill>
                <a:latin typeface="Calibri" pitchFamily="34" charset="0"/>
                <a:cs typeface="Calibri" pitchFamily="34" charset="-120"/>
              </a:rPr>
              <a:t>(</a:t>
            </a:r>
            <a:r>
              <a:rPr lang="en-US" sz="1200" b="1" dirty="0" err="1">
                <a:solidFill>
                  <a:srgbClr val="4A5568"/>
                </a:solidFill>
                <a:latin typeface="Calibri" pitchFamily="34" charset="0"/>
                <a:cs typeface="Calibri" pitchFamily="34" charset="-120"/>
              </a:rPr>
              <a:t>max_iter</a:t>
            </a:r>
            <a:r>
              <a:rPr lang="en-US" sz="1200" b="1" dirty="0">
                <a:solidFill>
                  <a:srgbClr val="4A5568"/>
                </a:solidFill>
                <a:latin typeface="Calibri" pitchFamily="34" charset="0"/>
                <a:cs typeface="Calibri" pitchFamily="34" charset="-120"/>
              </a:rPr>
              <a:t>=</a:t>
            </a:r>
            <a:r>
              <a:rPr lang="en-US" altLang="zh-CN" sz="1200" b="1" dirty="0">
                <a:solidFill>
                  <a:srgbClr val="4A5568"/>
                </a:solidFill>
                <a:latin typeface="Calibri" pitchFamily="34" charset="0"/>
                <a:cs typeface="Calibri" pitchFamily="34" charset="-120"/>
              </a:rPr>
              <a:t>3</a:t>
            </a:r>
            <a:r>
              <a:rPr lang="en-US" sz="1200" b="1" dirty="0">
                <a:solidFill>
                  <a:srgbClr val="4A5568"/>
                </a:solidFill>
                <a:latin typeface="Calibri" pitchFamily="34" charset="0"/>
                <a:cs typeface="Calibri" pitchFamily="34" charset="-120"/>
              </a:rPr>
              <a:t>000, </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random_state</a:t>
            </a:r>
            <a:r>
              <a:rPr lang="en-US" sz="1200" b="1" dirty="0">
                <a:solidFill>
                  <a:srgbClr val="4A5568"/>
                </a:solidFill>
                <a:latin typeface="Calibri" pitchFamily="34" charset="0"/>
                <a:cs typeface="Calibri" pitchFamily="34" charset="-120"/>
              </a:rPr>
              <a:t>=SEED)),],</a:t>
            </a:r>
          </a:p>
          <a:p>
            <a:pPr>
              <a:spcAft>
                <a:spcPts val="400"/>
              </a:spcAft>
              <a:buSzPct val="100000"/>
            </a:pPr>
            <a:r>
              <a:rPr lang="en-US" sz="1200" b="1" dirty="0">
                <a:solidFill>
                  <a:srgbClr val="4A5568"/>
                </a:solidFill>
                <a:latin typeface="Calibri" pitchFamily="34" charset="0"/>
                <a:cs typeface="Calibri" pitchFamily="34" charset="-120"/>
              </a:rPr>
              <a:t>    memory=</a:t>
            </a:r>
            <a:r>
              <a:rPr lang="en-US" sz="1200" b="1" dirty="0" err="1">
                <a:solidFill>
                  <a:srgbClr val="4A5568"/>
                </a:solidFill>
                <a:latin typeface="Calibri" pitchFamily="34" charset="0"/>
                <a:cs typeface="Calibri" pitchFamily="34" charset="-120"/>
              </a:rPr>
              <a:t>pipeline_memory</a:t>
            </a:r>
            <a:r>
              <a:rPr lang="en-US" sz="1200" b="1" dirty="0">
                <a:solidFill>
                  <a:srgbClr val="4A5568"/>
                </a:solidFill>
                <a:latin typeface="Calibri" pitchFamily="34" charset="0"/>
                <a:cs typeface="Calibri" pitchFamily="34" charset="-120"/>
              </a:rPr>
              <a:t>,</a:t>
            </a:r>
          </a:p>
          <a:p>
            <a:pPr>
              <a:spcAft>
                <a:spcPts val="400"/>
              </a:spcAft>
              <a:buSzPct val="100000"/>
            </a:pPr>
            <a:r>
              <a:rPr lang="en-US" sz="1200" b="1" dirty="0">
                <a:solidFill>
                  <a:srgbClr val="4A5568"/>
                </a:solidFill>
                <a:latin typeface="Calibri" pitchFamily="34" charset="0"/>
                <a:cs typeface="Calibri" pitchFamily="34" charset="-120"/>
              </a:rPr>
              <a:t>)</a:t>
            </a:r>
          </a:p>
        </p:txBody>
      </p:sp>
      <p:sp>
        <p:nvSpPr>
          <p:cNvPr id="19" name="Shape 6">
            <a:extLst>
              <a:ext uri="{FF2B5EF4-FFF2-40B4-BE49-F238E27FC236}">
                <a16:creationId xmlns:a16="http://schemas.microsoft.com/office/drawing/2014/main" id="{760F42B6-1E49-984C-8DF1-43E60B6112D3}"/>
              </a:ext>
            </a:extLst>
          </p:cNvPr>
          <p:cNvSpPr/>
          <p:nvPr/>
        </p:nvSpPr>
        <p:spPr>
          <a:xfrm>
            <a:off x="4572000" y="2921581"/>
            <a:ext cx="4251960" cy="1961461"/>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20" name="Shape 7">
            <a:extLst>
              <a:ext uri="{FF2B5EF4-FFF2-40B4-BE49-F238E27FC236}">
                <a16:creationId xmlns:a16="http://schemas.microsoft.com/office/drawing/2014/main" id="{58A482B8-F912-41CD-2CB3-BC2A5559781C}"/>
              </a:ext>
            </a:extLst>
          </p:cNvPr>
          <p:cNvSpPr/>
          <p:nvPr/>
        </p:nvSpPr>
        <p:spPr>
          <a:xfrm>
            <a:off x="4571999" y="2921581"/>
            <a:ext cx="93346" cy="1961461"/>
          </a:xfrm>
          <a:prstGeom prst="rect">
            <a:avLst/>
          </a:prstGeom>
          <a:solidFill>
            <a:srgbClr val="38A169"/>
          </a:solidFill>
          <a:ln/>
        </p:spPr>
        <p:txBody>
          <a:bodyPr/>
          <a:lstStyle/>
          <a:p>
            <a:endParaRPr lang="zh-SG" altLang="en-US"/>
          </a:p>
        </p:txBody>
      </p:sp>
      <p:sp>
        <p:nvSpPr>
          <p:cNvPr id="21" name="Text 8">
            <a:extLst>
              <a:ext uri="{FF2B5EF4-FFF2-40B4-BE49-F238E27FC236}">
                <a16:creationId xmlns:a16="http://schemas.microsoft.com/office/drawing/2014/main" id="{90C1AFBA-BB8B-1C18-9D20-DA9781890059}"/>
              </a:ext>
            </a:extLst>
          </p:cNvPr>
          <p:cNvSpPr/>
          <p:nvPr/>
        </p:nvSpPr>
        <p:spPr>
          <a:xfrm>
            <a:off x="4800600" y="3013021"/>
            <a:ext cx="3474720" cy="320040"/>
          </a:xfrm>
          <a:prstGeom prst="rect">
            <a:avLst/>
          </a:prstGeom>
          <a:noFill/>
          <a:ln/>
        </p:spPr>
        <p:txBody>
          <a:bodyPr wrap="square" lIns="0" tIns="0" rIns="0" bIns="0" rtlCol="0" anchor="ctr"/>
          <a:lstStyle/>
          <a:p>
            <a:r>
              <a:rPr lang="en-US" altLang="zh-CN" sz="1500" b="1" dirty="0">
                <a:solidFill>
                  <a:srgbClr val="1E2761"/>
                </a:solidFill>
                <a:latin typeface="Georgia" pitchFamily="34" charset="0"/>
              </a:rPr>
              <a:t>LR</a:t>
            </a:r>
            <a:r>
              <a:rPr lang="zh-CN" altLang="en-US" sz="1500" b="1" dirty="0">
                <a:solidFill>
                  <a:srgbClr val="1E2761"/>
                </a:solidFill>
                <a:latin typeface="Georgia" pitchFamily="34" charset="0"/>
              </a:rPr>
              <a:t> </a:t>
            </a:r>
            <a:r>
              <a:rPr lang="en-US" altLang="zh-SG" sz="1500" b="1" dirty="0">
                <a:solidFill>
                  <a:srgbClr val="1E2761"/>
                </a:solidFill>
                <a:latin typeface="Georgia" pitchFamily="34" charset="0"/>
              </a:rPr>
              <a:t>Search </a:t>
            </a:r>
            <a:r>
              <a:rPr lang="en-US" altLang="zh-CN" sz="1500" b="1" dirty="0">
                <a:solidFill>
                  <a:srgbClr val="1E2761"/>
                </a:solidFill>
                <a:latin typeface="Georgia" pitchFamily="34" charset="0"/>
              </a:rPr>
              <a:t>S</a:t>
            </a:r>
            <a:r>
              <a:rPr lang="en-US" altLang="zh-SG" sz="1500" b="1" dirty="0">
                <a:solidFill>
                  <a:srgbClr val="1E2761"/>
                </a:solidFill>
                <a:latin typeface="Georgia" pitchFamily="34" charset="0"/>
              </a:rPr>
              <a:t>pace</a:t>
            </a:r>
            <a:endParaRPr lang="en-US" sz="1500" b="1" dirty="0">
              <a:solidFill>
                <a:srgbClr val="1E2761"/>
              </a:solidFill>
              <a:latin typeface="Georgia" pitchFamily="34" charset="0"/>
            </a:endParaRPr>
          </a:p>
        </p:txBody>
      </p:sp>
      <p:sp>
        <p:nvSpPr>
          <p:cNvPr id="22" name="Text 9">
            <a:extLst>
              <a:ext uri="{FF2B5EF4-FFF2-40B4-BE49-F238E27FC236}">
                <a16:creationId xmlns:a16="http://schemas.microsoft.com/office/drawing/2014/main" id="{AB5BA915-7F94-FBA4-ECDA-1966D1D0220C}"/>
              </a:ext>
            </a:extLst>
          </p:cNvPr>
          <p:cNvSpPr/>
          <p:nvPr/>
        </p:nvSpPr>
        <p:spPr>
          <a:xfrm>
            <a:off x="4846320" y="3378781"/>
            <a:ext cx="3383280" cy="1371600"/>
          </a:xfrm>
          <a:prstGeom prst="rect">
            <a:avLst/>
          </a:prstGeom>
          <a:noFill/>
          <a:ln/>
        </p:spPr>
        <p:txBody>
          <a:bodyPr wrap="square" rtlCol="0" anchor="ctr"/>
          <a:lstStyle/>
          <a:p>
            <a:pPr>
              <a:spcAft>
                <a:spcPts val="400"/>
              </a:spcAft>
              <a:buSzPct val="100000"/>
            </a:pPr>
            <a:r>
              <a:rPr lang="en-US" sz="1200" dirty="0"/>
              <a:t>LR_PARAM_GRID = {</a:t>
            </a:r>
          </a:p>
          <a:p>
            <a:pPr>
              <a:spcAft>
                <a:spcPts val="400"/>
              </a:spcAft>
              <a:buSzPct val="100000"/>
            </a:pPr>
            <a:r>
              <a:rPr lang="en-US" sz="1200" dirty="0"/>
              <a:t>    '</a:t>
            </a:r>
            <a:r>
              <a:rPr lang="en-US" sz="1200" dirty="0" err="1"/>
              <a:t>pca</a:t>
            </a:r>
            <a:r>
              <a:rPr lang="en-US" sz="1200" dirty="0"/>
              <a:t>__</a:t>
            </a:r>
            <a:r>
              <a:rPr lang="en-US" sz="1200" dirty="0" err="1"/>
              <a:t>n_components</a:t>
            </a:r>
            <a:r>
              <a:rPr lang="en-US" sz="1200" dirty="0"/>
              <a:t>': [0.90, 0.95, 0.99],</a:t>
            </a:r>
          </a:p>
          <a:p>
            <a:pPr>
              <a:spcAft>
                <a:spcPts val="400"/>
              </a:spcAft>
              <a:buSzPct val="100000"/>
            </a:pPr>
            <a:r>
              <a:rPr lang="en-US" sz="1200" dirty="0"/>
              <a:t>    '</a:t>
            </a:r>
            <a:r>
              <a:rPr lang="en-US" sz="1200" dirty="0" err="1"/>
              <a:t>lr</a:t>
            </a:r>
            <a:r>
              <a:rPr lang="en-US" sz="1200" dirty="0"/>
              <a:t>__C': [0.01, 0.1, 1.0, 10.0],</a:t>
            </a:r>
          </a:p>
          <a:p>
            <a:pPr>
              <a:spcAft>
                <a:spcPts val="400"/>
              </a:spcAft>
              <a:buSzPct val="100000"/>
            </a:pPr>
            <a:r>
              <a:rPr lang="en-US" sz="1200" dirty="0"/>
              <a:t>    '</a:t>
            </a:r>
            <a:r>
              <a:rPr lang="en-US" sz="1200" dirty="0" err="1"/>
              <a:t>lr</a:t>
            </a:r>
            <a:r>
              <a:rPr lang="en-US" sz="1200" dirty="0"/>
              <a:t>__solver': ['</a:t>
            </a:r>
            <a:r>
              <a:rPr lang="en-US" sz="1200" dirty="0" err="1"/>
              <a:t>lbfgs</a:t>
            </a:r>
            <a:r>
              <a:rPr lang="en-US" sz="1200" dirty="0"/>
              <a:t>', 'saga'],</a:t>
            </a:r>
          </a:p>
          <a:p>
            <a:pPr>
              <a:spcAft>
                <a:spcPts val="400"/>
              </a:spcAft>
              <a:buSzPct val="100000"/>
            </a:pPr>
            <a:r>
              <a:rPr lang="en-US" sz="1200" dirty="0"/>
              <a:t>    '</a:t>
            </a:r>
            <a:r>
              <a:rPr lang="en-US" sz="1200" dirty="0" err="1"/>
              <a:t>lr</a:t>
            </a:r>
            <a:r>
              <a:rPr lang="en-US" sz="1200" dirty="0"/>
              <a:t>__penalty': ['l2'],</a:t>
            </a:r>
          </a:p>
          <a:p>
            <a:pPr>
              <a:spcAft>
                <a:spcPts val="400"/>
              </a:spcAft>
              <a:buSzPct val="100000"/>
            </a:pPr>
            <a:r>
              <a:rPr lang="en-US" sz="1200" dirty="0"/>
              <a:t>}</a:t>
            </a:r>
          </a:p>
        </p:txBody>
      </p:sp>
    </p:spTree>
    <p:extLst>
      <p:ext uri="{BB962C8B-B14F-4D97-AF65-F5344CB8AC3E}">
        <p14:creationId xmlns:p14="http://schemas.microsoft.com/office/powerpoint/2010/main" val="204214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b="1" dirty="0">
                <a:solidFill>
                  <a:srgbClr val="E8B931"/>
                </a:solidFill>
                <a:latin typeface="Georgia" pitchFamily="34" charset="0"/>
                <a:ea typeface="Georgia" pitchFamily="34" charset="-122"/>
                <a:cs typeface="Georgia" pitchFamily="34" charset="-120"/>
              </a:rPr>
              <a:t>2</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Dimensionality Reduction</a:t>
            </a:r>
            <a:endParaRPr lang="en-US" sz="3600" dirty="0"/>
          </a:p>
        </p:txBody>
      </p:sp>
    </p:spTree>
    <p:extLst>
      <p:ext uri="{BB962C8B-B14F-4D97-AF65-F5344CB8AC3E}">
        <p14:creationId xmlns:p14="http://schemas.microsoft.com/office/powerpoint/2010/main" val="4163385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3EDCB-7E05-FF82-BB57-1B9EAAFB37A3}"/>
            </a:ext>
          </a:extLst>
        </p:cNvPr>
        <p:cNvGrpSpPr/>
        <p:nvPr/>
      </p:nvGrpSpPr>
      <p:grpSpPr>
        <a:xfrm>
          <a:off x="0" y="0"/>
          <a:ext cx="0" cy="0"/>
          <a:chOff x="0" y="0"/>
          <a:chExt cx="0" cy="0"/>
        </a:xfrm>
      </p:grpSpPr>
      <p:sp>
        <p:nvSpPr>
          <p:cNvPr id="14" name="Text 12">
            <a:extLst>
              <a:ext uri="{FF2B5EF4-FFF2-40B4-BE49-F238E27FC236}">
                <a16:creationId xmlns:a16="http://schemas.microsoft.com/office/drawing/2014/main" id="{DBAF0010-4175-D9D1-3DA5-190B3C89544F}"/>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18" name="图片 17">
            <a:extLst>
              <a:ext uri="{FF2B5EF4-FFF2-40B4-BE49-F238E27FC236}">
                <a16:creationId xmlns:a16="http://schemas.microsoft.com/office/drawing/2014/main" id="{605F5379-B0B1-3B2F-32A8-6EC5BD31EBCB}"/>
              </a:ext>
            </a:extLst>
          </p:cNvPr>
          <p:cNvPicPr>
            <a:picLocks noChangeAspect="1"/>
          </p:cNvPicPr>
          <p:nvPr/>
        </p:nvPicPr>
        <p:blipFill>
          <a:blip r:embed="rId3"/>
          <a:srcRect r="50656"/>
          <a:stretch>
            <a:fillRect/>
          </a:stretch>
        </p:blipFill>
        <p:spPr>
          <a:xfrm>
            <a:off x="472332" y="2294356"/>
            <a:ext cx="3057252" cy="2729627"/>
          </a:xfrm>
          <a:prstGeom prst="rect">
            <a:avLst/>
          </a:prstGeom>
        </p:spPr>
      </p:pic>
      <p:pic>
        <p:nvPicPr>
          <p:cNvPr id="5" name="图片 17">
            <a:extLst>
              <a:ext uri="{FF2B5EF4-FFF2-40B4-BE49-F238E27FC236}">
                <a16:creationId xmlns:a16="http://schemas.microsoft.com/office/drawing/2014/main" id="{D9426576-AA06-952E-C7B0-9DBFDCF1AA0F}"/>
              </a:ext>
            </a:extLst>
          </p:cNvPr>
          <p:cNvPicPr>
            <a:picLocks noChangeAspect="1"/>
          </p:cNvPicPr>
          <p:nvPr/>
        </p:nvPicPr>
        <p:blipFill>
          <a:blip r:embed="rId3"/>
          <a:srcRect l="49344"/>
          <a:stretch>
            <a:fillRect/>
          </a:stretch>
        </p:blipFill>
        <p:spPr>
          <a:xfrm>
            <a:off x="4636701" y="2288738"/>
            <a:ext cx="3129555" cy="2721788"/>
          </a:xfrm>
          <a:prstGeom prst="rect">
            <a:avLst/>
          </a:prstGeom>
        </p:spPr>
      </p:pic>
      <p:sp>
        <p:nvSpPr>
          <p:cNvPr id="2" name="Text 0">
            <a:extLst>
              <a:ext uri="{FF2B5EF4-FFF2-40B4-BE49-F238E27FC236}">
                <a16:creationId xmlns:a16="http://schemas.microsoft.com/office/drawing/2014/main" id="{30A165A1-0E70-4A09-AAEB-809C294F0A2D}"/>
              </a:ext>
            </a:extLst>
          </p:cNvPr>
          <p:cNvSpPr/>
          <p:nvPr/>
        </p:nvSpPr>
        <p:spPr>
          <a:xfrm>
            <a:off x="383281" y="179009"/>
            <a:ext cx="8029199" cy="548640"/>
          </a:xfrm>
          <a:prstGeom prst="rect">
            <a:avLst/>
          </a:prstGeom>
          <a:noFill/>
          <a:ln/>
        </p:spPr>
        <p:txBody>
          <a:bodyPr wrap="square" lIns="0" tIns="0" rIns="0" bIns="0" rtlCol="0" anchor="ctr"/>
          <a:lstStyle/>
          <a:p>
            <a:pPr marL="0" indent="0">
              <a:buNone/>
            </a:pPr>
            <a:r>
              <a:rPr lang="en-US" sz="2000" b="1" dirty="0">
                <a:solidFill>
                  <a:srgbClr val="1E2761"/>
                </a:solidFill>
                <a:latin typeface="Georgia" pitchFamily="34" charset="0"/>
                <a:ea typeface="Georgia" pitchFamily="34" charset="-122"/>
                <a:cs typeface="Georgia" pitchFamily="34" charset="-120"/>
              </a:rPr>
              <a:t>PCA &amp; t-SNE Visualization</a:t>
            </a:r>
          </a:p>
          <a:p>
            <a:pPr marL="0" indent="0">
              <a:buNone/>
            </a:pPr>
            <a:r>
              <a:rPr lang="en-US" sz="1600" dirty="0">
                <a:solidFill>
                  <a:srgbClr val="1E2761"/>
                </a:solidFill>
                <a:latin typeface="Georgia" pitchFamily="34" charset="0"/>
                <a:ea typeface="Georgia" pitchFamily="34" charset="-122"/>
                <a:cs typeface="Georgia" pitchFamily="34" charset="-120"/>
              </a:rPr>
              <a:t>MNIST</a:t>
            </a:r>
            <a:r>
              <a:rPr lang="zh-CN" altLang="en-US" sz="1600" dirty="0">
                <a:solidFill>
                  <a:srgbClr val="1E2761"/>
                </a:solidFill>
                <a:latin typeface="Georgia" pitchFamily="34" charset="0"/>
                <a:ea typeface="Georgia" pitchFamily="34" charset="-122"/>
                <a:cs typeface="Georgia" pitchFamily="34" charset="-120"/>
              </a:rPr>
              <a:t> </a:t>
            </a:r>
            <a:r>
              <a:rPr lang="en-US" altLang="zh-CN" sz="1600" dirty="0">
                <a:solidFill>
                  <a:srgbClr val="1E2761"/>
                </a:solidFill>
                <a:latin typeface="Georgia" pitchFamily="34" charset="0"/>
                <a:ea typeface="Georgia" pitchFamily="34" charset="-122"/>
                <a:cs typeface="Georgia" pitchFamily="34" charset="-120"/>
              </a:rPr>
              <a:t>is</a:t>
            </a:r>
            <a:r>
              <a:rPr lang="zh-CN" altLang="en-US" sz="1600" dirty="0">
                <a:solidFill>
                  <a:srgbClr val="1E2761"/>
                </a:solidFill>
                <a:latin typeface="Georgia" pitchFamily="34" charset="0"/>
                <a:ea typeface="Georgia" pitchFamily="34" charset="-122"/>
                <a:cs typeface="Georgia" pitchFamily="34" charset="-120"/>
              </a:rPr>
              <a:t> </a:t>
            </a:r>
            <a:r>
              <a:rPr lang="en-US" altLang="zh-CN" sz="1600" dirty="0">
                <a:solidFill>
                  <a:srgbClr val="1E2761"/>
                </a:solidFill>
                <a:latin typeface="Georgia" pitchFamily="34" charset="0"/>
                <a:ea typeface="Georgia" pitchFamily="34" charset="-122"/>
                <a:cs typeface="Georgia" pitchFamily="34" charset="-120"/>
              </a:rPr>
              <a:t>a</a:t>
            </a:r>
            <a:r>
              <a:rPr lang="zh-CN" altLang="en-US" sz="1600" dirty="0">
                <a:solidFill>
                  <a:srgbClr val="1E2761"/>
                </a:solidFill>
                <a:latin typeface="Georgia" pitchFamily="34" charset="0"/>
                <a:ea typeface="Georgia" pitchFamily="34" charset="-122"/>
                <a:cs typeface="Georgia" pitchFamily="34" charset="-120"/>
              </a:rPr>
              <a:t> </a:t>
            </a:r>
            <a:r>
              <a:rPr lang="en-US" altLang="zh-CN" sz="1600" dirty="0">
                <a:solidFill>
                  <a:srgbClr val="1E2761"/>
                </a:solidFill>
                <a:latin typeface="Georgia" pitchFamily="34" charset="0"/>
                <a:ea typeface="Georgia" pitchFamily="34" charset="-122"/>
                <a:cs typeface="Georgia" pitchFamily="34" charset="-120"/>
              </a:rPr>
              <a:t>dense</a:t>
            </a:r>
            <a:r>
              <a:rPr lang="zh-CN" altLang="en-US" sz="1600" dirty="0">
                <a:solidFill>
                  <a:srgbClr val="1E2761"/>
                </a:solidFill>
                <a:latin typeface="Georgia" pitchFamily="34" charset="0"/>
                <a:ea typeface="Georgia" pitchFamily="34" charset="-122"/>
                <a:cs typeface="Georgia" pitchFamily="34" charset="-120"/>
              </a:rPr>
              <a:t> </a:t>
            </a:r>
            <a:r>
              <a:rPr lang="en-US" altLang="zh-CN" sz="1600" dirty="0">
                <a:solidFill>
                  <a:srgbClr val="1E2761"/>
                </a:solidFill>
                <a:latin typeface="Georgia" pitchFamily="34" charset="0"/>
                <a:ea typeface="Georgia" pitchFamily="34" charset="-122"/>
                <a:cs typeface="Georgia" pitchFamily="34" charset="-120"/>
              </a:rPr>
              <a:t>dataset;</a:t>
            </a:r>
            <a:r>
              <a:rPr lang="zh-CN" altLang="en-US" sz="1600" dirty="0">
                <a:solidFill>
                  <a:srgbClr val="1E2761"/>
                </a:solidFill>
                <a:latin typeface="Georgia" pitchFamily="34" charset="0"/>
                <a:ea typeface="Georgia" pitchFamily="34" charset="-122"/>
                <a:cs typeface="Georgia" pitchFamily="34" charset="-120"/>
              </a:rPr>
              <a:t> </a:t>
            </a:r>
            <a:r>
              <a:rPr lang="en-US" sz="1600" dirty="0">
                <a:solidFill>
                  <a:srgbClr val="1E2761"/>
                </a:solidFill>
                <a:latin typeface="Georgia" pitchFamily="34" charset="0"/>
                <a:ea typeface="Georgia" pitchFamily="34" charset="-122"/>
                <a:cs typeface="Georgia" pitchFamily="34" charset="-120"/>
              </a:rPr>
              <a:t>t-SNE is visually superior, showing highly distinct clusters</a:t>
            </a:r>
          </a:p>
        </p:txBody>
      </p:sp>
      <p:sp>
        <p:nvSpPr>
          <p:cNvPr id="3" name="Shape 1">
            <a:extLst>
              <a:ext uri="{FF2B5EF4-FFF2-40B4-BE49-F238E27FC236}">
                <a16:creationId xmlns:a16="http://schemas.microsoft.com/office/drawing/2014/main" id="{4B723B6B-965E-3557-8C40-6C108553D7C0}"/>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Text 5">
            <a:extLst>
              <a:ext uri="{FF2B5EF4-FFF2-40B4-BE49-F238E27FC236}">
                <a16:creationId xmlns:a16="http://schemas.microsoft.com/office/drawing/2014/main" id="{3A4FDDAB-AA61-7D42-3873-EC99FD82997E}"/>
              </a:ext>
            </a:extLst>
          </p:cNvPr>
          <p:cNvSpPr/>
          <p:nvPr/>
        </p:nvSpPr>
        <p:spPr>
          <a:xfrm>
            <a:off x="334549" y="957067"/>
            <a:ext cx="4073188" cy="1281255"/>
          </a:xfrm>
          <a:prstGeom prst="rect">
            <a:avLst/>
          </a:prstGeom>
          <a:noFill/>
          <a:ln/>
        </p:spPr>
        <p:txBody>
          <a:bodyPr wrap="square" lIns="18000" tIns="18000" rIns="18000" bIns="18000" rtlCol="0" anchor="ctr"/>
          <a:lstStyle/>
          <a:p>
            <a:pPr marL="0" indent="0">
              <a:spcAft>
                <a:spcPts val="400"/>
              </a:spcAft>
              <a:buNone/>
            </a:pPr>
            <a:r>
              <a:rPr lang="en-US" sz="1200" b="1" u="sng" dirty="0"/>
              <a:t>PCA: </a:t>
            </a:r>
          </a:p>
          <a:p>
            <a:pPr marL="171450" indent="-171450">
              <a:spcAft>
                <a:spcPts val="400"/>
              </a:spcAft>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Prioritizes global structure, results in heavy overlap among classes</a:t>
            </a:r>
          </a:p>
          <a:p>
            <a:pPr marL="171450" indent="-171450">
              <a:spcAft>
                <a:spcPts val="400"/>
              </a:spcAft>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Linear projection compresses too much information into 2 axes</a:t>
            </a:r>
            <a:endParaRPr lang="en-US" sz="1200" dirty="0"/>
          </a:p>
          <a:p>
            <a:pPr marL="171450" indent="-171450">
              <a:spcAft>
                <a:spcPts val="400"/>
              </a:spcAft>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Only digit 1 has the clearest directional separation</a:t>
            </a:r>
            <a:endParaRPr lang="en-US" sz="1200" dirty="0"/>
          </a:p>
        </p:txBody>
      </p:sp>
      <p:sp>
        <p:nvSpPr>
          <p:cNvPr id="6" name="Text 5">
            <a:extLst>
              <a:ext uri="{FF2B5EF4-FFF2-40B4-BE49-F238E27FC236}">
                <a16:creationId xmlns:a16="http://schemas.microsoft.com/office/drawing/2014/main" id="{684EA7AD-F7CA-ABD1-7733-B138886FEF43}"/>
              </a:ext>
            </a:extLst>
          </p:cNvPr>
          <p:cNvSpPr/>
          <p:nvPr/>
        </p:nvSpPr>
        <p:spPr>
          <a:xfrm>
            <a:off x="4572001" y="941779"/>
            <a:ext cx="4374884" cy="1281254"/>
          </a:xfrm>
          <a:prstGeom prst="rect">
            <a:avLst/>
          </a:prstGeom>
          <a:noFill/>
          <a:ln/>
        </p:spPr>
        <p:txBody>
          <a:bodyPr wrap="square" lIns="18000" tIns="18000" rIns="18000" bIns="18000" rtlCol="0" anchor="ctr"/>
          <a:lstStyle/>
          <a:p>
            <a:pPr marL="0" indent="0">
              <a:spcAft>
                <a:spcPts val="400"/>
              </a:spcAft>
              <a:buNone/>
            </a:pPr>
            <a:r>
              <a:rPr lang="en-US" sz="1200" b="1" u="sng" dirty="0"/>
              <a:t>t-SNE: </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Pre-step: PCA to 50D, then t-SNE to 2D, Perplexity = 30</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Preserves non-linear structure and prioritizes local neighbors</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Produces much more distinct local clusters representing each class</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Morphologically similar digits (e.g. 4 and 9, 3 and 5) are visually close / overlap each other</a:t>
            </a:r>
            <a:br>
              <a:rPr lang="en-US" sz="1200" dirty="0">
                <a:solidFill>
                  <a:srgbClr val="4A5568"/>
                </a:solidFill>
                <a:latin typeface="Calibri" pitchFamily="34" charset="0"/>
                <a:ea typeface="Calibri" pitchFamily="34" charset="-122"/>
                <a:cs typeface="Calibri" pitchFamily="34" charset="-120"/>
              </a:rPr>
            </a:br>
            <a:endParaRPr lang="en-US" sz="1200" dirty="0">
              <a:solidFill>
                <a:srgbClr val="4A5568"/>
              </a:solidFill>
              <a:latin typeface="Calibri" pitchFamily="34" charset="0"/>
              <a:ea typeface="Calibri" pitchFamily="34" charset="-122"/>
              <a:cs typeface="Calibri" pitchFamily="34" charset="-120"/>
            </a:endParaRPr>
          </a:p>
        </p:txBody>
      </p:sp>
      <p:sp>
        <p:nvSpPr>
          <p:cNvPr id="7" name="Rectangle 6">
            <a:extLst>
              <a:ext uri="{FF2B5EF4-FFF2-40B4-BE49-F238E27FC236}">
                <a16:creationId xmlns:a16="http://schemas.microsoft.com/office/drawing/2014/main" id="{21192B9C-25E6-C287-5089-3CAB0609D4D5}"/>
              </a:ext>
            </a:extLst>
          </p:cNvPr>
          <p:cNvSpPr/>
          <p:nvPr/>
        </p:nvSpPr>
        <p:spPr>
          <a:xfrm>
            <a:off x="6198208" y="2770577"/>
            <a:ext cx="733711" cy="122102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42425771-8137-7FED-49DD-6FBD2B272F5D}"/>
              </a:ext>
            </a:extLst>
          </p:cNvPr>
          <p:cNvSpPr/>
          <p:nvPr/>
        </p:nvSpPr>
        <p:spPr>
          <a:xfrm>
            <a:off x="5770667" y="3789502"/>
            <a:ext cx="1029841" cy="968664"/>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747451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34126-064B-C532-0A4D-37C37A149F37}"/>
            </a:ext>
          </a:extLst>
        </p:cNvPr>
        <p:cNvGrpSpPr/>
        <p:nvPr/>
      </p:nvGrpSpPr>
      <p:grpSpPr>
        <a:xfrm>
          <a:off x="0" y="0"/>
          <a:ext cx="0" cy="0"/>
          <a:chOff x="0" y="0"/>
          <a:chExt cx="0" cy="0"/>
        </a:xfrm>
      </p:grpSpPr>
      <p:sp>
        <p:nvSpPr>
          <p:cNvPr id="14" name="Text 12">
            <a:extLst>
              <a:ext uri="{FF2B5EF4-FFF2-40B4-BE49-F238E27FC236}">
                <a16:creationId xmlns:a16="http://schemas.microsoft.com/office/drawing/2014/main" id="{E0CA7B61-32C9-F19E-756A-F6CBCBFAB752}"/>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7" name="图片 6">
            <a:extLst>
              <a:ext uri="{FF2B5EF4-FFF2-40B4-BE49-F238E27FC236}">
                <a16:creationId xmlns:a16="http://schemas.microsoft.com/office/drawing/2014/main" id="{D4B6E286-7945-381D-66B9-1E37BEF67734}"/>
              </a:ext>
            </a:extLst>
          </p:cNvPr>
          <p:cNvPicPr>
            <a:picLocks noChangeAspect="1"/>
          </p:cNvPicPr>
          <p:nvPr/>
        </p:nvPicPr>
        <p:blipFill>
          <a:blip r:embed="rId3"/>
          <a:stretch>
            <a:fillRect/>
          </a:stretch>
        </p:blipFill>
        <p:spPr>
          <a:xfrm>
            <a:off x="323114" y="2152285"/>
            <a:ext cx="8497772" cy="2991215"/>
          </a:xfrm>
          <a:prstGeom prst="rect">
            <a:avLst/>
          </a:prstGeom>
        </p:spPr>
      </p:pic>
      <p:sp>
        <p:nvSpPr>
          <p:cNvPr id="3" name="Shape 1">
            <a:extLst>
              <a:ext uri="{FF2B5EF4-FFF2-40B4-BE49-F238E27FC236}">
                <a16:creationId xmlns:a16="http://schemas.microsoft.com/office/drawing/2014/main" id="{02D07476-C7BA-0865-457B-092E0EFBB73A}"/>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Text 5">
            <a:extLst>
              <a:ext uri="{FF2B5EF4-FFF2-40B4-BE49-F238E27FC236}">
                <a16:creationId xmlns:a16="http://schemas.microsoft.com/office/drawing/2014/main" id="{6DA7FC63-DA3E-E9DC-D014-F3E87DAA9B2D}"/>
              </a:ext>
            </a:extLst>
          </p:cNvPr>
          <p:cNvSpPr/>
          <p:nvPr/>
        </p:nvSpPr>
        <p:spPr>
          <a:xfrm>
            <a:off x="576994" y="966882"/>
            <a:ext cx="3995006" cy="1153589"/>
          </a:xfrm>
          <a:prstGeom prst="rect">
            <a:avLst/>
          </a:prstGeom>
          <a:noFill/>
          <a:ln/>
        </p:spPr>
        <p:txBody>
          <a:bodyPr wrap="square" lIns="18000" tIns="18000" rIns="18000" bIns="18000" rtlCol="0" anchor="ctr"/>
          <a:lstStyle/>
          <a:p>
            <a:pPr marL="0" indent="0">
              <a:spcAft>
                <a:spcPts val="400"/>
              </a:spcAft>
              <a:buNone/>
            </a:pPr>
            <a:r>
              <a:rPr lang="en-US" sz="1200" b="1" u="sng" dirty="0"/>
              <a:t>PCA: </a:t>
            </a:r>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PC1: 9.54%  |  PC2: 7.16%</a:t>
            </a:r>
          </a:p>
          <a:p>
            <a:pPr marL="342900" indent="-342900">
              <a:spcAft>
                <a:spcPts val="400"/>
              </a:spcAft>
              <a:buSzPct val="100000"/>
              <a:buFontTx/>
              <a:buChar char="•"/>
            </a:pPr>
            <a:r>
              <a:rPr lang="en-US" sz="1200" dirty="0">
                <a:solidFill>
                  <a:srgbClr val="4A5568"/>
                </a:solidFill>
                <a:latin typeface="Calibri" pitchFamily="34" charset="0"/>
                <a:ea typeface="Calibri" pitchFamily="34" charset="-122"/>
                <a:cs typeface="Calibri" pitchFamily="34" charset="-120"/>
              </a:rPr>
              <a:t>Variance explained: 16.70%</a:t>
            </a:r>
          </a:p>
          <a:p>
            <a:pPr marL="342900" indent="-342900">
              <a:spcAft>
                <a:spcPts val="400"/>
              </a:spcAft>
              <a:buSzPct val="100000"/>
              <a:buFontTx/>
              <a:buChar char="•"/>
            </a:pPr>
            <a:r>
              <a:rPr lang="en-US" sz="1200" dirty="0">
                <a:solidFill>
                  <a:srgbClr val="4A5568"/>
                </a:solidFill>
                <a:latin typeface="Calibri" pitchFamily="34" charset="0"/>
                <a:cs typeface="Calibri" pitchFamily="34" charset="-120"/>
              </a:rPr>
              <a:t>the cumulative explained variance at 50 components is approximately 82</a:t>
            </a:r>
            <a:r>
              <a:rPr lang="en-US" altLang="zh-CN" sz="1200" dirty="0">
                <a:solidFill>
                  <a:srgbClr val="4A5568"/>
                </a:solidFill>
                <a:latin typeface="Calibri" pitchFamily="34" charset="0"/>
                <a:cs typeface="Calibri" pitchFamily="34" charset="-120"/>
              </a:rPr>
              <a:t>.</a:t>
            </a:r>
            <a:r>
              <a:rPr lang="en-US" sz="1200" dirty="0">
                <a:solidFill>
                  <a:srgbClr val="4A5568"/>
                </a:solidFill>
                <a:latin typeface="Calibri" pitchFamily="34" charset="0"/>
                <a:cs typeface="Calibri" pitchFamily="34" charset="-120"/>
              </a:rPr>
              <a:t>61</a:t>
            </a:r>
            <a:r>
              <a:rPr lang="en-US" altLang="zh-CN" sz="1200" dirty="0">
                <a:solidFill>
                  <a:srgbClr val="4A5568"/>
                </a:solidFill>
                <a:latin typeface="Calibri" pitchFamily="34" charset="0"/>
                <a:cs typeface="Calibri" pitchFamily="34" charset="-120"/>
              </a:rPr>
              <a:t>%</a:t>
            </a:r>
            <a:endParaRPr lang="en-US" sz="1200" dirty="0">
              <a:solidFill>
                <a:srgbClr val="4A5568"/>
              </a:solidFill>
              <a:latin typeface="Calibri" pitchFamily="34" charset="0"/>
              <a:cs typeface="Calibri" pitchFamily="34" charset="-120"/>
            </a:endParaRPr>
          </a:p>
        </p:txBody>
      </p:sp>
      <p:sp>
        <p:nvSpPr>
          <p:cNvPr id="5" name="Text 0">
            <a:extLst>
              <a:ext uri="{FF2B5EF4-FFF2-40B4-BE49-F238E27FC236}">
                <a16:creationId xmlns:a16="http://schemas.microsoft.com/office/drawing/2014/main" id="{E36B3142-C0C2-D2C4-0764-C2B88F70673E}"/>
              </a:ext>
            </a:extLst>
          </p:cNvPr>
          <p:cNvSpPr/>
          <p:nvPr/>
        </p:nvSpPr>
        <p:spPr>
          <a:xfrm>
            <a:off x="525643" y="179009"/>
            <a:ext cx="7886837" cy="548640"/>
          </a:xfrm>
          <a:prstGeom prst="rect">
            <a:avLst/>
          </a:prstGeom>
          <a:noFill/>
          <a:ln/>
        </p:spPr>
        <p:txBody>
          <a:bodyPr wrap="square" lIns="0" tIns="0" rIns="0" bIns="0" rtlCol="0" anchor="ctr"/>
          <a:lstStyle/>
          <a:p>
            <a:pPr marL="0" indent="0">
              <a:buNone/>
            </a:pPr>
            <a:r>
              <a:rPr lang="en-US" sz="2000" b="1" dirty="0">
                <a:solidFill>
                  <a:srgbClr val="1E2761"/>
                </a:solidFill>
                <a:latin typeface="Georgia" pitchFamily="34" charset="0"/>
                <a:ea typeface="Georgia" pitchFamily="34" charset="-122"/>
                <a:cs typeface="Georgia" pitchFamily="34" charset="-120"/>
              </a:rPr>
              <a:t>PCA &amp; t-SNE Visualization</a:t>
            </a:r>
          </a:p>
          <a:p>
            <a:pPr marL="0" indent="0">
              <a:buNone/>
            </a:pPr>
            <a:r>
              <a:rPr lang="en-US" sz="1600" dirty="0">
                <a:solidFill>
                  <a:srgbClr val="1E2761"/>
                </a:solidFill>
                <a:latin typeface="Georgia" pitchFamily="34" charset="0"/>
                <a:ea typeface="Georgia" pitchFamily="34" charset="-122"/>
                <a:cs typeface="Georgia" pitchFamily="34" charset="-120"/>
              </a:rPr>
              <a:t>Only 16.7% of the data’s variance is captured in PCA 2D, hence not being representative</a:t>
            </a:r>
          </a:p>
        </p:txBody>
      </p:sp>
      <p:sp>
        <p:nvSpPr>
          <p:cNvPr id="6" name="Rectangle 5">
            <a:extLst>
              <a:ext uri="{FF2B5EF4-FFF2-40B4-BE49-F238E27FC236}">
                <a16:creationId xmlns:a16="http://schemas.microsoft.com/office/drawing/2014/main" id="{2EEB222C-90E2-23D7-DCB9-9B7723F45D8D}"/>
              </a:ext>
            </a:extLst>
          </p:cNvPr>
          <p:cNvSpPr/>
          <p:nvPr/>
        </p:nvSpPr>
        <p:spPr>
          <a:xfrm>
            <a:off x="847426" y="2419673"/>
            <a:ext cx="179485" cy="245643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ext 5">
            <a:extLst>
              <a:ext uri="{FF2B5EF4-FFF2-40B4-BE49-F238E27FC236}">
                <a16:creationId xmlns:a16="http://schemas.microsoft.com/office/drawing/2014/main" id="{A37AD12C-FF8E-BFC6-CB98-0E7FA2EF7841}"/>
              </a:ext>
            </a:extLst>
          </p:cNvPr>
          <p:cNvSpPr/>
          <p:nvPr/>
        </p:nvSpPr>
        <p:spPr>
          <a:xfrm>
            <a:off x="4825880" y="966881"/>
            <a:ext cx="3995006" cy="1153589"/>
          </a:xfrm>
          <a:prstGeom prst="rect">
            <a:avLst/>
          </a:prstGeom>
          <a:noFill/>
          <a:ln/>
        </p:spPr>
        <p:txBody>
          <a:bodyPr wrap="square" lIns="18000" tIns="18000" rIns="18000" bIns="18000" rtlCol="0" anchor="ctr"/>
          <a:lstStyle/>
          <a:p>
            <a:pPr marL="342900" indent="-342900">
              <a:spcAft>
                <a:spcPts val="400"/>
              </a:spcAft>
              <a:buSzPct val="100000"/>
              <a:buChar char="•"/>
            </a:pPr>
            <a:r>
              <a:rPr lang="en-US" sz="1200" u="sng" dirty="0">
                <a:solidFill>
                  <a:srgbClr val="4A5568"/>
                </a:solidFill>
                <a:latin typeface="Calibri" pitchFamily="34" charset="0"/>
                <a:ea typeface="Calibri" pitchFamily="34" charset="-122"/>
                <a:cs typeface="Calibri" pitchFamily="34" charset="-120"/>
              </a:rPr>
              <a:t>PCA</a:t>
            </a:r>
            <a:r>
              <a:rPr lang="en-US" sz="1200" dirty="0">
                <a:solidFill>
                  <a:srgbClr val="4A5568"/>
                </a:solidFill>
                <a:latin typeface="Calibri" pitchFamily="34" charset="0"/>
                <a:ea typeface="Calibri" pitchFamily="34" charset="-122"/>
                <a:cs typeface="Calibri" pitchFamily="34" charset="-120"/>
              </a:rPr>
              <a:t> preserves variance in a linear sense and is more informative about global structure.</a:t>
            </a:r>
          </a:p>
          <a:p>
            <a:pPr marL="342900" indent="-342900">
              <a:spcAft>
                <a:spcPts val="400"/>
              </a:spcAft>
              <a:buSzPct val="100000"/>
              <a:buChar char="•"/>
            </a:pPr>
            <a:r>
              <a:rPr lang="en-US" sz="1200" u="sng" dirty="0">
                <a:solidFill>
                  <a:srgbClr val="4A5568"/>
                </a:solidFill>
                <a:latin typeface="Calibri" pitchFamily="34" charset="0"/>
                <a:ea typeface="Calibri" pitchFamily="34" charset="-122"/>
                <a:cs typeface="Calibri" pitchFamily="34" charset="-120"/>
              </a:rPr>
              <a:t>t-SNE</a:t>
            </a:r>
            <a:r>
              <a:rPr lang="en-US" sz="1200" dirty="0">
                <a:solidFill>
                  <a:srgbClr val="4A5568"/>
                </a:solidFill>
                <a:latin typeface="Calibri" pitchFamily="34" charset="0"/>
                <a:ea typeface="Calibri" pitchFamily="34" charset="-122"/>
                <a:cs typeface="Calibri" pitchFamily="34" charset="-120"/>
              </a:rPr>
              <a:t> preserves local neighborhood relationships and is more informative about cluster formation.</a:t>
            </a:r>
          </a:p>
        </p:txBody>
      </p:sp>
    </p:spTree>
    <p:extLst>
      <p:ext uri="{BB962C8B-B14F-4D97-AF65-F5344CB8AC3E}">
        <p14:creationId xmlns:p14="http://schemas.microsoft.com/office/powerpoint/2010/main" val="3678634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sz="1800" b="1" dirty="0">
                <a:solidFill>
                  <a:srgbClr val="E8B931"/>
                </a:solidFill>
                <a:latin typeface="Georgia" pitchFamily="34" charset="0"/>
                <a:ea typeface="Georgia" pitchFamily="34" charset="-122"/>
                <a:cs typeface="Georgia" pitchFamily="34" charset="-120"/>
              </a:rPr>
              <a:t>3</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K-Nearest Neighbors (KNN)</a:t>
            </a:r>
            <a:endParaRPr 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KNN — Pipeline (PCA + KNN)</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p:cNvSpPr/>
          <p:nvPr/>
        </p:nvSpPr>
        <p:spPr>
          <a:xfrm>
            <a:off x="548640" y="1143000"/>
            <a:ext cx="38404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dirty="0"/>
          </a:p>
        </p:txBody>
      </p:sp>
      <p:sp>
        <p:nvSpPr>
          <p:cNvPr id="5" name="Shape 3"/>
          <p:cNvSpPr/>
          <p:nvPr/>
        </p:nvSpPr>
        <p:spPr>
          <a:xfrm>
            <a:off x="548640" y="1143000"/>
            <a:ext cx="64008" cy="2286000"/>
          </a:xfrm>
          <a:prstGeom prst="rect">
            <a:avLst/>
          </a:prstGeom>
          <a:solidFill>
            <a:srgbClr val="3D7DCA"/>
          </a:solidFill>
          <a:ln/>
        </p:spPr>
        <p:txBody>
          <a:bodyPr/>
          <a:lstStyle/>
          <a:p>
            <a:endParaRPr lang="zh-SG" altLang="en-US"/>
          </a:p>
        </p:txBody>
      </p:sp>
      <p:sp>
        <p:nvSpPr>
          <p:cNvPr id="6" name="Text 4"/>
          <p:cNvSpPr/>
          <p:nvPr/>
        </p:nvSpPr>
        <p:spPr>
          <a:xfrm>
            <a:off x="710565" y="1234440"/>
            <a:ext cx="3611880" cy="320040"/>
          </a:xfrm>
          <a:prstGeom prst="rect">
            <a:avLst/>
          </a:prstGeom>
          <a:noFill/>
          <a:ln/>
        </p:spPr>
        <p:txBody>
          <a:bodyPr wrap="square" lIns="0" tIns="0" rIns="0" bIns="0" rtlCol="0" anchor="ctr"/>
          <a:lstStyle/>
          <a:p>
            <a:r>
              <a:rPr lang="en-US" sz="1500" b="1" dirty="0">
                <a:solidFill>
                  <a:srgbClr val="1E2761"/>
                </a:solidFill>
                <a:latin typeface="Georgia" pitchFamily="34" charset="0"/>
                <a:ea typeface="Georgia" pitchFamily="34" charset="-122"/>
                <a:cs typeface="Georgia" pitchFamily="34" charset="-120"/>
              </a:rPr>
              <a:t>Search Space (5-Fold </a:t>
            </a:r>
            <a:r>
              <a:rPr lang="en-US" sz="1500" b="1" dirty="0" err="1">
                <a:solidFill>
                  <a:srgbClr val="1E2761"/>
                </a:solidFill>
                <a:latin typeface="Georgia" pitchFamily="34" charset="0"/>
                <a:ea typeface="Georgia" pitchFamily="34" charset="-122"/>
                <a:cs typeface="Georgia" pitchFamily="34" charset="-120"/>
              </a:rPr>
              <a:t>GridSearchCV</a:t>
            </a:r>
            <a:r>
              <a:rPr lang="en-US" sz="1500" b="1" dirty="0">
                <a:solidFill>
                  <a:srgbClr val="1E2761"/>
                </a:solidFill>
                <a:latin typeface="Georgia" pitchFamily="34" charset="0"/>
                <a:ea typeface="Georgia" pitchFamily="34" charset="-122"/>
                <a:cs typeface="Georgia" pitchFamily="34" charset="-120"/>
              </a:rPr>
              <a:t>)</a:t>
            </a:r>
            <a:endParaRPr lang="en-US" sz="1500" dirty="0"/>
          </a:p>
        </p:txBody>
      </p:sp>
      <p:sp>
        <p:nvSpPr>
          <p:cNvPr id="7" name="Text 5"/>
          <p:cNvSpPr/>
          <p:nvPr/>
        </p:nvSpPr>
        <p:spPr>
          <a:xfrm>
            <a:off x="822960" y="1600199"/>
            <a:ext cx="3383280" cy="1590675"/>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PCA variance: 0.90, 0.95, 0.99</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k: 1, 3, 5, 7, 9</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Weights: uniform, distance</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Metric: euclidean, manhattan</a:t>
            </a:r>
            <a:endParaRPr lang="en-US" sz="1200" dirty="0"/>
          </a:p>
          <a:p>
            <a:pPr marL="342900" indent="-342900">
              <a:spcAft>
                <a:spcPts val="400"/>
              </a:spcAft>
              <a:buSzPct val="100000"/>
              <a:buChar char="•"/>
            </a:pPr>
            <a:r>
              <a:rPr lang="en-US" sz="1200" b="1" dirty="0">
                <a:solidFill>
                  <a:srgbClr val="4A5568"/>
                </a:solidFill>
                <a:latin typeface="Calibri" pitchFamily="34" charset="0"/>
                <a:ea typeface="Calibri" pitchFamily="34" charset="-122"/>
                <a:cs typeface="Calibri" pitchFamily="34" charset="-120"/>
              </a:rPr>
              <a:t>60 </a:t>
            </a:r>
            <a:r>
              <a:rPr lang="en-US" altLang="zh-CN" sz="1200" b="1" dirty="0">
                <a:solidFill>
                  <a:srgbClr val="4A5568"/>
                </a:solidFill>
                <a:latin typeface="Calibri" pitchFamily="34" charset="0"/>
                <a:ea typeface="Calibri" pitchFamily="34" charset="-122"/>
                <a:cs typeface="Calibri" pitchFamily="34" charset="-120"/>
              </a:rPr>
              <a:t>(3x5x2x2)</a:t>
            </a:r>
            <a:r>
              <a:rPr lang="zh-CN" altLang="en-US" sz="1200" b="1" dirty="0">
                <a:solidFill>
                  <a:srgbClr val="4A5568"/>
                </a:solidFill>
                <a:latin typeface="Calibri" pitchFamily="34" charset="0"/>
                <a:ea typeface="Calibri" pitchFamily="34" charset="-122"/>
                <a:cs typeface="Calibri" pitchFamily="34" charset="-120"/>
              </a:rPr>
              <a:t> </a:t>
            </a:r>
            <a:r>
              <a:rPr lang="en-US" sz="1200" b="1" dirty="0">
                <a:solidFill>
                  <a:srgbClr val="4A5568"/>
                </a:solidFill>
                <a:latin typeface="Calibri" pitchFamily="34" charset="0"/>
                <a:ea typeface="Calibri" pitchFamily="34" charset="-122"/>
                <a:cs typeface="Calibri" pitchFamily="34" charset="-120"/>
              </a:rPr>
              <a:t>combinations x 5 folds = 300 fits</a:t>
            </a:r>
          </a:p>
          <a:p>
            <a:pPr marL="342900" indent="-342900">
              <a:spcAft>
                <a:spcPts val="400"/>
              </a:spcAft>
              <a:buSzPct val="100000"/>
              <a:buChar char="•"/>
            </a:pPr>
            <a:r>
              <a:rPr lang="en-US" sz="1200" b="1" dirty="0">
                <a:solidFill>
                  <a:srgbClr val="4A5568"/>
                </a:solidFill>
                <a:latin typeface="Calibri" pitchFamily="34" charset="0"/>
                <a:cs typeface="Calibri" pitchFamily="34" charset="-120"/>
              </a:rPr>
              <a:t>in</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total</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60K</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training</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samples</a:t>
            </a:r>
            <a:endParaRPr lang="en-US" sz="1200" b="1" dirty="0">
              <a:solidFill>
                <a:srgbClr val="4A5568"/>
              </a:solidFill>
              <a:latin typeface="Calibri" pitchFamily="34" charset="0"/>
              <a:cs typeface="Calibri" pitchFamily="34" charset="-120"/>
            </a:endParaRPr>
          </a:p>
        </p:txBody>
      </p:sp>
      <p:sp>
        <p:nvSpPr>
          <p:cNvPr id="8" name="Shape 6"/>
          <p:cNvSpPr/>
          <p:nvPr/>
        </p:nvSpPr>
        <p:spPr>
          <a:xfrm>
            <a:off x="4754880" y="1143000"/>
            <a:ext cx="38404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p:cNvSpPr/>
          <p:nvPr/>
        </p:nvSpPr>
        <p:spPr>
          <a:xfrm>
            <a:off x="4754880" y="1143000"/>
            <a:ext cx="64008" cy="2286000"/>
          </a:xfrm>
          <a:prstGeom prst="rect">
            <a:avLst/>
          </a:prstGeom>
          <a:solidFill>
            <a:srgbClr val="38A169"/>
          </a:solidFill>
          <a:ln/>
        </p:spPr>
        <p:txBody>
          <a:bodyPr/>
          <a:lstStyle/>
          <a:p>
            <a:endParaRPr lang="zh-SG" altLang="en-US"/>
          </a:p>
        </p:txBody>
      </p:sp>
      <p:sp>
        <p:nvSpPr>
          <p:cNvPr id="10" name="Text 8"/>
          <p:cNvSpPr/>
          <p:nvPr/>
        </p:nvSpPr>
        <p:spPr>
          <a:xfrm>
            <a:off x="4983480" y="1234440"/>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Best Configuration</a:t>
            </a:r>
            <a:endParaRPr lang="en-US" sz="1500" dirty="0"/>
          </a:p>
        </p:txBody>
      </p:sp>
      <p:sp>
        <p:nvSpPr>
          <p:cNvPr id="11" name="Text 9"/>
          <p:cNvSpPr/>
          <p:nvPr/>
        </p:nvSpPr>
        <p:spPr>
          <a:xfrm>
            <a:off x="5029200" y="1600200"/>
            <a:ext cx="3383280" cy="1371600"/>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Metric: euclidean</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k = 3, weights = distance</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PCA variance retained: 0.90</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Best CV accuracy: 0.9758</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Search time: 510.55 s</a:t>
            </a:r>
            <a:endParaRPr lang="en-US" sz="1200" dirty="0"/>
          </a:p>
        </p:txBody>
      </p:sp>
      <p:sp>
        <p:nvSpPr>
          <p:cNvPr id="12" name="Shape 10"/>
          <p:cNvSpPr/>
          <p:nvPr/>
        </p:nvSpPr>
        <p:spPr>
          <a:xfrm>
            <a:off x="548640" y="3703320"/>
            <a:ext cx="8046720" cy="914400"/>
          </a:xfrm>
          <a:prstGeom prst="rect">
            <a:avLst/>
          </a:prstGeom>
          <a:solidFill>
            <a:srgbClr val="1E2761"/>
          </a:solidFill>
          <a:ln/>
        </p:spPr>
        <p:txBody>
          <a:bodyPr/>
          <a:lstStyle/>
          <a:p>
            <a:endParaRPr lang="zh-SG" altLang="en-US"/>
          </a:p>
        </p:txBody>
      </p:sp>
      <p:sp>
        <p:nvSpPr>
          <p:cNvPr id="13" name="Text 11"/>
          <p:cNvSpPr/>
          <p:nvPr/>
        </p:nvSpPr>
        <p:spPr>
          <a:xfrm>
            <a:off x="731520" y="3703320"/>
            <a:ext cx="7680960" cy="9144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Test Accuracy: </a:t>
            </a:r>
            <a:r>
              <a:rPr lang="en-US" sz="2800" b="1" dirty="0">
                <a:solidFill>
                  <a:srgbClr val="E8B931"/>
                </a:solidFill>
                <a:latin typeface="Calibri" pitchFamily="34" charset="0"/>
                <a:ea typeface="Calibri" pitchFamily="34" charset="-122"/>
                <a:cs typeface="Calibri" pitchFamily="34" charset="-120"/>
              </a:rPr>
              <a:t>97.74%</a:t>
            </a:r>
            <a:r>
              <a:rPr lang="en-US" sz="1300" dirty="0">
                <a:solidFill>
                  <a:srgbClr val="8A94A6"/>
                </a:solidFill>
                <a:latin typeface="Calibri" pitchFamily="34" charset="0"/>
                <a:ea typeface="Calibri" pitchFamily="34" charset="-122"/>
                <a:cs typeface="Calibri" pitchFamily="34" charset="-120"/>
              </a:rPr>
              <a:t>     Train: 0.22s  |  Predict: 0.25s</a:t>
            </a:r>
            <a:endParaRPr lang="en-US" sz="2000" dirty="0"/>
          </a:p>
        </p:txBody>
      </p:sp>
      <p:sp>
        <p:nvSpPr>
          <p:cNvPr id="14" name="Text 12"/>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B519C330-A2AD-ADBB-7D74-FF8036C633C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4F70391-9576-3F5C-9D60-009C21C563C7}"/>
              </a:ext>
            </a:extLst>
          </p:cNvPr>
          <p:cNvSpPr/>
          <p:nvPr/>
        </p:nvSpPr>
        <p:spPr>
          <a:xfrm>
            <a:off x="731520" y="278723"/>
            <a:ext cx="7680960" cy="548640"/>
          </a:xfrm>
          <a:prstGeom prst="rect">
            <a:avLst/>
          </a:prstGeom>
          <a:noFill/>
          <a:ln/>
        </p:spPr>
        <p:txBody>
          <a:bodyPr wrap="square" lIns="0" tIns="0" rIns="0" bIns="0" rtlCol="0" anchor="ctr"/>
          <a:lstStyle/>
          <a:p>
            <a:r>
              <a:rPr lang="en-US" sz="2400" b="1" dirty="0">
                <a:solidFill>
                  <a:srgbClr val="1E2761"/>
                </a:solidFill>
                <a:latin typeface="Georgia" pitchFamily="34" charset="0"/>
                <a:ea typeface="Georgia" pitchFamily="34" charset="-122"/>
                <a:cs typeface="Georgia" pitchFamily="34" charset="-120"/>
              </a:rPr>
              <a:t>KNN — </a:t>
            </a:r>
            <a:r>
              <a:rPr lang="en-US" altLang="zh-SG" sz="2400" b="1" dirty="0" err="1">
                <a:solidFill>
                  <a:srgbClr val="1E2761"/>
                </a:solidFill>
                <a:latin typeface="Georgia" pitchFamily="34" charset="0"/>
              </a:rPr>
              <a:t>GridSearchCV</a:t>
            </a:r>
            <a:r>
              <a:rPr lang="zh-CN" altLang="en-US" sz="2400" b="1" dirty="0">
                <a:solidFill>
                  <a:srgbClr val="1E2761"/>
                </a:solidFill>
                <a:latin typeface="Georgia" pitchFamily="34" charset="0"/>
              </a:rPr>
              <a:t> </a:t>
            </a:r>
            <a:r>
              <a:rPr lang="en-US" altLang="zh-CN" sz="2400" b="1" dirty="0">
                <a:solidFill>
                  <a:srgbClr val="1E2761"/>
                </a:solidFill>
                <a:latin typeface="Georgia" pitchFamily="34" charset="0"/>
              </a:rPr>
              <a:t>Result</a:t>
            </a:r>
          </a:p>
          <a:p>
            <a:r>
              <a:rPr lang="en-US" altLang="zh-SG" sz="1600" dirty="0">
                <a:solidFill>
                  <a:srgbClr val="1E2761"/>
                </a:solidFill>
                <a:latin typeface="Georgia" pitchFamily="34" charset="0"/>
              </a:rPr>
              <a:t>Best results: k=3 with PCA retention 0.9</a:t>
            </a:r>
          </a:p>
        </p:txBody>
      </p:sp>
      <p:sp>
        <p:nvSpPr>
          <p:cNvPr id="3" name="Shape 1">
            <a:extLst>
              <a:ext uri="{FF2B5EF4-FFF2-40B4-BE49-F238E27FC236}">
                <a16:creationId xmlns:a16="http://schemas.microsoft.com/office/drawing/2014/main" id="{22C2A60D-96B2-E841-B07D-15911E52CC58}"/>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14" name="Text 12">
            <a:extLst>
              <a:ext uri="{FF2B5EF4-FFF2-40B4-BE49-F238E27FC236}">
                <a16:creationId xmlns:a16="http://schemas.microsoft.com/office/drawing/2014/main" id="{1E856FAF-040C-E82F-574E-AD1D79F00956}"/>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16" name="图片 15">
            <a:extLst>
              <a:ext uri="{FF2B5EF4-FFF2-40B4-BE49-F238E27FC236}">
                <a16:creationId xmlns:a16="http://schemas.microsoft.com/office/drawing/2014/main" id="{5B9DCBB2-0A3B-A13F-A70D-6DED34F19B64}"/>
              </a:ext>
            </a:extLst>
          </p:cNvPr>
          <p:cNvPicPr>
            <a:picLocks noChangeAspect="1"/>
          </p:cNvPicPr>
          <p:nvPr/>
        </p:nvPicPr>
        <p:blipFill>
          <a:blip r:embed="rId3"/>
          <a:stretch>
            <a:fillRect/>
          </a:stretch>
        </p:blipFill>
        <p:spPr>
          <a:xfrm>
            <a:off x="283732" y="956215"/>
            <a:ext cx="8576535" cy="2356190"/>
          </a:xfrm>
          <a:prstGeom prst="rect">
            <a:avLst/>
          </a:prstGeom>
        </p:spPr>
      </p:pic>
      <p:pic>
        <p:nvPicPr>
          <p:cNvPr id="18" name="图片 17">
            <a:extLst>
              <a:ext uri="{FF2B5EF4-FFF2-40B4-BE49-F238E27FC236}">
                <a16:creationId xmlns:a16="http://schemas.microsoft.com/office/drawing/2014/main" id="{E3BB396C-2313-B66F-EFD0-76CF13B5FC28}"/>
              </a:ext>
            </a:extLst>
          </p:cNvPr>
          <p:cNvPicPr>
            <a:picLocks noChangeAspect="1"/>
          </p:cNvPicPr>
          <p:nvPr/>
        </p:nvPicPr>
        <p:blipFill>
          <a:blip r:embed="rId4"/>
          <a:stretch>
            <a:fillRect/>
          </a:stretch>
        </p:blipFill>
        <p:spPr>
          <a:xfrm>
            <a:off x="731520" y="3357380"/>
            <a:ext cx="7772400" cy="1678886"/>
          </a:xfrm>
          <a:prstGeom prst="rect">
            <a:avLst/>
          </a:prstGeom>
        </p:spPr>
      </p:pic>
      <p:pic>
        <p:nvPicPr>
          <p:cNvPr id="20" name="图片 19">
            <a:extLst>
              <a:ext uri="{FF2B5EF4-FFF2-40B4-BE49-F238E27FC236}">
                <a16:creationId xmlns:a16="http://schemas.microsoft.com/office/drawing/2014/main" id="{55EB78EE-2B66-0E5E-0AF3-47F594E71D6C}"/>
              </a:ext>
            </a:extLst>
          </p:cNvPr>
          <p:cNvPicPr>
            <a:picLocks noChangeAspect="1"/>
          </p:cNvPicPr>
          <p:nvPr/>
        </p:nvPicPr>
        <p:blipFill>
          <a:blip r:embed="rId5"/>
          <a:stretch>
            <a:fillRect/>
          </a:stretch>
        </p:blipFill>
        <p:spPr>
          <a:xfrm>
            <a:off x="1494472" y="1224697"/>
            <a:ext cx="5896928" cy="3640080"/>
          </a:xfrm>
          <a:prstGeom prst="rect">
            <a:avLst/>
          </a:prstGeom>
        </p:spPr>
      </p:pic>
    </p:spTree>
    <p:extLst>
      <p:ext uri="{BB962C8B-B14F-4D97-AF65-F5344CB8AC3E}">
        <p14:creationId xmlns:p14="http://schemas.microsoft.com/office/powerpoint/2010/main" val="406989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KNN — Results</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&amp;</a:t>
            </a:r>
            <a:r>
              <a:rPr lang="zh-CN" altLang="en-US" sz="2400" b="1" dirty="0">
                <a:solidFill>
                  <a:srgbClr val="1E2761"/>
                </a:solidFill>
                <a:latin typeface="Georgia" pitchFamily="34" charset="0"/>
                <a:ea typeface="Georgia" pitchFamily="34" charset="-122"/>
                <a:cs typeface="Georgia" pitchFamily="34" charset="-120"/>
              </a:rPr>
              <a:t> </a:t>
            </a:r>
            <a:r>
              <a:rPr lang="en-US" sz="2400" b="1" dirty="0">
                <a:solidFill>
                  <a:srgbClr val="1E2761"/>
                </a:solidFill>
                <a:latin typeface="Georgia" pitchFamily="34" charset="0"/>
                <a:ea typeface="Georgia" pitchFamily="34" charset="-122"/>
                <a:cs typeface="Georgia" pitchFamily="34" charset="-120"/>
              </a:rPr>
              <a:t>Key Observations</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Text 2"/>
          <p:cNvSpPr/>
          <p:nvPr/>
        </p:nvSpPr>
        <p:spPr>
          <a:xfrm>
            <a:off x="291465" y="1131114"/>
            <a:ext cx="5154930" cy="2408528"/>
          </a:xfrm>
          <a:prstGeom prst="rect">
            <a:avLst/>
          </a:prstGeom>
          <a:noFill/>
          <a:ln/>
        </p:spPr>
        <p:txBody>
          <a:bodyPr wrap="square" rtlCol="0" anchor="ctr"/>
          <a:lstStyle/>
          <a:p>
            <a:pPr marL="342900" indent="-342900">
              <a:spcAft>
                <a:spcPts val="1000"/>
              </a:spcAft>
              <a:buSzPct val="100000"/>
              <a:buChar char="•"/>
            </a:pPr>
            <a:r>
              <a:rPr lang="en-US" sz="1500" dirty="0">
                <a:solidFill>
                  <a:srgbClr val="4A5568"/>
                </a:solidFill>
                <a:latin typeface="Calibri" pitchFamily="34" charset="0"/>
                <a:ea typeface="Calibri" pitchFamily="34" charset="-122"/>
                <a:cs typeface="Calibri" pitchFamily="34" charset="-120"/>
              </a:rPr>
              <a:t>Euclidean distance consistently outperformed Manhattan distance</a:t>
            </a:r>
            <a:endParaRPr lang="en-US" sz="1500" dirty="0"/>
          </a:p>
          <a:p>
            <a:pPr marL="342900" indent="-342900">
              <a:spcAft>
                <a:spcPts val="1000"/>
              </a:spcAft>
              <a:buSzPct val="100000"/>
              <a:buChar char="•"/>
            </a:pPr>
            <a:r>
              <a:rPr lang="en-US" sz="1500" dirty="0">
                <a:solidFill>
                  <a:srgbClr val="4A5568"/>
                </a:solidFill>
                <a:latin typeface="Calibri" pitchFamily="34" charset="0"/>
                <a:ea typeface="Calibri" pitchFamily="34" charset="-122"/>
                <a:cs typeface="Calibri" pitchFamily="34" charset="-120"/>
              </a:rPr>
              <a:t>Retaining 90% PCA variance was better than 95% or 99%</a:t>
            </a:r>
            <a:endParaRPr lang="en-US" sz="1500" dirty="0"/>
          </a:p>
          <a:p>
            <a:pPr marL="342900" indent="-342900">
              <a:spcAft>
                <a:spcPts val="1000"/>
              </a:spcAft>
              <a:buSzPct val="100000"/>
              <a:buChar char="•"/>
            </a:pPr>
            <a:r>
              <a:rPr lang="en-US" sz="1500" dirty="0">
                <a:solidFill>
                  <a:srgbClr val="4A5568"/>
                </a:solidFill>
                <a:latin typeface="Calibri" pitchFamily="34" charset="0"/>
                <a:ea typeface="Calibri" pitchFamily="34" charset="-122"/>
                <a:cs typeface="Calibri" pitchFamily="34" charset="-120"/>
              </a:rPr>
              <a:t>Distance-weighted voting slightly outperformed uniform voting</a:t>
            </a:r>
            <a:endParaRPr lang="en-US" sz="1500" dirty="0"/>
          </a:p>
          <a:p>
            <a:pPr marL="342900" indent="-342900">
              <a:spcAft>
                <a:spcPts val="1000"/>
              </a:spcAft>
              <a:buSzPct val="100000"/>
              <a:buChar char="•"/>
            </a:pPr>
            <a:r>
              <a:rPr lang="en-US" sz="1500" dirty="0">
                <a:solidFill>
                  <a:srgbClr val="4A5568"/>
                </a:solidFill>
                <a:latin typeface="Calibri" pitchFamily="34" charset="0"/>
                <a:ea typeface="Calibri" pitchFamily="34" charset="-122"/>
                <a:cs typeface="Calibri" pitchFamily="34" charset="-120"/>
              </a:rPr>
              <a:t>Top-ranked configurations were tightly clustered — KNN is relatively stable once metric and PCA retention are well-chosen</a:t>
            </a:r>
            <a:endParaRPr lang="en-US" sz="1500" dirty="0"/>
          </a:p>
        </p:txBody>
      </p:sp>
      <p:sp>
        <p:nvSpPr>
          <p:cNvPr id="5" name="Shape 3"/>
          <p:cNvSpPr/>
          <p:nvPr/>
        </p:nvSpPr>
        <p:spPr>
          <a:xfrm>
            <a:off x="548640" y="3699662"/>
            <a:ext cx="804672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6" name="Shape 4"/>
          <p:cNvSpPr/>
          <p:nvPr/>
        </p:nvSpPr>
        <p:spPr>
          <a:xfrm>
            <a:off x="548640" y="3699662"/>
            <a:ext cx="64008" cy="1005840"/>
          </a:xfrm>
          <a:prstGeom prst="rect">
            <a:avLst/>
          </a:prstGeom>
          <a:solidFill>
            <a:srgbClr val="E8B931"/>
          </a:solidFill>
          <a:ln/>
        </p:spPr>
        <p:txBody>
          <a:bodyPr/>
          <a:lstStyle/>
          <a:p>
            <a:endParaRPr lang="zh-SG" altLang="en-US"/>
          </a:p>
        </p:txBody>
      </p:sp>
      <p:sp>
        <p:nvSpPr>
          <p:cNvPr id="7" name="Text 5"/>
          <p:cNvSpPr/>
          <p:nvPr/>
        </p:nvSpPr>
        <p:spPr>
          <a:xfrm>
            <a:off x="777240" y="3745382"/>
            <a:ext cx="1828800" cy="320040"/>
          </a:xfrm>
          <a:prstGeom prst="rect">
            <a:avLst/>
          </a:prstGeom>
          <a:noFill/>
          <a:ln/>
        </p:spPr>
        <p:txBody>
          <a:bodyPr wrap="square" lIns="0" tIns="0" rIns="0" bIns="0" rtlCol="0" anchor="ctr"/>
          <a:lstStyle/>
          <a:p>
            <a:pPr marL="0" indent="0">
              <a:buNone/>
            </a:pPr>
            <a:r>
              <a:rPr lang="en-US" sz="1400" b="1" i="1" dirty="0">
                <a:solidFill>
                  <a:srgbClr val="1E2761"/>
                </a:solidFill>
                <a:latin typeface="Georgia" pitchFamily="34" charset="0"/>
                <a:ea typeface="Georgia" pitchFamily="34" charset="-122"/>
                <a:cs typeface="Georgia" pitchFamily="34" charset="-120"/>
              </a:rPr>
              <a:t>Insight</a:t>
            </a:r>
            <a:endParaRPr lang="en-US" sz="1400" dirty="0"/>
          </a:p>
        </p:txBody>
      </p:sp>
      <p:sp>
        <p:nvSpPr>
          <p:cNvPr id="8" name="Text 6"/>
          <p:cNvSpPr/>
          <p:nvPr/>
        </p:nvSpPr>
        <p:spPr>
          <a:xfrm>
            <a:off x="777240" y="4065422"/>
            <a:ext cx="7589520" cy="5486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Lower PCA retention (90%) acts as implicit regularization, reducing noise from less informative components and improving KNN's distance-based decisions.</a:t>
            </a:r>
            <a:endParaRPr lang="en-US" sz="1200" dirty="0"/>
          </a:p>
        </p:txBody>
      </p:sp>
      <p:sp>
        <p:nvSpPr>
          <p:cNvPr id="9" name="Text 7"/>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graphicFrame>
        <p:nvGraphicFramePr>
          <p:cNvPr id="13" name="表格 12">
            <a:extLst>
              <a:ext uri="{FF2B5EF4-FFF2-40B4-BE49-F238E27FC236}">
                <a16:creationId xmlns:a16="http://schemas.microsoft.com/office/drawing/2014/main" id="{9F7DE115-A297-D14E-3644-F77BDA58EA44}"/>
              </a:ext>
            </a:extLst>
          </p:cNvPr>
          <p:cNvGraphicFramePr>
            <a:graphicFrameLocks noGrp="1"/>
          </p:cNvGraphicFramePr>
          <p:nvPr>
            <p:extLst>
              <p:ext uri="{D42A27DB-BD31-4B8C-83A1-F6EECF244321}">
                <p14:modId xmlns:p14="http://schemas.microsoft.com/office/powerpoint/2010/main" val="4170069379"/>
              </p:ext>
            </p:extLst>
          </p:nvPr>
        </p:nvGraphicFramePr>
        <p:xfrm>
          <a:off x="5520689" y="868680"/>
          <a:ext cx="3217545" cy="2763233"/>
        </p:xfrm>
        <a:graphic>
          <a:graphicData uri="http://schemas.openxmlformats.org/drawingml/2006/table">
            <a:tbl>
              <a:tblPr firstRow="1" bandRow="1">
                <a:tableStyleId>{5C22544A-7EE6-4342-B048-85BDC9FD1C3A}</a:tableStyleId>
              </a:tblPr>
              <a:tblGrid>
                <a:gridCol w="643509">
                  <a:extLst>
                    <a:ext uri="{9D8B030D-6E8A-4147-A177-3AD203B41FA5}">
                      <a16:colId xmlns:a16="http://schemas.microsoft.com/office/drawing/2014/main" val="1846061308"/>
                    </a:ext>
                  </a:extLst>
                </a:gridCol>
                <a:gridCol w="643509">
                  <a:extLst>
                    <a:ext uri="{9D8B030D-6E8A-4147-A177-3AD203B41FA5}">
                      <a16:colId xmlns:a16="http://schemas.microsoft.com/office/drawing/2014/main" val="3943311280"/>
                    </a:ext>
                  </a:extLst>
                </a:gridCol>
                <a:gridCol w="643509">
                  <a:extLst>
                    <a:ext uri="{9D8B030D-6E8A-4147-A177-3AD203B41FA5}">
                      <a16:colId xmlns:a16="http://schemas.microsoft.com/office/drawing/2014/main" val="959947085"/>
                    </a:ext>
                  </a:extLst>
                </a:gridCol>
                <a:gridCol w="643509">
                  <a:extLst>
                    <a:ext uri="{9D8B030D-6E8A-4147-A177-3AD203B41FA5}">
                      <a16:colId xmlns:a16="http://schemas.microsoft.com/office/drawing/2014/main" val="145126520"/>
                    </a:ext>
                  </a:extLst>
                </a:gridCol>
                <a:gridCol w="643509">
                  <a:extLst>
                    <a:ext uri="{9D8B030D-6E8A-4147-A177-3AD203B41FA5}">
                      <a16:colId xmlns:a16="http://schemas.microsoft.com/office/drawing/2014/main" val="460027505"/>
                    </a:ext>
                  </a:extLst>
                </a:gridCol>
              </a:tblGrid>
              <a:tr h="251203">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Number</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precision</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recall</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f1-score</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support</a:t>
                      </a:r>
                    </a:p>
                  </a:txBody>
                  <a:tcPr marL="9525" marR="9525" marT="9525" marB="0" anchor="ctr"/>
                </a:tc>
                <a:extLst>
                  <a:ext uri="{0D108BD9-81ED-4DB2-BD59-A6C34878D82A}">
                    <a16:rowId xmlns:a16="http://schemas.microsoft.com/office/drawing/2014/main" val="1974485270"/>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986</a:t>
                      </a:r>
                    </a:p>
                  </a:txBody>
                  <a:tcPr marL="9525" marR="9525" marT="9525" marB="0" anchor="ctr"/>
                </a:tc>
                <a:extLst>
                  <a:ext uri="{0D108BD9-81ED-4DB2-BD59-A6C34878D82A}">
                    <a16:rowId xmlns:a16="http://schemas.microsoft.com/office/drawing/2014/main" val="802843601"/>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1</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1</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1125</a:t>
                      </a:r>
                    </a:p>
                  </a:txBody>
                  <a:tcPr marL="9525" marR="9525" marT="9525" marB="0" anchor="ctr"/>
                </a:tc>
                <a:extLst>
                  <a:ext uri="{0D108BD9-81ED-4DB2-BD59-A6C34878D82A}">
                    <a16:rowId xmlns:a16="http://schemas.microsoft.com/office/drawing/2014/main" val="1908429243"/>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2</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999</a:t>
                      </a:r>
                    </a:p>
                  </a:txBody>
                  <a:tcPr marL="9525" marR="9525" marT="9525" marB="0" anchor="ctr"/>
                </a:tc>
                <a:extLst>
                  <a:ext uri="{0D108BD9-81ED-4DB2-BD59-A6C34878D82A}">
                    <a16:rowId xmlns:a16="http://schemas.microsoft.com/office/drawing/2014/main" val="3363249089"/>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3</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1020</a:t>
                      </a:r>
                    </a:p>
                  </a:txBody>
                  <a:tcPr marL="9525" marR="9525" marT="9525" marB="0" anchor="ctr"/>
                </a:tc>
                <a:extLst>
                  <a:ext uri="{0D108BD9-81ED-4DB2-BD59-A6C34878D82A}">
                    <a16:rowId xmlns:a16="http://schemas.microsoft.com/office/drawing/2014/main" val="2187704212"/>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4</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975</a:t>
                      </a:r>
                    </a:p>
                  </a:txBody>
                  <a:tcPr marL="9525" marR="9525" marT="9525" marB="0" anchor="ctr"/>
                </a:tc>
                <a:extLst>
                  <a:ext uri="{0D108BD9-81ED-4DB2-BD59-A6C34878D82A}">
                    <a16:rowId xmlns:a16="http://schemas.microsoft.com/office/drawing/2014/main" val="1527674262"/>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5</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902</a:t>
                      </a:r>
                    </a:p>
                  </a:txBody>
                  <a:tcPr marL="9525" marR="9525" marT="9525" marB="0" anchor="ctr"/>
                </a:tc>
                <a:extLst>
                  <a:ext uri="{0D108BD9-81ED-4DB2-BD59-A6C34878D82A}">
                    <a16:rowId xmlns:a16="http://schemas.microsoft.com/office/drawing/2014/main" val="648610646"/>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982</a:t>
                      </a:r>
                    </a:p>
                  </a:txBody>
                  <a:tcPr marL="9525" marR="9525" marT="9525" marB="0" anchor="ctr"/>
                </a:tc>
                <a:extLst>
                  <a:ext uri="{0D108BD9-81ED-4DB2-BD59-A6C34878D82A}">
                    <a16:rowId xmlns:a16="http://schemas.microsoft.com/office/drawing/2014/main" val="2525316651"/>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1042</a:t>
                      </a:r>
                    </a:p>
                  </a:txBody>
                  <a:tcPr marL="9525" marR="9525" marT="9525" marB="0" anchor="ctr"/>
                </a:tc>
                <a:extLst>
                  <a:ext uri="{0D108BD9-81ED-4DB2-BD59-A6C34878D82A}">
                    <a16:rowId xmlns:a16="http://schemas.microsoft.com/office/drawing/2014/main" val="796754018"/>
                  </a:ext>
                </a:extLst>
              </a:tr>
              <a:tr h="251203">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975</a:t>
                      </a:r>
                    </a:p>
                  </a:txBody>
                  <a:tcPr marL="9525" marR="9525" marT="9525" marB="0" anchor="ctr"/>
                </a:tc>
                <a:extLst>
                  <a:ext uri="{0D108BD9-81ED-4DB2-BD59-A6C34878D82A}">
                    <a16:rowId xmlns:a16="http://schemas.microsoft.com/office/drawing/2014/main" val="1105170078"/>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994</a:t>
                      </a:r>
                    </a:p>
                  </a:txBody>
                  <a:tcPr marL="9525" marR="9525" marT="9525" marB="0" anchor="ctr"/>
                </a:tc>
                <a:extLst>
                  <a:ext uri="{0D108BD9-81ED-4DB2-BD59-A6C34878D82A}">
                    <a16:rowId xmlns:a16="http://schemas.microsoft.com/office/drawing/2014/main" val="70677795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b="1" dirty="0">
                <a:solidFill>
                  <a:srgbClr val="E8B931"/>
                </a:solidFill>
                <a:latin typeface="Georgia" pitchFamily="34" charset="0"/>
                <a:ea typeface="Georgia" pitchFamily="34" charset="-122"/>
                <a:cs typeface="Georgia" pitchFamily="34" charset="-120"/>
              </a:rPr>
              <a:t>4</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Logistic Regression</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Logistic Regression — Pipeline (PCA + LR)</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p:cNvSpPr/>
          <p:nvPr/>
        </p:nvSpPr>
        <p:spPr>
          <a:xfrm>
            <a:off x="548640" y="1143000"/>
            <a:ext cx="384048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3"/>
          <p:cNvSpPr/>
          <p:nvPr/>
        </p:nvSpPr>
        <p:spPr>
          <a:xfrm>
            <a:off x="548640" y="1143000"/>
            <a:ext cx="64008" cy="2011680"/>
          </a:xfrm>
          <a:prstGeom prst="rect">
            <a:avLst/>
          </a:prstGeom>
          <a:solidFill>
            <a:srgbClr val="3D7DCA"/>
          </a:solidFill>
          <a:ln/>
        </p:spPr>
        <p:txBody>
          <a:bodyPr/>
          <a:lstStyle/>
          <a:p>
            <a:endParaRPr lang="zh-SG" altLang="en-US"/>
          </a:p>
        </p:txBody>
      </p:sp>
      <p:sp>
        <p:nvSpPr>
          <p:cNvPr id="6" name="Text 4"/>
          <p:cNvSpPr/>
          <p:nvPr/>
        </p:nvSpPr>
        <p:spPr>
          <a:xfrm>
            <a:off x="691515" y="1234440"/>
            <a:ext cx="3767328" cy="320040"/>
          </a:xfrm>
          <a:prstGeom prst="rect">
            <a:avLst/>
          </a:prstGeom>
          <a:noFill/>
          <a:ln/>
        </p:spPr>
        <p:txBody>
          <a:bodyPr wrap="square" lIns="0" tIns="0" rIns="0" bIns="0" rtlCol="0" anchor="ctr"/>
          <a:lstStyle/>
          <a:p>
            <a:r>
              <a:rPr lang="en-US" sz="1500" b="1" dirty="0">
                <a:solidFill>
                  <a:srgbClr val="1E2761"/>
                </a:solidFill>
                <a:latin typeface="Georgia" pitchFamily="34" charset="0"/>
                <a:ea typeface="Georgia" pitchFamily="34" charset="-122"/>
                <a:cs typeface="Georgia" pitchFamily="34" charset="-120"/>
              </a:rPr>
              <a:t>Search Space (5-Fold </a:t>
            </a:r>
            <a:r>
              <a:rPr lang="en-US" altLang="zh-SG" sz="1600" b="1" dirty="0" err="1">
                <a:solidFill>
                  <a:srgbClr val="1E2761"/>
                </a:solidFill>
                <a:latin typeface="Georgia" pitchFamily="34" charset="0"/>
              </a:rPr>
              <a:t>GridSearch</a:t>
            </a:r>
            <a:r>
              <a:rPr lang="en-US" sz="1500" b="1" dirty="0" err="1">
                <a:solidFill>
                  <a:srgbClr val="1E2761"/>
                </a:solidFill>
                <a:latin typeface="Georgia" pitchFamily="34" charset="0"/>
                <a:ea typeface="Georgia" pitchFamily="34" charset="-122"/>
                <a:cs typeface="Georgia" pitchFamily="34" charset="-120"/>
              </a:rPr>
              <a:t>CV</a:t>
            </a:r>
            <a:r>
              <a:rPr lang="en-US" sz="1500" b="1" dirty="0">
                <a:solidFill>
                  <a:srgbClr val="1E2761"/>
                </a:solidFill>
                <a:latin typeface="Georgia" pitchFamily="34" charset="0"/>
                <a:ea typeface="Georgia" pitchFamily="34" charset="-122"/>
                <a:cs typeface="Georgia" pitchFamily="34" charset="-120"/>
              </a:rPr>
              <a:t>)</a:t>
            </a:r>
            <a:endParaRPr lang="en-US" sz="1500" dirty="0"/>
          </a:p>
        </p:txBody>
      </p:sp>
      <p:sp>
        <p:nvSpPr>
          <p:cNvPr id="7" name="Text 5"/>
          <p:cNvSpPr/>
          <p:nvPr/>
        </p:nvSpPr>
        <p:spPr>
          <a:xfrm>
            <a:off x="822960" y="1600200"/>
            <a:ext cx="3383280" cy="1463040"/>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PCA variance: 0.90, 0.95, 0.99</a:t>
            </a:r>
            <a:r>
              <a:rPr lang="en-US" altLang="zh-CN" sz="1200" dirty="0">
                <a:solidFill>
                  <a:srgbClr val="4A5568"/>
                </a:solidFill>
                <a:latin typeface="Calibri" pitchFamily="34" charset="0"/>
                <a:ea typeface="Calibri" pitchFamily="34" charset="-122"/>
                <a:cs typeface="Calibri" pitchFamily="34" charset="-120"/>
              </a:rPr>
              <a: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raw</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C: 0.01, 0.1, 1.0, 10.0</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Solver: lbfgs, saga</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Penalty: L2</a:t>
            </a:r>
            <a:endParaRPr lang="en-US" sz="1200" dirty="0"/>
          </a:p>
          <a:p>
            <a:pPr marL="342900" indent="-342900">
              <a:spcAft>
                <a:spcPts val="400"/>
              </a:spcAft>
              <a:buSzPct val="100000"/>
              <a:buChar char="•"/>
            </a:pPr>
            <a:r>
              <a:rPr lang="en-US" sz="1200" b="1" dirty="0">
                <a:solidFill>
                  <a:srgbClr val="4A5568"/>
                </a:solidFill>
                <a:latin typeface="Calibri" pitchFamily="34" charset="0"/>
                <a:ea typeface="Calibri" pitchFamily="34" charset="-122"/>
                <a:cs typeface="Calibri" pitchFamily="34" charset="-120"/>
              </a:rPr>
              <a:t>24</a:t>
            </a:r>
            <a:r>
              <a:rPr lang="zh-CN" altLang="en-US" sz="1200" b="1" dirty="0">
                <a:solidFill>
                  <a:srgbClr val="4A5568"/>
                </a:solidFill>
                <a:latin typeface="Calibri" pitchFamily="34" charset="0"/>
                <a:ea typeface="Calibri" pitchFamily="34" charset="-122"/>
                <a:cs typeface="Calibri" pitchFamily="34" charset="-120"/>
              </a:rPr>
              <a:t> </a:t>
            </a:r>
            <a:r>
              <a:rPr lang="en-US" altLang="zh-CN" sz="1200" b="1" dirty="0">
                <a:solidFill>
                  <a:srgbClr val="4A5568"/>
                </a:solidFill>
                <a:latin typeface="Calibri" pitchFamily="34" charset="0"/>
                <a:ea typeface="Calibri" pitchFamily="34" charset="-122"/>
                <a:cs typeface="Calibri" pitchFamily="34" charset="-120"/>
              </a:rPr>
              <a:t>(3x4x2x1)</a:t>
            </a:r>
            <a:r>
              <a:rPr lang="en-US" sz="1200" b="1" dirty="0">
                <a:solidFill>
                  <a:srgbClr val="4A5568"/>
                </a:solidFill>
                <a:latin typeface="Calibri" pitchFamily="34" charset="0"/>
                <a:ea typeface="Calibri" pitchFamily="34" charset="-122"/>
                <a:cs typeface="Calibri" pitchFamily="34" charset="-120"/>
              </a:rPr>
              <a:t> combinations x 5 folds = 120 fits</a:t>
            </a:r>
            <a:endParaRPr lang="en-US" sz="1200" b="1" dirty="0"/>
          </a:p>
        </p:txBody>
      </p:sp>
      <p:sp>
        <p:nvSpPr>
          <p:cNvPr id="8" name="Shape 6"/>
          <p:cNvSpPr/>
          <p:nvPr/>
        </p:nvSpPr>
        <p:spPr>
          <a:xfrm>
            <a:off x="4754880" y="1143000"/>
            <a:ext cx="384048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p:cNvSpPr/>
          <p:nvPr/>
        </p:nvSpPr>
        <p:spPr>
          <a:xfrm>
            <a:off x="4754880" y="1143000"/>
            <a:ext cx="64008" cy="2011680"/>
          </a:xfrm>
          <a:prstGeom prst="rect">
            <a:avLst/>
          </a:prstGeom>
          <a:solidFill>
            <a:srgbClr val="38A169"/>
          </a:solidFill>
          <a:ln/>
        </p:spPr>
        <p:txBody>
          <a:bodyPr/>
          <a:lstStyle/>
          <a:p>
            <a:endParaRPr lang="zh-SG" altLang="en-US"/>
          </a:p>
        </p:txBody>
      </p:sp>
      <p:sp>
        <p:nvSpPr>
          <p:cNvPr id="10" name="Text 8"/>
          <p:cNvSpPr/>
          <p:nvPr/>
        </p:nvSpPr>
        <p:spPr>
          <a:xfrm>
            <a:off x="4983480" y="1234440"/>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Best Configuration</a:t>
            </a:r>
            <a:endParaRPr lang="en-US" sz="1500" dirty="0"/>
          </a:p>
        </p:txBody>
      </p:sp>
      <p:sp>
        <p:nvSpPr>
          <p:cNvPr id="11" name="Text 9"/>
          <p:cNvSpPr/>
          <p:nvPr/>
        </p:nvSpPr>
        <p:spPr>
          <a:xfrm>
            <a:off x="5029200" y="1600200"/>
            <a:ext cx="3383280" cy="1371600"/>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C = 0.1, solver = lbfgs</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Penalty: L2</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PCA variance retained: 0.99</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Best CV accuracy: 0.9216</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Search time: 626.57 s</a:t>
            </a:r>
            <a:endParaRPr lang="en-US" sz="1200" dirty="0"/>
          </a:p>
        </p:txBody>
      </p:sp>
      <p:sp>
        <p:nvSpPr>
          <p:cNvPr id="12" name="Text 10"/>
          <p:cNvSpPr/>
          <p:nvPr/>
        </p:nvSpPr>
        <p:spPr>
          <a:xfrm>
            <a:off x="650557" y="3261360"/>
            <a:ext cx="7680960" cy="617220"/>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PCA 0.99 dominated the top configurations — </a:t>
            </a:r>
            <a:r>
              <a:rPr lang="en-US" sz="1200" dirty="0" err="1">
                <a:solidFill>
                  <a:srgbClr val="4A5568"/>
                </a:solidFill>
                <a:latin typeface="Calibri" pitchFamily="34" charset="0"/>
                <a:ea typeface="Calibri" pitchFamily="34" charset="-122"/>
                <a:cs typeface="Calibri" pitchFamily="34" charset="-120"/>
              </a:rPr>
              <a:t>Logisitc</a:t>
            </a:r>
            <a:r>
              <a:rPr lang="en-US" sz="1200" dirty="0">
                <a:solidFill>
                  <a:srgbClr val="4A5568"/>
                </a:solidFill>
                <a:latin typeface="Calibri" pitchFamily="34" charset="0"/>
                <a:ea typeface="Calibri" pitchFamily="34" charset="-122"/>
                <a:cs typeface="Calibri" pitchFamily="34" charset="-120"/>
              </a:rPr>
              <a:t> Regression benefits from more features than KNN</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lbfgs was substantially faster than saga at comparable accuracy</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Logistic Regression clearly lagged behind </a:t>
            </a:r>
            <a:r>
              <a:rPr lang="en-US" altLang="zh-CN" sz="1200" dirty="0">
                <a:solidFill>
                  <a:srgbClr val="4A5568"/>
                </a:solidFill>
                <a:latin typeface="Calibri" pitchFamily="34" charset="0"/>
                <a:ea typeface="Calibri" pitchFamily="34" charset="-122"/>
                <a:cs typeface="Calibri" pitchFamily="34" charset="-120"/>
              </a:rPr>
              <a:t>KNN</a:t>
            </a:r>
            <a:r>
              <a:rPr lang="en-US" sz="1200" dirty="0">
                <a:solidFill>
                  <a:srgbClr val="4A5568"/>
                </a:solidFill>
                <a:latin typeface="Calibri" pitchFamily="34" charset="0"/>
                <a:ea typeface="Calibri" pitchFamily="34" charset="-122"/>
                <a:cs typeface="Calibri" pitchFamily="34" charset="-120"/>
              </a:rPr>
              <a:t> — linear boundary is limiting on MNIST</a:t>
            </a:r>
            <a:endParaRPr lang="en-US" sz="1200" dirty="0"/>
          </a:p>
        </p:txBody>
      </p:sp>
      <p:sp>
        <p:nvSpPr>
          <p:cNvPr id="13" name="Shape 11"/>
          <p:cNvSpPr/>
          <p:nvPr/>
        </p:nvSpPr>
        <p:spPr>
          <a:xfrm>
            <a:off x="548640" y="3977640"/>
            <a:ext cx="8046720" cy="731520"/>
          </a:xfrm>
          <a:prstGeom prst="rect">
            <a:avLst/>
          </a:prstGeom>
          <a:solidFill>
            <a:srgbClr val="1E2761"/>
          </a:solidFill>
          <a:ln/>
        </p:spPr>
        <p:txBody>
          <a:bodyPr/>
          <a:lstStyle/>
          <a:p>
            <a:endParaRPr lang="zh-SG" altLang="en-US"/>
          </a:p>
        </p:txBody>
      </p:sp>
      <p:sp>
        <p:nvSpPr>
          <p:cNvPr id="14" name="Text 12"/>
          <p:cNvSpPr/>
          <p:nvPr/>
        </p:nvSpPr>
        <p:spPr>
          <a:xfrm>
            <a:off x="731520" y="3977640"/>
            <a:ext cx="7680960" cy="73152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Test Accuracy: </a:t>
            </a:r>
            <a:r>
              <a:rPr lang="en-US" sz="2600" b="1" dirty="0">
                <a:solidFill>
                  <a:srgbClr val="E8B931"/>
                </a:solidFill>
                <a:latin typeface="Calibri" pitchFamily="34" charset="0"/>
                <a:ea typeface="Calibri" pitchFamily="34" charset="-122"/>
                <a:cs typeface="Calibri" pitchFamily="34" charset="-120"/>
              </a:rPr>
              <a:t>92.27%</a:t>
            </a:r>
            <a:r>
              <a:rPr lang="en-US" sz="1300" dirty="0">
                <a:solidFill>
                  <a:srgbClr val="8A94A6"/>
                </a:solidFill>
                <a:latin typeface="Calibri" pitchFamily="34" charset="0"/>
                <a:ea typeface="Calibri" pitchFamily="34" charset="-122"/>
                <a:cs typeface="Calibri" pitchFamily="34" charset="-120"/>
              </a:rPr>
              <a:t>     Train: 0.86s  |  Predict: 0.008s</a:t>
            </a:r>
            <a:endParaRPr lang="en-US" sz="1800" dirty="0"/>
          </a:p>
        </p:txBody>
      </p:sp>
      <p:sp>
        <p:nvSpPr>
          <p:cNvPr id="15" name="Text 13"/>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E358F580-F4BB-9B3D-FE89-4029D32C4DA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A67E4B0-AC1D-06F6-94FD-F750E8FEF12E}"/>
              </a:ext>
            </a:extLst>
          </p:cNvPr>
          <p:cNvSpPr/>
          <p:nvPr/>
        </p:nvSpPr>
        <p:spPr>
          <a:xfrm>
            <a:off x="731520" y="188261"/>
            <a:ext cx="7680960" cy="548640"/>
          </a:xfrm>
          <a:prstGeom prst="rect">
            <a:avLst/>
          </a:prstGeom>
          <a:noFill/>
          <a:ln/>
        </p:spPr>
        <p:txBody>
          <a:bodyPr wrap="square" lIns="0" tIns="0" rIns="0" bIns="0" rtlCol="0" anchor="ctr"/>
          <a:lstStyle/>
          <a:p>
            <a:r>
              <a:rPr lang="en-US" sz="2600" b="1" dirty="0">
                <a:solidFill>
                  <a:srgbClr val="1E2761"/>
                </a:solidFill>
                <a:latin typeface="Georgia" pitchFamily="34" charset="0"/>
                <a:ea typeface="Georgia" pitchFamily="34" charset="-122"/>
                <a:cs typeface="Georgia" pitchFamily="34" charset="-120"/>
              </a:rPr>
              <a:t>Logistic Regression — </a:t>
            </a:r>
            <a:r>
              <a:rPr lang="en-US" altLang="zh-SG" sz="2400" b="1" dirty="0" err="1">
                <a:solidFill>
                  <a:srgbClr val="1E2761"/>
                </a:solidFill>
                <a:latin typeface="Georgia" pitchFamily="34" charset="0"/>
              </a:rPr>
              <a:t>GridSearchCV</a:t>
            </a:r>
            <a:r>
              <a:rPr lang="zh-CN" altLang="en-US" sz="2400" b="1" dirty="0">
                <a:solidFill>
                  <a:srgbClr val="1E2761"/>
                </a:solidFill>
                <a:latin typeface="Georgia" pitchFamily="34" charset="0"/>
              </a:rPr>
              <a:t> </a:t>
            </a:r>
            <a:r>
              <a:rPr lang="en-US" altLang="zh-CN" sz="2400" b="1" dirty="0">
                <a:solidFill>
                  <a:srgbClr val="1E2761"/>
                </a:solidFill>
                <a:latin typeface="Georgia" pitchFamily="34" charset="0"/>
              </a:rPr>
              <a:t>Result</a:t>
            </a:r>
          </a:p>
        </p:txBody>
      </p:sp>
      <p:sp>
        <p:nvSpPr>
          <p:cNvPr id="3" name="Shape 1">
            <a:extLst>
              <a:ext uri="{FF2B5EF4-FFF2-40B4-BE49-F238E27FC236}">
                <a16:creationId xmlns:a16="http://schemas.microsoft.com/office/drawing/2014/main" id="{D0F547F4-6F9E-06CF-CFB0-D1D04670FEF9}"/>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15" name="Text 13">
            <a:extLst>
              <a:ext uri="{FF2B5EF4-FFF2-40B4-BE49-F238E27FC236}">
                <a16:creationId xmlns:a16="http://schemas.microsoft.com/office/drawing/2014/main" id="{BFF6B784-9154-4522-A576-D6CCD31B2CF0}"/>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17" name="图片 16">
            <a:extLst>
              <a:ext uri="{FF2B5EF4-FFF2-40B4-BE49-F238E27FC236}">
                <a16:creationId xmlns:a16="http://schemas.microsoft.com/office/drawing/2014/main" id="{7977B3C2-BF63-8641-9006-0807541279FF}"/>
              </a:ext>
            </a:extLst>
          </p:cNvPr>
          <p:cNvPicPr>
            <a:picLocks noChangeAspect="1"/>
          </p:cNvPicPr>
          <p:nvPr/>
        </p:nvPicPr>
        <p:blipFill>
          <a:blip r:embed="rId3"/>
          <a:stretch>
            <a:fillRect/>
          </a:stretch>
        </p:blipFill>
        <p:spPr>
          <a:xfrm>
            <a:off x="282271" y="942000"/>
            <a:ext cx="8579458" cy="2126243"/>
          </a:xfrm>
          <a:prstGeom prst="rect">
            <a:avLst/>
          </a:prstGeom>
        </p:spPr>
      </p:pic>
      <p:pic>
        <p:nvPicPr>
          <p:cNvPr id="19" name="图片 18">
            <a:extLst>
              <a:ext uri="{FF2B5EF4-FFF2-40B4-BE49-F238E27FC236}">
                <a16:creationId xmlns:a16="http://schemas.microsoft.com/office/drawing/2014/main" id="{2C4532C0-1052-DE14-09E5-E4AE8EB0161A}"/>
              </a:ext>
            </a:extLst>
          </p:cNvPr>
          <p:cNvPicPr>
            <a:picLocks noChangeAspect="1"/>
          </p:cNvPicPr>
          <p:nvPr/>
        </p:nvPicPr>
        <p:blipFill>
          <a:blip r:embed="rId4"/>
          <a:stretch>
            <a:fillRect/>
          </a:stretch>
        </p:blipFill>
        <p:spPr>
          <a:xfrm>
            <a:off x="113261" y="3138378"/>
            <a:ext cx="8917478" cy="1926230"/>
          </a:xfrm>
          <a:prstGeom prst="rect">
            <a:avLst/>
          </a:prstGeom>
        </p:spPr>
      </p:pic>
      <p:sp>
        <p:nvSpPr>
          <p:cNvPr id="5" name="文本框 4">
            <a:extLst>
              <a:ext uri="{FF2B5EF4-FFF2-40B4-BE49-F238E27FC236}">
                <a16:creationId xmlns:a16="http://schemas.microsoft.com/office/drawing/2014/main" id="{5B6F6E2C-9354-89AA-31C4-0E01AAB04380}"/>
              </a:ext>
            </a:extLst>
          </p:cNvPr>
          <p:cNvSpPr txBox="1"/>
          <p:nvPr/>
        </p:nvSpPr>
        <p:spPr>
          <a:xfrm>
            <a:off x="638175" y="564006"/>
            <a:ext cx="4572000" cy="338554"/>
          </a:xfrm>
          <a:prstGeom prst="rect">
            <a:avLst/>
          </a:prstGeom>
          <a:noFill/>
        </p:spPr>
        <p:txBody>
          <a:bodyPr wrap="square">
            <a:spAutoFit/>
          </a:bodyPr>
          <a:lstStyle/>
          <a:p>
            <a:r>
              <a:rPr lang="en-US" altLang="zh-SG" sz="1600" dirty="0">
                <a:solidFill>
                  <a:srgbClr val="1E2761"/>
                </a:solidFill>
                <a:latin typeface="Georgia" pitchFamily="34" charset="0"/>
              </a:rPr>
              <a:t>Best results: </a:t>
            </a:r>
            <a:r>
              <a:rPr lang="en-US" altLang="zh-CN" sz="1600" dirty="0">
                <a:solidFill>
                  <a:srgbClr val="1E2761"/>
                </a:solidFill>
                <a:latin typeface="Georgia" pitchFamily="34" charset="0"/>
              </a:rPr>
              <a:t>C</a:t>
            </a:r>
            <a:r>
              <a:rPr lang="en-US" altLang="zh-SG" sz="1600" dirty="0">
                <a:solidFill>
                  <a:srgbClr val="1E2761"/>
                </a:solidFill>
                <a:latin typeface="Georgia" pitchFamily="34" charset="0"/>
              </a:rPr>
              <a:t>=</a:t>
            </a:r>
            <a:r>
              <a:rPr lang="en-US" altLang="zh-CN" sz="1600" dirty="0">
                <a:solidFill>
                  <a:srgbClr val="1E2761"/>
                </a:solidFill>
                <a:latin typeface="Georgia" pitchFamily="34" charset="0"/>
              </a:rPr>
              <a:t>0.1</a:t>
            </a:r>
            <a:r>
              <a:rPr lang="en-US" altLang="zh-SG" sz="1600" dirty="0">
                <a:solidFill>
                  <a:srgbClr val="1E2761"/>
                </a:solidFill>
                <a:latin typeface="Georgia" pitchFamily="34" charset="0"/>
              </a:rPr>
              <a:t> with PCA retention 0.9</a:t>
            </a:r>
            <a:r>
              <a:rPr lang="en-US" altLang="zh-CN" sz="1600" dirty="0">
                <a:solidFill>
                  <a:srgbClr val="1E2761"/>
                </a:solidFill>
                <a:latin typeface="Georgia" pitchFamily="34" charset="0"/>
              </a:rPr>
              <a:t>9</a:t>
            </a:r>
            <a:endParaRPr lang="en-US" altLang="zh-SG" sz="1600" dirty="0">
              <a:solidFill>
                <a:srgbClr val="1E2761"/>
              </a:solidFill>
              <a:latin typeface="Georgia" pitchFamily="34" charset="0"/>
            </a:endParaRPr>
          </a:p>
        </p:txBody>
      </p:sp>
    </p:spTree>
    <p:extLst>
      <p:ext uri="{BB962C8B-B14F-4D97-AF65-F5344CB8AC3E}">
        <p14:creationId xmlns:p14="http://schemas.microsoft.com/office/powerpoint/2010/main" val="320959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33AC5-497D-5C4E-DC8B-2EA6D3E4B25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AF257A9-A75C-5AA7-4620-2D5EF287D237}"/>
              </a:ext>
            </a:extLst>
          </p:cNvPr>
          <p:cNvSpPr/>
          <p:nvPr/>
        </p:nvSpPr>
        <p:spPr>
          <a:xfrm>
            <a:off x="731520" y="320040"/>
            <a:ext cx="7863840" cy="548640"/>
          </a:xfrm>
          <a:prstGeom prst="rect">
            <a:avLst/>
          </a:prstGeom>
          <a:noFill/>
          <a:ln/>
        </p:spPr>
        <p:txBody>
          <a:bodyPr wrap="square" lIns="0" tIns="0" rIns="0" bIns="0" rtlCol="0" anchor="ctr"/>
          <a:lstStyle/>
          <a:p>
            <a:r>
              <a:rPr lang="en-US" altLang="zh-SG" sz="2400" b="1" dirty="0">
                <a:solidFill>
                  <a:srgbClr val="1E2761"/>
                </a:solidFill>
                <a:latin typeface="Georgia" pitchFamily="34" charset="0"/>
                <a:ea typeface="Georgia" pitchFamily="34" charset="-122"/>
                <a:cs typeface="Georgia" pitchFamily="34" charset="-120"/>
              </a:rPr>
              <a:t>Logistic Regression</a:t>
            </a:r>
            <a:r>
              <a:rPr lang="en-US" sz="2400" b="1" dirty="0">
                <a:solidFill>
                  <a:srgbClr val="1E2761"/>
                </a:solidFill>
                <a:latin typeface="Georgia" pitchFamily="34" charset="0"/>
                <a:ea typeface="Georgia" pitchFamily="34" charset="-122"/>
                <a:cs typeface="Georgia" pitchFamily="34" charset="-120"/>
              </a:rPr>
              <a:t> — Results</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&amp;</a:t>
            </a:r>
            <a:r>
              <a:rPr lang="en-US" sz="2400" b="1" dirty="0">
                <a:solidFill>
                  <a:srgbClr val="1E2761"/>
                </a:solidFill>
                <a:latin typeface="Georgia" pitchFamily="34" charset="0"/>
                <a:ea typeface="Georgia" pitchFamily="34" charset="-122"/>
                <a:cs typeface="Georgia" pitchFamily="34" charset="-120"/>
              </a:rPr>
              <a:t>Key Observations</a:t>
            </a:r>
            <a:endParaRPr lang="en-US" sz="2400" dirty="0"/>
          </a:p>
        </p:txBody>
      </p:sp>
      <p:sp>
        <p:nvSpPr>
          <p:cNvPr id="3" name="Shape 1">
            <a:extLst>
              <a:ext uri="{FF2B5EF4-FFF2-40B4-BE49-F238E27FC236}">
                <a16:creationId xmlns:a16="http://schemas.microsoft.com/office/drawing/2014/main" id="{5C6FA995-39BE-67C5-1760-21A942DB1141}"/>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Text 2">
            <a:extLst>
              <a:ext uri="{FF2B5EF4-FFF2-40B4-BE49-F238E27FC236}">
                <a16:creationId xmlns:a16="http://schemas.microsoft.com/office/drawing/2014/main" id="{EF1F58A6-3F53-4A3D-AF82-5A156E3E14BD}"/>
              </a:ext>
            </a:extLst>
          </p:cNvPr>
          <p:cNvSpPr/>
          <p:nvPr/>
        </p:nvSpPr>
        <p:spPr>
          <a:xfrm>
            <a:off x="548640" y="1188720"/>
            <a:ext cx="4202430" cy="2023258"/>
          </a:xfrm>
          <a:prstGeom prst="rect">
            <a:avLst/>
          </a:prstGeom>
          <a:noFill/>
          <a:ln/>
        </p:spPr>
        <p:txBody>
          <a:bodyPr wrap="square" rtlCol="0" anchor="ctr"/>
          <a:lstStyle/>
          <a:p>
            <a:pPr marL="342900" indent="-342900">
              <a:spcAft>
                <a:spcPts val="1000"/>
              </a:spcAft>
              <a:buSzPct val="100000"/>
              <a:buChar char="•"/>
            </a:pPr>
            <a:r>
              <a:rPr lang="en-US" altLang="zh-SG" sz="1500" dirty="0">
                <a:solidFill>
                  <a:srgbClr val="4A5568"/>
                </a:solidFill>
                <a:latin typeface="Calibri" pitchFamily="34" charset="0"/>
                <a:ea typeface="Calibri" pitchFamily="34" charset="-122"/>
                <a:cs typeface="Calibri" pitchFamily="34" charset="-120"/>
              </a:rPr>
              <a:t>9</a:t>
            </a:r>
            <a:r>
              <a:rPr lang="en-US" altLang="zh-CN" sz="1500" dirty="0">
                <a:solidFill>
                  <a:srgbClr val="4A5568"/>
                </a:solidFill>
                <a:latin typeface="Calibri" pitchFamily="34" charset="0"/>
                <a:ea typeface="Calibri" pitchFamily="34" charset="-122"/>
                <a:cs typeface="Calibri" pitchFamily="34" charset="-120"/>
              </a:rPr>
              <a:t>9</a:t>
            </a:r>
            <a:r>
              <a:rPr lang="en-US" altLang="zh-SG" sz="1500" dirty="0">
                <a:solidFill>
                  <a:srgbClr val="4A5568"/>
                </a:solidFill>
                <a:latin typeface="Calibri" pitchFamily="34" charset="0"/>
                <a:ea typeface="Calibri" pitchFamily="34" charset="-122"/>
                <a:cs typeface="Calibri" pitchFamily="34" charset="-120"/>
              </a:rPr>
              <a:t>% PCA </a:t>
            </a:r>
            <a:r>
              <a:rPr lang="en-US" sz="1500" dirty="0">
                <a:solidFill>
                  <a:srgbClr val="4A5568"/>
                </a:solidFill>
                <a:latin typeface="Calibri" pitchFamily="34" charset="0"/>
                <a:ea typeface="Calibri" pitchFamily="34" charset="-122"/>
                <a:cs typeface="Calibri" pitchFamily="34" charset="-120"/>
              </a:rPr>
              <a:t>dominated the highest-ranked configurations.</a:t>
            </a:r>
          </a:p>
          <a:p>
            <a:pPr marL="342900" indent="-342900">
              <a:spcAft>
                <a:spcPts val="1000"/>
              </a:spcAft>
              <a:buSzPct val="100000"/>
              <a:buChar char="•"/>
            </a:pPr>
            <a:r>
              <a:rPr lang="en-US" sz="1500" dirty="0" err="1">
                <a:solidFill>
                  <a:srgbClr val="4A5568"/>
                </a:solidFill>
                <a:latin typeface="Calibri" pitchFamily="34" charset="0"/>
                <a:ea typeface="Calibri" pitchFamily="34" charset="-122"/>
                <a:cs typeface="Calibri" pitchFamily="34" charset="-120"/>
              </a:rPr>
              <a:t>lbfgs</a:t>
            </a:r>
            <a:r>
              <a:rPr lang="en-US" sz="1500" dirty="0">
                <a:solidFill>
                  <a:srgbClr val="4A5568"/>
                </a:solidFill>
                <a:latin typeface="Calibri" pitchFamily="34" charset="0"/>
                <a:ea typeface="Calibri" pitchFamily="34" charset="-122"/>
                <a:cs typeface="Calibri" pitchFamily="34" charset="-120"/>
              </a:rPr>
              <a:t> and saga produced very similar validation accuracy near the top of the table.</a:t>
            </a:r>
          </a:p>
          <a:p>
            <a:pPr marL="342900" indent="-342900">
              <a:spcAft>
                <a:spcPts val="1000"/>
              </a:spcAft>
              <a:buSzPct val="100000"/>
              <a:buChar char="•"/>
            </a:pPr>
            <a:r>
              <a:rPr lang="en-US" sz="1500" dirty="0" err="1">
                <a:solidFill>
                  <a:srgbClr val="4A5568"/>
                </a:solidFill>
                <a:latin typeface="Calibri" pitchFamily="34" charset="0"/>
                <a:ea typeface="Calibri" pitchFamily="34" charset="-122"/>
                <a:cs typeface="Calibri" pitchFamily="34" charset="-120"/>
              </a:rPr>
              <a:t>lbfgs</a:t>
            </a:r>
            <a:r>
              <a:rPr lang="en-US" sz="1500" dirty="0">
                <a:solidFill>
                  <a:srgbClr val="4A5568"/>
                </a:solidFill>
                <a:latin typeface="Calibri" pitchFamily="34" charset="0"/>
                <a:ea typeface="Calibri" pitchFamily="34" charset="-122"/>
                <a:cs typeface="Calibri" pitchFamily="34" charset="-120"/>
              </a:rPr>
              <a:t> was substantially faster than saga for comparable accuracy, making it the better practical choice here.</a:t>
            </a:r>
          </a:p>
        </p:txBody>
      </p:sp>
      <p:sp>
        <p:nvSpPr>
          <p:cNvPr id="5" name="Shape 3">
            <a:extLst>
              <a:ext uri="{FF2B5EF4-FFF2-40B4-BE49-F238E27FC236}">
                <a16:creationId xmlns:a16="http://schemas.microsoft.com/office/drawing/2014/main" id="{CC4C684D-6A89-DCC6-A98C-8E9761D16843}"/>
              </a:ext>
            </a:extLst>
          </p:cNvPr>
          <p:cNvSpPr/>
          <p:nvPr/>
        </p:nvSpPr>
        <p:spPr>
          <a:xfrm>
            <a:off x="548640" y="3665217"/>
            <a:ext cx="804672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6" name="Shape 4">
            <a:extLst>
              <a:ext uri="{FF2B5EF4-FFF2-40B4-BE49-F238E27FC236}">
                <a16:creationId xmlns:a16="http://schemas.microsoft.com/office/drawing/2014/main" id="{DD14A234-85EF-A23A-A6B8-7585539AC8C0}"/>
              </a:ext>
            </a:extLst>
          </p:cNvPr>
          <p:cNvSpPr/>
          <p:nvPr/>
        </p:nvSpPr>
        <p:spPr>
          <a:xfrm>
            <a:off x="548640" y="3665217"/>
            <a:ext cx="64008" cy="1005840"/>
          </a:xfrm>
          <a:prstGeom prst="rect">
            <a:avLst/>
          </a:prstGeom>
          <a:solidFill>
            <a:srgbClr val="E8B931"/>
          </a:solidFill>
          <a:ln/>
        </p:spPr>
        <p:txBody>
          <a:bodyPr/>
          <a:lstStyle/>
          <a:p>
            <a:endParaRPr lang="zh-SG" altLang="en-US"/>
          </a:p>
        </p:txBody>
      </p:sp>
      <p:sp>
        <p:nvSpPr>
          <p:cNvPr id="7" name="Text 5">
            <a:extLst>
              <a:ext uri="{FF2B5EF4-FFF2-40B4-BE49-F238E27FC236}">
                <a16:creationId xmlns:a16="http://schemas.microsoft.com/office/drawing/2014/main" id="{36A8E45B-1686-FD5A-8CEA-8DACE649812F}"/>
              </a:ext>
            </a:extLst>
          </p:cNvPr>
          <p:cNvSpPr/>
          <p:nvPr/>
        </p:nvSpPr>
        <p:spPr>
          <a:xfrm>
            <a:off x="777240" y="3710937"/>
            <a:ext cx="1828800" cy="320040"/>
          </a:xfrm>
          <a:prstGeom prst="rect">
            <a:avLst/>
          </a:prstGeom>
          <a:noFill/>
          <a:ln/>
        </p:spPr>
        <p:txBody>
          <a:bodyPr wrap="square" lIns="0" tIns="0" rIns="0" bIns="0" rtlCol="0" anchor="ctr"/>
          <a:lstStyle/>
          <a:p>
            <a:pPr marL="0" indent="0">
              <a:buNone/>
            </a:pPr>
            <a:r>
              <a:rPr lang="en-US" sz="1400" b="1" i="1" dirty="0">
                <a:solidFill>
                  <a:srgbClr val="1E2761"/>
                </a:solidFill>
                <a:latin typeface="Georgia" pitchFamily="34" charset="0"/>
                <a:ea typeface="Georgia" pitchFamily="34" charset="-122"/>
                <a:cs typeface="Georgia" pitchFamily="34" charset="-120"/>
              </a:rPr>
              <a:t>Insight</a:t>
            </a:r>
            <a:endParaRPr lang="en-US" sz="1400" dirty="0"/>
          </a:p>
        </p:txBody>
      </p:sp>
      <p:sp>
        <p:nvSpPr>
          <p:cNvPr id="8" name="Text 6">
            <a:extLst>
              <a:ext uri="{FF2B5EF4-FFF2-40B4-BE49-F238E27FC236}">
                <a16:creationId xmlns:a16="http://schemas.microsoft.com/office/drawing/2014/main" id="{61069B2C-FB72-BF2B-92EB-BEC64A603DAF}"/>
              </a:ext>
            </a:extLst>
          </p:cNvPr>
          <p:cNvSpPr/>
          <p:nvPr/>
        </p:nvSpPr>
        <p:spPr>
          <a:xfrm>
            <a:off x="777240" y="4030977"/>
            <a:ext cx="7589520" cy="548640"/>
          </a:xfrm>
          <a:prstGeom prst="rect">
            <a:avLst/>
          </a:prstGeom>
          <a:noFill/>
          <a:ln/>
        </p:spPr>
        <p:txBody>
          <a:bodyPr wrap="square" lIns="0" tIns="0" rIns="0" bIns="0" rtlCol="0" anchor="ctr"/>
          <a:lstStyle/>
          <a:p>
            <a:r>
              <a:rPr lang="en-US" sz="1200" dirty="0">
                <a:solidFill>
                  <a:srgbClr val="4A5568"/>
                </a:solidFill>
                <a:latin typeface="Calibri" pitchFamily="34" charset="0"/>
                <a:ea typeface="Calibri" pitchFamily="34" charset="-122"/>
                <a:cs typeface="Calibri" pitchFamily="34" charset="-120"/>
              </a:rPr>
              <a:t>Logistic Regression remained clearly below KNN, indicating that a linear decision boundary is limiting on this task even after PCA.</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Raw</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image</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info</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doesn’t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help</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on</a:t>
            </a:r>
            <a:r>
              <a:rPr lang="zh-CN" altLang="en-US" sz="1200" dirty="0">
                <a:solidFill>
                  <a:srgbClr val="4A5568"/>
                </a:solidFill>
                <a:latin typeface="Calibri" pitchFamily="34" charset="0"/>
                <a:ea typeface="Calibri" pitchFamily="34" charset="-122"/>
                <a:cs typeface="Calibri" pitchFamily="34" charset="-120"/>
              </a:rPr>
              <a:t> </a:t>
            </a:r>
            <a:r>
              <a:rPr lang="en-US" altLang="zh-SG" sz="1200" dirty="0">
                <a:solidFill>
                  <a:srgbClr val="4A5568"/>
                </a:solidFill>
                <a:latin typeface="Calibri" pitchFamily="34" charset="0"/>
                <a:ea typeface="Calibri" pitchFamily="34" charset="-122"/>
                <a:cs typeface="Calibri" pitchFamily="34" charset="-120"/>
              </a:rPr>
              <a:t>Logistic Regression</a:t>
            </a:r>
            <a:r>
              <a:rPr lang="en-US" altLang="zh-CN" sz="1200" dirty="0">
                <a:solidFill>
                  <a:srgbClr val="4A5568"/>
                </a:solidFill>
                <a:latin typeface="Calibri" pitchFamily="34" charset="0"/>
                <a:ea typeface="Calibri" pitchFamily="34" charset="-122"/>
                <a:cs typeface="Calibri" pitchFamily="34" charset="-120"/>
              </a:rPr>
              <a:t>.</a:t>
            </a:r>
            <a:endParaRPr lang="en-US" sz="1200" dirty="0">
              <a:solidFill>
                <a:srgbClr val="4A5568"/>
              </a:solidFill>
              <a:latin typeface="Calibri" pitchFamily="34" charset="0"/>
              <a:ea typeface="Calibri" pitchFamily="34" charset="-122"/>
              <a:cs typeface="Calibri" pitchFamily="34" charset="-120"/>
            </a:endParaRPr>
          </a:p>
        </p:txBody>
      </p:sp>
      <p:sp>
        <p:nvSpPr>
          <p:cNvPr id="9" name="Text 7">
            <a:extLst>
              <a:ext uri="{FF2B5EF4-FFF2-40B4-BE49-F238E27FC236}">
                <a16:creationId xmlns:a16="http://schemas.microsoft.com/office/drawing/2014/main" id="{4088F7E7-D554-E79F-2634-6988E379FAB8}"/>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graphicFrame>
        <p:nvGraphicFramePr>
          <p:cNvPr id="10" name="表格 9">
            <a:extLst>
              <a:ext uri="{FF2B5EF4-FFF2-40B4-BE49-F238E27FC236}">
                <a16:creationId xmlns:a16="http://schemas.microsoft.com/office/drawing/2014/main" id="{ECF2BC7B-388A-D95C-23B7-5EE90E15A1D4}"/>
              </a:ext>
            </a:extLst>
          </p:cNvPr>
          <p:cNvGraphicFramePr>
            <a:graphicFrameLocks noGrp="1"/>
          </p:cNvGraphicFramePr>
          <p:nvPr>
            <p:extLst>
              <p:ext uri="{D42A27DB-BD31-4B8C-83A1-F6EECF244321}">
                <p14:modId xmlns:p14="http://schemas.microsoft.com/office/powerpoint/2010/main" val="2930828086"/>
              </p:ext>
            </p:extLst>
          </p:nvPr>
        </p:nvGraphicFramePr>
        <p:xfrm>
          <a:off x="5524880" y="947704"/>
          <a:ext cx="3217545" cy="2763233"/>
        </p:xfrm>
        <a:graphic>
          <a:graphicData uri="http://schemas.openxmlformats.org/drawingml/2006/table">
            <a:tbl>
              <a:tblPr firstRow="1" bandRow="1">
                <a:tableStyleId>{5C22544A-7EE6-4342-B048-85BDC9FD1C3A}</a:tableStyleId>
              </a:tblPr>
              <a:tblGrid>
                <a:gridCol w="643509">
                  <a:extLst>
                    <a:ext uri="{9D8B030D-6E8A-4147-A177-3AD203B41FA5}">
                      <a16:colId xmlns:a16="http://schemas.microsoft.com/office/drawing/2014/main" val="1846061308"/>
                    </a:ext>
                  </a:extLst>
                </a:gridCol>
                <a:gridCol w="643509">
                  <a:extLst>
                    <a:ext uri="{9D8B030D-6E8A-4147-A177-3AD203B41FA5}">
                      <a16:colId xmlns:a16="http://schemas.microsoft.com/office/drawing/2014/main" val="3943311280"/>
                    </a:ext>
                  </a:extLst>
                </a:gridCol>
                <a:gridCol w="643509">
                  <a:extLst>
                    <a:ext uri="{9D8B030D-6E8A-4147-A177-3AD203B41FA5}">
                      <a16:colId xmlns:a16="http://schemas.microsoft.com/office/drawing/2014/main" val="959947085"/>
                    </a:ext>
                  </a:extLst>
                </a:gridCol>
                <a:gridCol w="643509">
                  <a:extLst>
                    <a:ext uri="{9D8B030D-6E8A-4147-A177-3AD203B41FA5}">
                      <a16:colId xmlns:a16="http://schemas.microsoft.com/office/drawing/2014/main" val="145126520"/>
                    </a:ext>
                  </a:extLst>
                </a:gridCol>
                <a:gridCol w="643509">
                  <a:extLst>
                    <a:ext uri="{9D8B030D-6E8A-4147-A177-3AD203B41FA5}">
                      <a16:colId xmlns:a16="http://schemas.microsoft.com/office/drawing/2014/main" val="460027505"/>
                    </a:ext>
                  </a:extLst>
                </a:gridCol>
              </a:tblGrid>
              <a:tr h="251203">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Number</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precision</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recall</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f1-score</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support</a:t>
                      </a:r>
                    </a:p>
                  </a:txBody>
                  <a:tcPr marL="9525" marR="9525" marT="9525" marB="0" anchor="ctr"/>
                </a:tc>
                <a:extLst>
                  <a:ext uri="{0D108BD9-81ED-4DB2-BD59-A6C34878D82A}">
                    <a16:rowId xmlns:a16="http://schemas.microsoft.com/office/drawing/2014/main" val="1974485270"/>
                  </a:ext>
                </a:extLst>
              </a:tr>
              <a:tr h="251203">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986</a:t>
                      </a:r>
                    </a:p>
                  </a:txBody>
                  <a:tcPr marL="9525" marR="9525" marT="9525" marB="0" anchor="ctr"/>
                </a:tc>
                <a:extLst>
                  <a:ext uri="{0D108BD9-81ED-4DB2-BD59-A6C34878D82A}">
                    <a16:rowId xmlns:a16="http://schemas.microsoft.com/office/drawing/2014/main" val="802843601"/>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1</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1125</a:t>
                      </a:r>
                    </a:p>
                  </a:txBody>
                  <a:tcPr marL="9525" marR="9525" marT="9525" marB="0" anchor="ctr"/>
                </a:tc>
                <a:extLst>
                  <a:ext uri="{0D108BD9-81ED-4DB2-BD59-A6C34878D82A}">
                    <a16:rowId xmlns:a16="http://schemas.microsoft.com/office/drawing/2014/main" val="1908429243"/>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2</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0.92</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0.91</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999</a:t>
                      </a:r>
                    </a:p>
                  </a:txBody>
                  <a:tcPr marL="9525" marR="9525" marT="9525" marB="0" anchor="ctr"/>
                </a:tc>
                <a:extLst>
                  <a:ext uri="{0D108BD9-81ED-4DB2-BD59-A6C34878D82A}">
                    <a16:rowId xmlns:a16="http://schemas.microsoft.com/office/drawing/2014/main" val="3363249089"/>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3</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0.89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1020</a:t>
                      </a:r>
                    </a:p>
                  </a:txBody>
                  <a:tcPr marL="9525" marR="9525" marT="9525" marB="0" anchor="ctr"/>
                </a:tc>
                <a:extLst>
                  <a:ext uri="{0D108BD9-81ED-4DB2-BD59-A6C34878D82A}">
                    <a16:rowId xmlns:a16="http://schemas.microsoft.com/office/drawing/2014/main" val="2187704212"/>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4</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0.93</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0.93</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0.93</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975</a:t>
                      </a:r>
                    </a:p>
                  </a:txBody>
                  <a:tcPr marL="9525" marR="9525" marT="9525" marB="0" anchor="ctr"/>
                </a:tc>
                <a:extLst>
                  <a:ext uri="{0D108BD9-81ED-4DB2-BD59-A6C34878D82A}">
                    <a16:rowId xmlns:a16="http://schemas.microsoft.com/office/drawing/2014/main" val="1527674262"/>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5</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0.88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902</a:t>
                      </a:r>
                    </a:p>
                  </a:txBody>
                  <a:tcPr marL="9525" marR="9525" marT="9525" marB="0" anchor="ctr"/>
                </a:tc>
                <a:extLst>
                  <a:ext uri="{0D108BD9-81ED-4DB2-BD59-A6C34878D82A}">
                    <a16:rowId xmlns:a16="http://schemas.microsoft.com/office/drawing/2014/main" val="648610646"/>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0.93</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982</a:t>
                      </a:r>
                    </a:p>
                  </a:txBody>
                  <a:tcPr marL="9525" marR="9525" marT="9525" marB="0" anchor="ctr"/>
                </a:tc>
                <a:extLst>
                  <a:ext uri="{0D108BD9-81ED-4DB2-BD59-A6C34878D82A}">
                    <a16:rowId xmlns:a16="http://schemas.microsoft.com/office/drawing/2014/main" val="2525316651"/>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0.94</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0.94</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1042</a:t>
                      </a:r>
                    </a:p>
                  </a:txBody>
                  <a:tcPr marL="9525" marR="9525" marT="9525" marB="0" anchor="ctr"/>
                </a:tc>
                <a:extLst>
                  <a:ext uri="{0D108BD9-81ED-4DB2-BD59-A6C34878D82A}">
                    <a16:rowId xmlns:a16="http://schemas.microsoft.com/office/drawing/2014/main" val="796754018"/>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975</a:t>
                      </a:r>
                    </a:p>
                  </a:txBody>
                  <a:tcPr marL="9525" marR="9525" marT="9525" marB="0" anchor="ctr"/>
                </a:tc>
                <a:extLst>
                  <a:ext uri="{0D108BD9-81ED-4DB2-BD59-A6C34878D82A}">
                    <a16:rowId xmlns:a16="http://schemas.microsoft.com/office/drawing/2014/main" val="1105170078"/>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0.91</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994</a:t>
                      </a:r>
                    </a:p>
                  </a:txBody>
                  <a:tcPr marL="9525" marR="9525" marT="9525" marB="0" anchor="ctr"/>
                </a:tc>
                <a:extLst>
                  <a:ext uri="{0D108BD9-81ED-4DB2-BD59-A6C34878D82A}">
                    <a16:rowId xmlns:a16="http://schemas.microsoft.com/office/drawing/2014/main" val="706777954"/>
                  </a:ext>
                </a:extLst>
              </a:tr>
            </a:tbl>
          </a:graphicData>
        </a:graphic>
      </p:graphicFrame>
    </p:spTree>
    <p:extLst>
      <p:ext uri="{BB962C8B-B14F-4D97-AF65-F5344CB8AC3E}">
        <p14:creationId xmlns:p14="http://schemas.microsoft.com/office/powerpoint/2010/main" val="1518605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b="1" dirty="0">
                <a:solidFill>
                  <a:srgbClr val="E8B931"/>
                </a:solidFill>
                <a:latin typeface="Georgia" pitchFamily="34" charset="0"/>
                <a:ea typeface="Georgia" pitchFamily="34" charset="-122"/>
                <a:cs typeface="Georgia" pitchFamily="34" charset="-120"/>
              </a:rPr>
              <a:t>5</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r>
              <a:rPr lang="en-US" sz="3600" b="1" dirty="0">
                <a:solidFill>
                  <a:srgbClr val="FFFFFF"/>
                </a:solidFill>
                <a:latin typeface="Georgia" pitchFamily="34" charset="0"/>
                <a:ea typeface="Georgia" pitchFamily="34" charset="-122"/>
                <a:cs typeface="Georgia" pitchFamily="34" charset="-120"/>
              </a:rPr>
              <a:t>MLP Neural Network</a:t>
            </a:r>
            <a:r>
              <a:rPr lang="zh-CN" altLang="en-US" sz="3600" b="1" dirty="0">
                <a:solidFill>
                  <a:srgbClr val="FFFFFF"/>
                </a:solidFill>
                <a:latin typeface="Georgia" pitchFamily="34" charset="0"/>
                <a:ea typeface="Georgia" pitchFamily="34" charset="-122"/>
                <a:cs typeface="Georgia" pitchFamily="34" charset="-120"/>
              </a:rPr>
              <a:t> </a:t>
            </a:r>
            <a:r>
              <a:rPr lang="en-US" altLang="zh-CN" sz="3600" b="1" dirty="0">
                <a:solidFill>
                  <a:srgbClr val="FFFFFF"/>
                </a:solidFill>
                <a:latin typeface="Georgia" pitchFamily="34" charset="0"/>
                <a:ea typeface="Georgia" pitchFamily="34" charset="-122"/>
                <a:cs typeface="Georgia" pitchFamily="34" charset="-120"/>
              </a:rPr>
              <a:t>&amp;</a:t>
            </a:r>
            <a:r>
              <a:rPr lang="zh-CN" altLang="en-US" sz="3600" b="1" dirty="0">
                <a:solidFill>
                  <a:srgbClr val="FFFFFF"/>
                </a:solidFill>
                <a:latin typeface="Georgia" pitchFamily="34" charset="0"/>
                <a:ea typeface="Georgia" pitchFamily="34" charset="-122"/>
                <a:cs typeface="Georgia" pitchFamily="34" charset="-120"/>
              </a:rPr>
              <a:t> </a:t>
            </a:r>
            <a:r>
              <a:rPr lang="en-US" altLang="zh-CN" sz="3600" b="1" dirty="0">
                <a:solidFill>
                  <a:srgbClr val="FFFFFF"/>
                </a:solidFill>
                <a:latin typeface="Georgia" pitchFamily="34" charset="0"/>
                <a:ea typeface="Georgia" pitchFamily="34" charset="-122"/>
                <a:cs typeface="Georgia" pitchFamily="34" charset="-120"/>
              </a:rPr>
              <a:t>CNN</a:t>
            </a:r>
            <a:r>
              <a:rPr lang="zh-CN" altLang="en-US" sz="3600" b="1" dirty="0">
                <a:solidFill>
                  <a:srgbClr val="FFFFFF"/>
                </a:solidFill>
                <a:latin typeface="Georgia" pitchFamily="34" charset="0"/>
                <a:ea typeface="Georgia" pitchFamily="34" charset="-122"/>
                <a:cs typeface="Georgia" pitchFamily="34" charset="-120"/>
              </a:rPr>
              <a:t> </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r>
              <a:rPr lang="en-US" sz="2400" b="1" dirty="0">
                <a:solidFill>
                  <a:srgbClr val="1E2761"/>
                </a:solidFill>
                <a:latin typeface="Georgia" pitchFamily="34" charset="0"/>
                <a:ea typeface="Georgia" pitchFamily="34" charset="-122"/>
                <a:cs typeface="Georgia" pitchFamily="34" charset="-120"/>
              </a:rPr>
              <a:t>Neural</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Network</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Architecture</a:t>
            </a:r>
            <a:r>
              <a:rPr lang="zh-CN" altLang="en-US" sz="2400" b="1" dirty="0">
                <a:solidFill>
                  <a:srgbClr val="1E2761"/>
                </a:solidFill>
                <a:latin typeface="Georgia" pitchFamily="34" charset="0"/>
                <a:ea typeface="Georgia" pitchFamily="34" charset="-122"/>
                <a:cs typeface="Georgia" pitchFamily="34" charset="-120"/>
              </a:rPr>
              <a:t> </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15" name="Text 13"/>
          <p:cNvSpPr/>
          <p:nvPr/>
        </p:nvSpPr>
        <p:spPr>
          <a:xfrm>
            <a:off x="0" y="4721522"/>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
        <p:nvSpPr>
          <p:cNvPr id="16" name="圆角矩形 15">
            <a:extLst>
              <a:ext uri="{FF2B5EF4-FFF2-40B4-BE49-F238E27FC236}">
                <a16:creationId xmlns:a16="http://schemas.microsoft.com/office/drawing/2014/main" id="{C0A7B0AE-19F7-A144-EE31-F6FF9E6F833E}"/>
              </a:ext>
            </a:extLst>
          </p:cNvPr>
          <p:cNvSpPr/>
          <p:nvPr/>
        </p:nvSpPr>
        <p:spPr>
          <a:xfrm>
            <a:off x="440663" y="1459151"/>
            <a:ext cx="581714" cy="894944"/>
          </a:xfrm>
          <a:prstGeom prst="roundRect">
            <a:avLst/>
          </a:prstGeom>
          <a:solidFill>
            <a:srgbClr val="1E2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200" dirty="0"/>
              <a:t>I</a:t>
            </a:r>
            <a:r>
              <a:rPr kumimoji="1" lang="en-US" altLang="zh-CN" sz="1200" dirty="0"/>
              <a:t>nput</a:t>
            </a:r>
          </a:p>
          <a:p>
            <a:pPr algn="ctr"/>
            <a:r>
              <a:rPr kumimoji="1" lang="en-US" altLang="zh-CN" sz="1200" dirty="0"/>
              <a:t>784</a:t>
            </a:r>
            <a:endParaRPr kumimoji="1" lang="zh-SG" altLang="en-US" sz="1200" dirty="0"/>
          </a:p>
        </p:txBody>
      </p:sp>
      <p:sp>
        <p:nvSpPr>
          <p:cNvPr id="22" name="圆角矩形 21">
            <a:extLst>
              <a:ext uri="{FF2B5EF4-FFF2-40B4-BE49-F238E27FC236}">
                <a16:creationId xmlns:a16="http://schemas.microsoft.com/office/drawing/2014/main" id="{6BD16F08-D84C-CDCD-964F-00BD68207B29}"/>
              </a:ext>
            </a:extLst>
          </p:cNvPr>
          <p:cNvSpPr/>
          <p:nvPr/>
        </p:nvSpPr>
        <p:spPr>
          <a:xfrm>
            <a:off x="8219871" y="1452801"/>
            <a:ext cx="622571" cy="894944"/>
          </a:xfrm>
          <a:prstGeom prst="roundRect">
            <a:avLst/>
          </a:prstGeom>
          <a:solidFill>
            <a:srgbClr val="1E2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00" dirty="0"/>
              <a:t>O</a:t>
            </a:r>
            <a:r>
              <a:rPr kumimoji="1" lang="en-US" altLang="zh-CN" sz="1000" dirty="0"/>
              <a:t>utput</a:t>
            </a:r>
          </a:p>
          <a:p>
            <a:pPr algn="ctr"/>
            <a:r>
              <a:rPr kumimoji="1" lang="en-US" altLang="zh-CN" sz="1000" dirty="0"/>
              <a:t>10</a:t>
            </a:r>
          </a:p>
          <a:p>
            <a:pPr algn="ctr"/>
            <a:r>
              <a:rPr kumimoji="1" lang="en-US" altLang="zh-CN" sz="1000" dirty="0"/>
              <a:t>classes</a:t>
            </a:r>
          </a:p>
        </p:txBody>
      </p:sp>
      <p:grpSp>
        <p:nvGrpSpPr>
          <p:cNvPr id="49" name="组合 48">
            <a:extLst>
              <a:ext uri="{FF2B5EF4-FFF2-40B4-BE49-F238E27FC236}">
                <a16:creationId xmlns:a16="http://schemas.microsoft.com/office/drawing/2014/main" id="{44DC6BD2-1CBF-FA8A-5160-BEC23A463D97}"/>
              </a:ext>
            </a:extLst>
          </p:cNvPr>
          <p:cNvGrpSpPr/>
          <p:nvPr/>
        </p:nvGrpSpPr>
        <p:grpSpPr>
          <a:xfrm>
            <a:off x="1176722" y="970199"/>
            <a:ext cx="1956393" cy="1383896"/>
            <a:chOff x="1176722" y="921559"/>
            <a:chExt cx="1956393" cy="1383896"/>
          </a:xfrm>
        </p:grpSpPr>
        <p:sp>
          <p:nvSpPr>
            <p:cNvPr id="17" name="圆角矩形 16">
              <a:extLst>
                <a:ext uri="{FF2B5EF4-FFF2-40B4-BE49-F238E27FC236}">
                  <a16:creationId xmlns:a16="http://schemas.microsoft.com/office/drawing/2014/main" id="{B2B1019E-C230-0F15-74FF-137CA9CA9FF7}"/>
                </a:ext>
              </a:extLst>
            </p:cNvPr>
            <p:cNvSpPr/>
            <p:nvPr/>
          </p:nvSpPr>
          <p:spPr>
            <a:xfrm>
              <a:off x="1176722" y="1410511"/>
              <a:ext cx="581714"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L</a:t>
              </a:r>
              <a:r>
                <a:rPr kumimoji="1" lang="en-US" altLang="zh-CN" sz="1050" dirty="0"/>
                <a:t>inear</a:t>
              </a:r>
            </a:p>
            <a:p>
              <a:pPr algn="ctr"/>
              <a:r>
                <a:rPr kumimoji="1" lang="en-US" altLang="zh-CN" sz="1050" dirty="0"/>
                <a:t>784-&gt;</a:t>
              </a:r>
            </a:p>
            <a:p>
              <a:pPr algn="ctr"/>
              <a:r>
                <a:rPr kumimoji="1" lang="en-US" altLang="zh-CN" sz="1050" dirty="0"/>
                <a:t>512</a:t>
              </a:r>
              <a:endParaRPr kumimoji="1" lang="zh-SG" altLang="en-US" sz="1050" dirty="0"/>
            </a:p>
          </p:txBody>
        </p:sp>
        <p:sp>
          <p:nvSpPr>
            <p:cNvPr id="18" name="圆角矩形 17">
              <a:extLst>
                <a:ext uri="{FF2B5EF4-FFF2-40B4-BE49-F238E27FC236}">
                  <a16:creationId xmlns:a16="http://schemas.microsoft.com/office/drawing/2014/main" id="{2A0C02DD-80AA-F9D3-BBD3-38532F75C9F7}"/>
                </a:ext>
              </a:extLst>
            </p:cNvPr>
            <p:cNvSpPr/>
            <p:nvPr/>
          </p:nvSpPr>
          <p:spPr>
            <a:xfrm>
              <a:off x="1912781" y="1410511"/>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200" dirty="0"/>
                <a:t>B</a:t>
              </a:r>
              <a:r>
                <a:rPr kumimoji="1" lang="en-US" altLang="zh-CN" sz="1200" dirty="0"/>
                <a:t>N</a:t>
              </a:r>
              <a:endParaRPr kumimoji="1" lang="zh-SG" altLang="en-US" sz="1200" dirty="0"/>
            </a:p>
          </p:txBody>
        </p:sp>
        <p:sp>
          <p:nvSpPr>
            <p:cNvPr id="19" name="圆角矩形 18">
              <a:extLst>
                <a:ext uri="{FF2B5EF4-FFF2-40B4-BE49-F238E27FC236}">
                  <a16:creationId xmlns:a16="http://schemas.microsoft.com/office/drawing/2014/main" id="{FD41E1D9-32E0-EC02-5C37-00E82855BE98}"/>
                </a:ext>
              </a:extLst>
            </p:cNvPr>
            <p:cNvSpPr/>
            <p:nvPr/>
          </p:nvSpPr>
          <p:spPr>
            <a:xfrm>
              <a:off x="2353769" y="1410511"/>
              <a:ext cx="286643" cy="894944"/>
            </a:xfrm>
            <a:prstGeom prst="roundRect">
              <a:avLst/>
            </a:prstGeom>
            <a:solidFill>
              <a:srgbClr val="E9B9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err="1"/>
                <a:t>R</a:t>
              </a:r>
              <a:r>
                <a:rPr kumimoji="1" lang="en-US" altLang="zh-CN" sz="1050" dirty="0" err="1"/>
                <a:t>eLU</a:t>
              </a:r>
              <a:endParaRPr kumimoji="1" lang="zh-SG" altLang="en-US" dirty="0"/>
            </a:p>
          </p:txBody>
        </p:sp>
        <p:sp>
          <p:nvSpPr>
            <p:cNvPr id="20" name="圆角矩形 19">
              <a:extLst>
                <a:ext uri="{FF2B5EF4-FFF2-40B4-BE49-F238E27FC236}">
                  <a16:creationId xmlns:a16="http://schemas.microsoft.com/office/drawing/2014/main" id="{D8E6A7FF-AE0C-F30A-8D4F-C6F618430171}"/>
                </a:ext>
              </a:extLst>
            </p:cNvPr>
            <p:cNvSpPr/>
            <p:nvPr/>
          </p:nvSpPr>
          <p:spPr>
            <a:xfrm>
              <a:off x="2794757" y="1410511"/>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38" name="文本框 37">
              <a:extLst>
                <a:ext uri="{FF2B5EF4-FFF2-40B4-BE49-F238E27FC236}">
                  <a16:creationId xmlns:a16="http://schemas.microsoft.com/office/drawing/2014/main" id="{419C55F5-83E3-9EEA-A468-7B9C2CC01BB8}"/>
                </a:ext>
              </a:extLst>
            </p:cNvPr>
            <p:cNvSpPr txBox="1"/>
            <p:nvPr/>
          </p:nvSpPr>
          <p:spPr>
            <a:xfrm>
              <a:off x="2763783" y="1556885"/>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40" name="肘形连接符 39">
              <a:extLst>
                <a:ext uri="{FF2B5EF4-FFF2-40B4-BE49-F238E27FC236}">
                  <a16:creationId xmlns:a16="http://schemas.microsoft.com/office/drawing/2014/main" id="{A63E36E1-8633-D9DE-1441-36F49097F93E}"/>
                </a:ext>
              </a:extLst>
            </p:cNvPr>
            <p:cNvCxnSpPr>
              <a:stCxn id="17" idx="0"/>
              <a:endCxn id="20" idx="0"/>
            </p:cNvCxnSpPr>
            <p:nvPr/>
          </p:nvCxnSpPr>
          <p:spPr>
            <a:xfrm rot="5400000" flipH="1" flipV="1">
              <a:off x="2202829" y="675261"/>
              <a:ext cx="12700" cy="14705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41" name="文本框 40">
              <a:extLst>
                <a:ext uri="{FF2B5EF4-FFF2-40B4-BE49-F238E27FC236}">
                  <a16:creationId xmlns:a16="http://schemas.microsoft.com/office/drawing/2014/main" id="{A4E2F2D1-A94E-13B3-5F86-6A60CDE3A5D8}"/>
                </a:ext>
              </a:extLst>
            </p:cNvPr>
            <p:cNvSpPr txBox="1"/>
            <p:nvPr/>
          </p:nvSpPr>
          <p:spPr>
            <a:xfrm>
              <a:off x="1563527" y="921559"/>
              <a:ext cx="1106393" cy="276999"/>
            </a:xfrm>
            <a:prstGeom prst="rect">
              <a:avLst/>
            </a:prstGeom>
            <a:noFill/>
          </p:spPr>
          <p:txBody>
            <a:bodyPr wrap="none" rtlCol="0">
              <a:spAutoFit/>
            </a:bodyPr>
            <a:lstStyle/>
            <a:p>
              <a:r>
                <a:rPr kumimoji="1" lang="en-US" altLang="zh-SG" sz="1200" i="1" dirty="0">
                  <a:solidFill>
                    <a:schemeClr val="accent3"/>
                  </a:solidFill>
                </a:rPr>
                <a:t>H</a:t>
              </a:r>
              <a:r>
                <a:rPr kumimoji="1" lang="en-US" altLang="zh-CN" sz="1200" i="1" dirty="0">
                  <a:solidFill>
                    <a:schemeClr val="accent3"/>
                  </a:solidFill>
                </a:rPr>
                <a:t>idden</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1</a:t>
              </a:r>
              <a:endParaRPr kumimoji="1" lang="zh-SG" altLang="en-US" sz="1200" i="1" dirty="0">
                <a:solidFill>
                  <a:schemeClr val="accent3"/>
                </a:solidFill>
              </a:endParaRPr>
            </a:p>
          </p:txBody>
        </p:sp>
      </p:grpSp>
      <p:grpSp>
        <p:nvGrpSpPr>
          <p:cNvPr id="50" name="组合 49">
            <a:extLst>
              <a:ext uri="{FF2B5EF4-FFF2-40B4-BE49-F238E27FC236}">
                <a16:creationId xmlns:a16="http://schemas.microsoft.com/office/drawing/2014/main" id="{834554E6-10C1-BC6B-F091-9BA11DFDF2EB}"/>
              </a:ext>
            </a:extLst>
          </p:cNvPr>
          <p:cNvGrpSpPr/>
          <p:nvPr/>
        </p:nvGrpSpPr>
        <p:grpSpPr>
          <a:xfrm>
            <a:off x="3287460" y="970199"/>
            <a:ext cx="1956393" cy="1383896"/>
            <a:chOff x="1176722" y="921559"/>
            <a:chExt cx="1956393" cy="1383896"/>
          </a:xfrm>
        </p:grpSpPr>
        <p:sp>
          <p:nvSpPr>
            <p:cNvPr id="51" name="圆角矩形 50">
              <a:extLst>
                <a:ext uri="{FF2B5EF4-FFF2-40B4-BE49-F238E27FC236}">
                  <a16:creationId xmlns:a16="http://schemas.microsoft.com/office/drawing/2014/main" id="{C79802A4-AA1A-D814-6123-FF08A1B0695C}"/>
                </a:ext>
              </a:extLst>
            </p:cNvPr>
            <p:cNvSpPr/>
            <p:nvPr/>
          </p:nvSpPr>
          <p:spPr>
            <a:xfrm>
              <a:off x="1176722" y="1410511"/>
              <a:ext cx="581714"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L</a:t>
              </a:r>
              <a:r>
                <a:rPr kumimoji="1" lang="en-US" altLang="zh-CN" sz="1050" dirty="0"/>
                <a:t>inear</a:t>
              </a:r>
            </a:p>
            <a:p>
              <a:pPr algn="ctr"/>
              <a:r>
                <a:rPr kumimoji="1" lang="en-US" altLang="zh-CN" sz="1050" dirty="0"/>
                <a:t>512-&gt;</a:t>
              </a:r>
            </a:p>
            <a:p>
              <a:pPr algn="ctr"/>
              <a:r>
                <a:rPr kumimoji="1" lang="en-US" altLang="zh-CN" sz="1050" dirty="0"/>
                <a:t>256</a:t>
              </a:r>
              <a:endParaRPr kumimoji="1" lang="zh-SG" altLang="en-US" sz="1050" dirty="0"/>
            </a:p>
          </p:txBody>
        </p:sp>
        <p:sp>
          <p:nvSpPr>
            <p:cNvPr id="52" name="圆角矩形 51">
              <a:extLst>
                <a:ext uri="{FF2B5EF4-FFF2-40B4-BE49-F238E27FC236}">
                  <a16:creationId xmlns:a16="http://schemas.microsoft.com/office/drawing/2014/main" id="{5D515629-7226-2D60-CC26-2A72F92F454B}"/>
                </a:ext>
              </a:extLst>
            </p:cNvPr>
            <p:cNvSpPr/>
            <p:nvPr/>
          </p:nvSpPr>
          <p:spPr>
            <a:xfrm>
              <a:off x="1912781" y="1410511"/>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200" dirty="0"/>
                <a:t>B</a:t>
              </a:r>
              <a:r>
                <a:rPr kumimoji="1" lang="en-US" altLang="zh-CN" sz="1200" dirty="0"/>
                <a:t>N</a:t>
              </a:r>
              <a:endParaRPr kumimoji="1" lang="zh-SG" altLang="en-US" sz="1200" dirty="0"/>
            </a:p>
          </p:txBody>
        </p:sp>
        <p:sp>
          <p:nvSpPr>
            <p:cNvPr id="53" name="圆角矩形 52">
              <a:extLst>
                <a:ext uri="{FF2B5EF4-FFF2-40B4-BE49-F238E27FC236}">
                  <a16:creationId xmlns:a16="http://schemas.microsoft.com/office/drawing/2014/main" id="{3E40582C-DCA6-4AB1-6DE1-A849CF92EEF1}"/>
                </a:ext>
              </a:extLst>
            </p:cNvPr>
            <p:cNvSpPr/>
            <p:nvPr/>
          </p:nvSpPr>
          <p:spPr>
            <a:xfrm>
              <a:off x="2353769" y="1410511"/>
              <a:ext cx="286643" cy="894944"/>
            </a:xfrm>
            <a:prstGeom prst="roundRect">
              <a:avLst/>
            </a:prstGeom>
            <a:solidFill>
              <a:srgbClr val="E9B9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err="1"/>
                <a:t>R</a:t>
              </a:r>
              <a:r>
                <a:rPr kumimoji="1" lang="en-US" altLang="zh-CN" sz="1050" dirty="0" err="1"/>
                <a:t>eLU</a:t>
              </a:r>
              <a:endParaRPr kumimoji="1" lang="zh-SG" altLang="en-US" dirty="0"/>
            </a:p>
          </p:txBody>
        </p:sp>
        <p:sp>
          <p:nvSpPr>
            <p:cNvPr id="54" name="圆角矩形 53">
              <a:extLst>
                <a:ext uri="{FF2B5EF4-FFF2-40B4-BE49-F238E27FC236}">
                  <a16:creationId xmlns:a16="http://schemas.microsoft.com/office/drawing/2014/main" id="{43980E9E-8508-EE99-F709-6AE1D44D52C2}"/>
                </a:ext>
              </a:extLst>
            </p:cNvPr>
            <p:cNvSpPr/>
            <p:nvPr/>
          </p:nvSpPr>
          <p:spPr>
            <a:xfrm>
              <a:off x="2794757" y="1410511"/>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55" name="文本框 54">
              <a:extLst>
                <a:ext uri="{FF2B5EF4-FFF2-40B4-BE49-F238E27FC236}">
                  <a16:creationId xmlns:a16="http://schemas.microsoft.com/office/drawing/2014/main" id="{16306A03-E406-D294-B7F0-7D77C19AADDB}"/>
                </a:ext>
              </a:extLst>
            </p:cNvPr>
            <p:cNvSpPr txBox="1"/>
            <p:nvPr/>
          </p:nvSpPr>
          <p:spPr>
            <a:xfrm>
              <a:off x="2763783" y="1556885"/>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56" name="肘形连接符 55">
              <a:extLst>
                <a:ext uri="{FF2B5EF4-FFF2-40B4-BE49-F238E27FC236}">
                  <a16:creationId xmlns:a16="http://schemas.microsoft.com/office/drawing/2014/main" id="{D55D9A5A-9258-56B3-502E-3C2B2BAC935A}"/>
                </a:ext>
              </a:extLst>
            </p:cNvPr>
            <p:cNvCxnSpPr>
              <a:stCxn id="51" idx="0"/>
              <a:endCxn id="54" idx="0"/>
            </p:cNvCxnSpPr>
            <p:nvPr/>
          </p:nvCxnSpPr>
          <p:spPr>
            <a:xfrm rot="5400000" flipH="1" flipV="1">
              <a:off x="2202829" y="675261"/>
              <a:ext cx="12700" cy="14705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57" name="文本框 56">
              <a:extLst>
                <a:ext uri="{FF2B5EF4-FFF2-40B4-BE49-F238E27FC236}">
                  <a16:creationId xmlns:a16="http://schemas.microsoft.com/office/drawing/2014/main" id="{0841B39A-CAF7-15AD-7095-77BD657C160C}"/>
                </a:ext>
              </a:extLst>
            </p:cNvPr>
            <p:cNvSpPr txBox="1"/>
            <p:nvPr/>
          </p:nvSpPr>
          <p:spPr>
            <a:xfrm>
              <a:off x="1563527" y="921559"/>
              <a:ext cx="1106393" cy="276999"/>
            </a:xfrm>
            <a:prstGeom prst="rect">
              <a:avLst/>
            </a:prstGeom>
            <a:noFill/>
          </p:spPr>
          <p:txBody>
            <a:bodyPr wrap="none" rtlCol="0">
              <a:spAutoFit/>
            </a:bodyPr>
            <a:lstStyle/>
            <a:p>
              <a:r>
                <a:rPr kumimoji="1" lang="en-US" altLang="zh-SG" sz="1200" i="1" dirty="0">
                  <a:solidFill>
                    <a:schemeClr val="accent3"/>
                  </a:solidFill>
                </a:rPr>
                <a:t>H</a:t>
              </a:r>
              <a:r>
                <a:rPr kumimoji="1" lang="en-US" altLang="zh-CN" sz="1200" i="1" dirty="0">
                  <a:solidFill>
                    <a:schemeClr val="accent3"/>
                  </a:solidFill>
                </a:rPr>
                <a:t>idden</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2</a:t>
              </a:r>
              <a:endParaRPr kumimoji="1" lang="zh-SG" altLang="en-US" sz="1200" i="1" dirty="0">
                <a:solidFill>
                  <a:schemeClr val="accent3"/>
                </a:solidFill>
              </a:endParaRPr>
            </a:p>
          </p:txBody>
        </p:sp>
      </p:grpSp>
      <p:grpSp>
        <p:nvGrpSpPr>
          <p:cNvPr id="58" name="组合 57">
            <a:extLst>
              <a:ext uri="{FF2B5EF4-FFF2-40B4-BE49-F238E27FC236}">
                <a16:creationId xmlns:a16="http://schemas.microsoft.com/office/drawing/2014/main" id="{9B3DFD9F-5DE2-0D34-D69A-41AAF790493E}"/>
              </a:ext>
            </a:extLst>
          </p:cNvPr>
          <p:cNvGrpSpPr/>
          <p:nvPr/>
        </p:nvGrpSpPr>
        <p:grpSpPr>
          <a:xfrm>
            <a:off x="5346483" y="970199"/>
            <a:ext cx="1956393" cy="1383896"/>
            <a:chOff x="1176722" y="921559"/>
            <a:chExt cx="1956393" cy="1383896"/>
          </a:xfrm>
        </p:grpSpPr>
        <p:sp>
          <p:nvSpPr>
            <p:cNvPr id="59" name="圆角矩形 58">
              <a:extLst>
                <a:ext uri="{FF2B5EF4-FFF2-40B4-BE49-F238E27FC236}">
                  <a16:creationId xmlns:a16="http://schemas.microsoft.com/office/drawing/2014/main" id="{60EDA147-AB8E-476B-0BE9-ADCC008ADCC5}"/>
                </a:ext>
              </a:extLst>
            </p:cNvPr>
            <p:cNvSpPr/>
            <p:nvPr/>
          </p:nvSpPr>
          <p:spPr>
            <a:xfrm>
              <a:off x="1176722" y="1410511"/>
              <a:ext cx="581714"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L</a:t>
              </a:r>
              <a:r>
                <a:rPr kumimoji="1" lang="en-US" altLang="zh-CN" sz="1050" dirty="0"/>
                <a:t>inear</a:t>
              </a:r>
            </a:p>
            <a:p>
              <a:pPr algn="ctr"/>
              <a:r>
                <a:rPr kumimoji="1" lang="en-US" altLang="zh-CN" sz="1050" dirty="0"/>
                <a:t>256-&gt;</a:t>
              </a:r>
            </a:p>
            <a:p>
              <a:pPr algn="ctr"/>
              <a:r>
                <a:rPr kumimoji="1" lang="en-US" altLang="zh-CN" sz="1050" dirty="0"/>
                <a:t>128</a:t>
              </a:r>
              <a:endParaRPr kumimoji="1" lang="zh-SG" altLang="en-US" sz="1050" dirty="0"/>
            </a:p>
          </p:txBody>
        </p:sp>
        <p:sp>
          <p:nvSpPr>
            <p:cNvPr id="60" name="圆角矩形 59">
              <a:extLst>
                <a:ext uri="{FF2B5EF4-FFF2-40B4-BE49-F238E27FC236}">
                  <a16:creationId xmlns:a16="http://schemas.microsoft.com/office/drawing/2014/main" id="{12BF9C78-A893-6D31-13A9-922513643EC9}"/>
                </a:ext>
              </a:extLst>
            </p:cNvPr>
            <p:cNvSpPr/>
            <p:nvPr/>
          </p:nvSpPr>
          <p:spPr>
            <a:xfrm>
              <a:off x="1912781" y="1410511"/>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200" dirty="0"/>
                <a:t>B</a:t>
              </a:r>
              <a:r>
                <a:rPr kumimoji="1" lang="en-US" altLang="zh-CN" sz="1200" dirty="0"/>
                <a:t>N</a:t>
              </a:r>
              <a:endParaRPr kumimoji="1" lang="zh-SG" altLang="en-US" sz="1200" dirty="0"/>
            </a:p>
          </p:txBody>
        </p:sp>
        <p:sp>
          <p:nvSpPr>
            <p:cNvPr id="61" name="圆角矩形 60">
              <a:extLst>
                <a:ext uri="{FF2B5EF4-FFF2-40B4-BE49-F238E27FC236}">
                  <a16:creationId xmlns:a16="http://schemas.microsoft.com/office/drawing/2014/main" id="{C7A67F25-D405-1884-9BF7-D4A04BBA1AFE}"/>
                </a:ext>
              </a:extLst>
            </p:cNvPr>
            <p:cNvSpPr/>
            <p:nvPr/>
          </p:nvSpPr>
          <p:spPr>
            <a:xfrm>
              <a:off x="2353769" y="1410511"/>
              <a:ext cx="286643" cy="894944"/>
            </a:xfrm>
            <a:prstGeom prst="roundRect">
              <a:avLst/>
            </a:prstGeom>
            <a:solidFill>
              <a:srgbClr val="E9B9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err="1"/>
                <a:t>R</a:t>
              </a:r>
              <a:r>
                <a:rPr kumimoji="1" lang="en-US" altLang="zh-CN" sz="1050" dirty="0" err="1"/>
                <a:t>eLU</a:t>
              </a:r>
              <a:endParaRPr kumimoji="1" lang="zh-SG" altLang="en-US" dirty="0"/>
            </a:p>
          </p:txBody>
        </p:sp>
        <p:sp>
          <p:nvSpPr>
            <p:cNvPr id="62" name="圆角矩形 61">
              <a:extLst>
                <a:ext uri="{FF2B5EF4-FFF2-40B4-BE49-F238E27FC236}">
                  <a16:creationId xmlns:a16="http://schemas.microsoft.com/office/drawing/2014/main" id="{7F5D6617-842A-4CF5-DD12-2BEB39DB5988}"/>
                </a:ext>
              </a:extLst>
            </p:cNvPr>
            <p:cNvSpPr/>
            <p:nvPr/>
          </p:nvSpPr>
          <p:spPr>
            <a:xfrm>
              <a:off x="2794757" y="1410511"/>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63" name="文本框 62">
              <a:extLst>
                <a:ext uri="{FF2B5EF4-FFF2-40B4-BE49-F238E27FC236}">
                  <a16:creationId xmlns:a16="http://schemas.microsoft.com/office/drawing/2014/main" id="{B58380AF-EEC3-9151-D14D-22D0F57F42F6}"/>
                </a:ext>
              </a:extLst>
            </p:cNvPr>
            <p:cNvSpPr txBox="1"/>
            <p:nvPr/>
          </p:nvSpPr>
          <p:spPr>
            <a:xfrm>
              <a:off x="2763783" y="1556885"/>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64" name="肘形连接符 63">
              <a:extLst>
                <a:ext uri="{FF2B5EF4-FFF2-40B4-BE49-F238E27FC236}">
                  <a16:creationId xmlns:a16="http://schemas.microsoft.com/office/drawing/2014/main" id="{1EF875DF-9CDA-31BC-28FC-FD846CE1EF97}"/>
                </a:ext>
              </a:extLst>
            </p:cNvPr>
            <p:cNvCxnSpPr>
              <a:stCxn id="59" idx="0"/>
              <a:endCxn id="62" idx="0"/>
            </p:cNvCxnSpPr>
            <p:nvPr/>
          </p:nvCxnSpPr>
          <p:spPr>
            <a:xfrm rot="5400000" flipH="1" flipV="1">
              <a:off x="2202829" y="675261"/>
              <a:ext cx="12700" cy="14705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65" name="文本框 64">
              <a:extLst>
                <a:ext uri="{FF2B5EF4-FFF2-40B4-BE49-F238E27FC236}">
                  <a16:creationId xmlns:a16="http://schemas.microsoft.com/office/drawing/2014/main" id="{8BB174A6-2441-63CE-9910-B125B9F6ACFC}"/>
                </a:ext>
              </a:extLst>
            </p:cNvPr>
            <p:cNvSpPr txBox="1"/>
            <p:nvPr/>
          </p:nvSpPr>
          <p:spPr>
            <a:xfrm>
              <a:off x="1563527" y="921559"/>
              <a:ext cx="1106393" cy="276999"/>
            </a:xfrm>
            <a:prstGeom prst="rect">
              <a:avLst/>
            </a:prstGeom>
            <a:noFill/>
          </p:spPr>
          <p:txBody>
            <a:bodyPr wrap="none" rtlCol="0">
              <a:spAutoFit/>
            </a:bodyPr>
            <a:lstStyle/>
            <a:p>
              <a:r>
                <a:rPr kumimoji="1" lang="en-US" altLang="zh-SG" sz="1200" i="1" dirty="0">
                  <a:solidFill>
                    <a:schemeClr val="accent3"/>
                  </a:solidFill>
                </a:rPr>
                <a:t>H</a:t>
              </a:r>
              <a:r>
                <a:rPr kumimoji="1" lang="en-US" altLang="zh-CN" sz="1200" i="1" dirty="0">
                  <a:solidFill>
                    <a:schemeClr val="accent3"/>
                  </a:solidFill>
                </a:rPr>
                <a:t>idden</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3</a:t>
              </a:r>
              <a:endParaRPr kumimoji="1" lang="zh-SG" altLang="en-US" sz="1200" i="1" dirty="0">
                <a:solidFill>
                  <a:schemeClr val="accent3"/>
                </a:solidFill>
              </a:endParaRPr>
            </a:p>
          </p:txBody>
        </p:sp>
      </p:grpSp>
      <p:sp>
        <p:nvSpPr>
          <p:cNvPr id="66" name="圆角矩形 65">
            <a:extLst>
              <a:ext uri="{FF2B5EF4-FFF2-40B4-BE49-F238E27FC236}">
                <a16:creationId xmlns:a16="http://schemas.microsoft.com/office/drawing/2014/main" id="{B473B97C-DB6B-735F-F497-9513771369CD}"/>
              </a:ext>
            </a:extLst>
          </p:cNvPr>
          <p:cNvSpPr/>
          <p:nvPr/>
        </p:nvSpPr>
        <p:spPr>
          <a:xfrm>
            <a:off x="7470516" y="1465501"/>
            <a:ext cx="581714"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L</a:t>
            </a:r>
            <a:r>
              <a:rPr kumimoji="1" lang="en-US" altLang="zh-CN" sz="1050" dirty="0"/>
              <a:t>inear128-&gt;</a:t>
            </a:r>
          </a:p>
          <a:p>
            <a:pPr algn="ctr"/>
            <a:r>
              <a:rPr kumimoji="1" lang="en-US" altLang="zh-CN" sz="1050" dirty="0"/>
              <a:t>10</a:t>
            </a:r>
            <a:endParaRPr kumimoji="1" lang="zh-SG" altLang="en-US" sz="1050" dirty="0"/>
          </a:p>
        </p:txBody>
      </p:sp>
      <p:cxnSp>
        <p:nvCxnSpPr>
          <p:cNvPr id="68" name="直线箭头连接符 67">
            <a:extLst>
              <a:ext uri="{FF2B5EF4-FFF2-40B4-BE49-F238E27FC236}">
                <a16:creationId xmlns:a16="http://schemas.microsoft.com/office/drawing/2014/main" id="{DDBD3795-F6E1-3CC4-7C15-98C46451F2BA}"/>
              </a:ext>
            </a:extLst>
          </p:cNvPr>
          <p:cNvCxnSpPr>
            <a:stCxn id="16" idx="3"/>
            <a:endCxn id="17" idx="1"/>
          </p:cNvCxnSpPr>
          <p:nvPr/>
        </p:nvCxnSpPr>
        <p:spPr>
          <a:xfrm>
            <a:off x="1022377"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线箭头连接符 68">
            <a:extLst>
              <a:ext uri="{FF2B5EF4-FFF2-40B4-BE49-F238E27FC236}">
                <a16:creationId xmlns:a16="http://schemas.microsoft.com/office/drawing/2014/main" id="{33958FBA-34D9-C2DF-76D7-3FBB198E16AC}"/>
              </a:ext>
            </a:extLst>
          </p:cNvPr>
          <p:cNvCxnSpPr>
            <a:cxnSpLocks/>
            <a:stCxn id="17" idx="3"/>
            <a:endCxn id="18" idx="1"/>
          </p:cNvCxnSpPr>
          <p:nvPr/>
        </p:nvCxnSpPr>
        <p:spPr>
          <a:xfrm>
            <a:off x="1758436"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线箭头连接符 73">
            <a:extLst>
              <a:ext uri="{FF2B5EF4-FFF2-40B4-BE49-F238E27FC236}">
                <a16:creationId xmlns:a16="http://schemas.microsoft.com/office/drawing/2014/main" id="{57B05A42-4576-3E4A-E4AF-1B1DB9C27B62}"/>
              </a:ext>
            </a:extLst>
          </p:cNvPr>
          <p:cNvCxnSpPr>
            <a:cxnSpLocks/>
            <a:stCxn id="18" idx="3"/>
            <a:endCxn id="19" idx="1"/>
          </p:cNvCxnSpPr>
          <p:nvPr/>
        </p:nvCxnSpPr>
        <p:spPr>
          <a:xfrm>
            <a:off x="2199424"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线箭头连接符 74">
            <a:extLst>
              <a:ext uri="{FF2B5EF4-FFF2-40B4-BE49-F238E27FC236}">
                <a16:creationId xmlns:a16="http://schemas.microsoft.com/office/drawing/2014/main" id="{E8F7DF8A-DDA9-8496-FF8F-41AAE0C25346}"/>
              </a:ext>
            </a:extLst>
          </p:cNvPr>
          <p:cNvCxnSpPr>
            <a:cxnSpLocks/>
            <a:stCxn id="19" idx="3"/>
            <a:endCxn id="38" idx="1"/>
          </p:cNvCxnSpPr>
          <p:nvPr/>
        </p:nvCxnSpPr>
        <p:spPr>
          <a:xfrm>
            <a:off x="2640412" y="1906623"/>
            <a:ext cx="123371"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线箭头连接符 75">
            <a:extLst>
              <a:ext uri="{FF2B5EF4-FFF2-40B4-BE49-F238E27FC236}">
                <a16:creationId xmlns:a16="http://schemas.microsoft.com/office/drawing/2014/main" id="{D6AFDC6A-DDEB-E9CC-5218-B9CF12ABA9A0}"/>
              </a:ext>
            </a:extLst>
          </p:cNvPr>
          <p:cNvCxnSpPr>
            <a:cxnSpLocks/>
            <a:stCxn id="38" idx="3"/>
            <a:endCxn id="51" idx="1"/>
          </p:cNvCxnSpPr>
          <p:nvPr/>
        </p:nvCxnSpPr>
        <p:spPr>
          <a:xfrm flipV="1">
            <a:off x="3133115" y="1906623"/>
            <a:ext cx="154345"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线箭头连接符 76">
            <a:extLst>
              <a:ext uri="{FF2B5EF4-FFF2-40B4-BE49-F238E27FC236}">
                <a16:creationId xmlns:a16="http://schemas.microsoft.com/office/drawing/2014/main" id="{15E57104-7289-AE28-59D0-61200440D72F}"/>
              </a:ext>
            </a:extLst>
          </p:cNvPr>
          <p:cNvCxnSpPr>
            <a:cxnSpLocks/>
            <a:stCxn id="51" idx="3"/>
            <a:endCxn id="52" idx="1"/>
          </p:cNvCxnSpPr>
          <p:nvPr/>
        </p:nvCxnSpPr>
        <p:spPr>
          <a:xfrm>
            <a:off x="3869174"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线箭头连接符 77">
            <a:extLst>
              <a:ext uri="{FF2B5EF4-FFF2-40B4-BE49-F238E27FC236}">
                <a16:creationId xmlns:a16="http://schemas.microsoft.com/office/drawing/2014/main" id="{E9A22C5D-6840-73FD-AB0E-5863AAC43A05}"/>
              </a:ext>
            </a:extLst>
          </p:cNvPr>
          <p:cNvCxnSpPr>
            <a:cxnSpLocks/>
            <a:stCxn id="52" idx="3"/>
            <a:endCxn id="53" idx="1"/>
          </p:cNvCxnSpPr>
          <p:nvPr/>
        </p:nvCxnSpPr>
        <p:spPr>
          <a:xfrm>
            <a:off x="4310162"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线箭头连接符 78">
            <a:extLst>
              <a:ext uri="{FF2B5EF4-FFF2-40B4-BE49-F238E27FC236}">
                <a16:creationId xmlns:a16="http://schemas.microsoft.com/office/drawing/2014/main" id="{452D0744-F454-5949-F1DD-A6180130D45D}"/>
              </a:ext>
            </a:extLst>
          </p:cNvPr>
          <p:cNvCxnSpPr>
            <a:cxnSpLocks/>
            <a:stCxn id="53" idx="3"/>
            <a:endCxn id="55" idx="1"/>
          </p:cNvCxnSpPr>
          <p:nvPr/>
        </p:nvCxnSpPr>
        <p:spPr>
          <a:xfrm>
            <a:off x="4751150" y="1906623"/>
            <a:ext cx="123371"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线箭头连接符 91">
            <a:extLst>
              <a:ext uri="{FF2B5EF4-FFF2-40B4-BE49-F238E27FC236}">
                <a16:creationId xmlns:a16="http://schemas.microsoft.com/office/drawing/2014/main" id="{9D01F513-449D-25F3-FC3F-2559F54B86CB}"/>
              </a:ext>
            </a:extLst>
          </p:cNvPr>
          <p:cNvCxnSpPr>
            <a:cxnSpLocks/>
            <a:stCxn id="55" idx="3"/>
            <a:endCxn id="59" idx="1"/>
          </p:cNvCxnSpPr>
          <p:nvPr/>
        </p:nvCxnSpPr>
        <p:spPr>
          <a:xfrm flipV="1">
            <a:off x="5243853" y="1906623"/>
            <a:ext cx="102630"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直线箭头连接符 92">
            <a:extLst>
              <a:ext uri="{FF2B5EF4-FFF2-40B4-BE49-F238E27FC236}">
                <a16:creationId xmlns:a16="http://schemas.microsoft.com/office/drawing/2014/main" id="{D375926C-15CB-6214-A7C7-E2FA367EE58F}"/>
              </a:ext>
            </a:extLst>
          </p:cNvPr>
          <p:cNvCxnSpPr>
            <a:cxnSpLocks/>
            <a:stCxn id="59" idx="3"/>
            <a:endCxn id="60" idx="1"/>
          </p:cNvCxnSpPr>
          <p:nvPr/>
        </p:nvCxnSpPr>
        <p:spPr>
          <a:xfrm>
            <a:off x="5928197"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线箭头连接符 93">
            <a:extLst>
              <a:ext uri="{FF2B5EF4-FFF2-40B4-BE49-F238E27FC236}">
                <a16:creationId xmlns:a16="http://schemas.microsoft.com/office/drawing/2014/main" id="{90464EDA-4C4A-6E2D-2FFD-61BD5FF3814C}"/>
              </a:ext>
            </a:extLst>
          </p:cNvPr>
          <p:cNvCxnSpPr>
            <a:cxnSpLocks/>
            <a:stCxn id="60" idx="3"/>
            <a:endCxn id="61" idx="1"/>
          </p:cNvCxnSpPr>
          <p:nvPr/>
        </p:nvCxnSpPr>
        <p:spPr>
          <a:xfrm>
            <a:off x="6369185"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直线箭头连接符 94">
            <a:extLst>
              <a:ext uri="{FF2B5EF4-FFF2-40B4-BE49-F238E27FC236}">
                <a16:creationId xmlns:a16="http://schemas.microsoft.com/office/drawing/2014/main" id="{52034E30-4557-9D7F-E2C3-08E881DD6125}"/>
              </a:ext>
            </a:extLst>
          </p:cNvPr>
          <p:cNvCxnSpPr>
            <a:cxnSpLocks/>
            <a:stCxn id="61" idx="3"/>
            <a:endCxn id="63" idx="1"/>
          </p:cNvCxnSpPr>
          <p:nvPr/>
        </p:nvCxnSpPr>
        <p:spPr>
          <a:xfrm>
            <a:off x="6810173" y="1906623"/>
            <a:ext cx="123371"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直线箭头连接符 95">
            <a:extLst>
              <a:ext uri="{FF2B5EF4-FFF2-40B4-BE49-F238E27FC236}">
                <a16:creationId xmlns:a16="http://schemas.microsoft.com/office/drawing/2014/main" id="{C2B3B083-4C93-D591-BCDD-D3F52EFA3666}"/>
              </a:ext>
            </a:extLst>
          </p:cNvPr>
          <p:cNvCxnSpPr>
            <a:cxnSpLocks/>
            <a:stCxn id="63" idx="3"/>
            <a:endCxn id="66" idx="1"/>
          </p:cNvCxnSpPr>
          <p:nvPr/>
        </p:nvCxnSpPr>
        <p:spPr>
          <a:xfrm>
            <a:off x="7302876" y="1911731"/>
            <a:ext cx="167640" cy="1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直线箭头连接符 96">
            <a:extLst>
              <a:ext uri="{FF2B5EF4-FFF2-40B4-BE49-F238E27FC236}">
                <a16:creationId xmlns:a16="http://schemas.microsoft.com/office/drawing/2014/main" id="{FEFB18D3-3736-2D75-9B40-8731B3B709A2}"/>
              </a:ext>
            </a:extLst>
          </p:cNvPr>
          <p:cNvCxnSpPr>
            <a:cxnSpLocks/>
            <a:stCxn id="66" idx="3"/>
          </p:cNvCxnSpPr>
          <p:nvPr/>
        </p:nvCxnSpPr>
        <p:spPr>
          <a:xfrm flipV="1">
            <a:off x="8052230" y="1900273"/>
            <a:ext cx="167641" cy="12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文本框 115">
            <a:extLst>
              <a:ext uri="{FF2B5EF4-FFF2-40B4-BE49-F238E27FC236}">
                <a16:creationId xmlns:a16="http://schemas.microsoft.com/office/drawing/2014/main" id="{1F38D960-66FD-7B9D-EEC3-BA10AC42EA9E}"/>
              </a:ext>
            </a:extLst>
          </p:cNvPr>
          <p:cNvSpPr txBox="1"/>
          <p:nvPr/>
        </p:nvSpPr>
        <p:spPr>
          <a:xfrm>
            <a:off x="70209" y="1076756"/>
            <a:ext cx="740908" cy="369332"/>
          </a:xfrm>
          <a:prstGeom prst="rect">
            <a:avLst/>
          </a:prstGeom>
          <a:noFill/>
        </p:spPr>
        <p:txBody>
          <a:bodyPr wrap="none" rtlCol="0">
            <a:spAutoFit/>
          </a:bodyPr>
          <a:lstStyle/>
          <a:p>
            <a:r>
              <a:rPr lang="en-US" altLang="zh-SG" b="1" dirty="0">
                <a:solidFill>
                  <a:srgbClr val="1E2761"/>
                </a:solidFill>
                <a:latin typeface="Georgia" pitchFamily="34" charset="0"/>
              </a:rPr>
              <a:t>M</a:t>
            </a:r>
            <a:r>
              <a:rPr lang="en-US" altLang="zh-CN" b="1" dirty="0">
                <a:solidFill>
                  <a:srgbClr val="1E2761"/>
                </a:solidFill>
                <a:latin typeface="Georgia" pitchFamily="34" charset="0"/>
              </a:rPr>
              <a:t>LP</a:t>
            </a:r>
            <a:endParaRPr lang="zh-SG" altLang="en-US" b="1" dirty="0">
              <a:solidFill>
                <a:srgbClr val="1E2761"/>
              </a:solidFill>
              <a:latin typeface="Georgia" pitchFamily="34" charset="0"/>
            </a:endParaRPr>
          </a:p>
        </p:txBody>
      </p:sp>
      <p:sp>
        <p:nvSpPr>
          <p:cNvPr id="117" name="圆角矩形 116">
            <a:extLst>
              <a:ext uri="{FF2B5EF4-FFF2-40B4-BE49-F238E27FC236}">
                <a16:creationId xmlns:a16="http://schemas.microsoft.com/office/drawing/2014/main" id="{667B7A52-AE50-FA8B-2A22-7CD785EEACFA}"/>
              </a:ext>
            </a:extLst>
          </p:cNvPr>
          <p:cNvSpPr/>
          <p:nvPr/>
        </p:nvSpPr>
        <p:spPr>
          <a:xfrm>
            <a:off x="98488" y="3621676"/>
            <a:ext cx="581714" cy="894944"/>
          </a:xfrm>
          <a:prstGeom prst="roundRect">
            <a:avLst/>
          </a:prstGeom>
          <a:solidFill>
            <a:srgbClr val="1E2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I</a:t>
            </a:r>
            <a:r>
              <a:rPr kumimoji="1" lang="en-US" altLang="zh-CN" sz="1050" dirty="0"/>
              <a:t>nput</a:t>
            </a:r>
          </a:p>
          <a:p>
            <a:pPr algn="ctr"/>
            <a:r>
              <a:rPr kumimoji="1" lang="en-US" altLang="zh-CN" sz="1050" dirty="0"/>
              <a:t>1x28x28</a:t>
            </a:r>
            <a:endParaRPr kumimoji="1" lang="zh-SG" altLang="en-US" sz="1050" dirty="0"/>
          </a:p>
        </p:txBody>
      </p:sp>
      <p:sp>
        <p:nvSpPr>
          <p:cNvPr id="118" name="圆角矩形 117">
            <a:extLst>
              <a:ext uri="{FF2B5EF4-FFF2-40B4-BE49-F238E27FC236}">
                <a16:creationId xmlns:a16="http://schemas.microsoft.com/office/drawing/2014/main" id="{C9F712AC-8763-EF08-2F75-A1354B396F79}"/>
              </a:ext>
            </a:extLst>
          </p:cNvPr>
          <p:cNvSpPr/>
          <p:nvPr/>
        </p:nvSpPr>
        <p:spPr>
          <a:xfrm>
            <a:off x="8480086" y="3608976"/>
            <a:ext cx="622571" cy="894944"/>
          </a:xfrm>
          <a:prstGeom prst="roundRect">
            <a:avLst/>
          </a:prstGeom>
          <a:solidFill>
            <a:srgbClr val="1E2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00" dirty="0"/>
              <a:t>O</a:t>
            </a:r>
            <a:r>
              <a:rPr kumimoji="1" lang="en-US" altLang="zh-CN" sz="1000" dirty="0"/>
              <a:t>utput</a:t>
            </a:r>
          </a:p>
          <a:p>
            <a:pPr algn="ctr"/>
            <a:r>
              <a:rPr kumimoji="1" lang="en-US" altLang="zh-CN" sz="1000" dirty="0"/>
              <a:t>10</a:t>
            </a:r>
          </a:p>
          <a:p>
            <a:pPr algn="ctr"/>
            <a:r>
              <a:rPr kumimoji="1" lang="en-US" altLang="zh-CN" sz="1000" dirty="0"/>
              <a:t>classes</a:t>
            </a:r>
          </a:p>
        </p:txBody>
      </p:sp>
      <p:sp>
        <p:nvSpPr>
          <p:cNvPr id="143" name="圆角矩形 142">
            <a:extLst>
              <a:ext uri="{FF2B5EF4-FFF2-40B4-BE49-F238E27FC236}">
                <a16:creationId xmlns:a16="http://schemas.microsoft.com/office/drawing/2014/main" id="{F095CF13-D73A-F7D4-F2F1-78B993BE3774}"/>
              </a:ext>
            </a:extLst>
          </p:cNvPr>
          <p:cNvSpPr/>
          <p:nvPr/>
        </p:nvSpPr>
        <p:spPr>
          <a:xfrm>
            <a:off x="7779371" y="3621676"/>
            <a:ext cx="622570"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Classifier</a:t>
            </a:r>
          </a:p>
          <a:p>
            <a:pPr algn="ctr"/>
            <a:r>
              <a:rPr kumimoji="1" lang="en-US" altLang="zh-CN" sz="1050" dirty="0"/>
              <a:t>Head</a:t>
            </a:r>
          </a:p>
          <a:p>
            <a:pPr algn="ctr"/>
            <a:r>
              <a:rPr kumimoji="1" lang="en-US" altLang="zh-CN" sz="1050" dirty="0"/>
              <a:t>-&gt;256</a:t>
            </a:r>
          </a:p>
          <a:p>
            <a:pPr algn="ctr"/>
            <a:r>
              <a:rPr kumimoji="1" lang="en-US" altLang="zh-CN" sz="1050" dirty="0"/>
              <a:t>-&gt;10</a:t>
            </a:r>
            <a:endParaRPr kumimoji="1" lang="zh-SG" altLang="en-US" sz="1050" dirty="0"/>
          </a:p>
        </p:txBody>
      </p:sp>
      <p:cxnSp>
        <p:nvCxnSpPr>
          <p:cNvPr id="144" name="直线箭头连接符 143">
            <a:extLst>
              <a:ext uri="{FF2B5EF4-FFF2-40B4-BE49-F238E27FC236}">
                <a16:creationId xmlns:a16="http://schemas.microsoft.com/office/drawing/2014/main" id="{CBAAEA1C-099B-03AC-B1C8-5957BF289E93}"/>
              </a:ext>
            </a:extLst>
          </p:cNvPr>
          <p:cNvCxnSpPr>
            <a:cxnSpLocks/>
            <a:stCxn id="117" idx="3"/>
            <a:endCxn id="120" idx="1"/>
          </p:cNvCxnSpPr>
          <p:nvPr/>
        </p:nvCxnSpPr>
        <p:spPr>
          <a:xfrm flipV="1">
            <a:off x="680202" y="4062798"/>
            <a:ext cx="80447"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直线箭头连接符 152">
            <a:extLst>
              <a:ext uri="{FF2B5EF4-FFF2-40B4-BE49-F238E27FC236}">
                <a16:creationId xmlns:a16="http://schemas.microsoft.com/office/drawing/2014/main" id="{B6627AA8-60BA-CB98-1F2F-9A150DF98B66}"/>
              </a:ext>
            </a:extLst>
          </p:cNvPr>
          <p:cNvCxnSpPr>
            <a:cxnSpLocks/>
            <a:endCxn id="210" idx="1"/>
          </p:cNvCxnSpPr>
          <p:nvPr/>
        </p:nvCxnSpPr>
        <p:spPr>
          <a:xfrm flipV="1">
            <a:off x="6884904" y="4062798"/>
            <a:ext cx="223256"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直线箭头连接符 153">
            <a:extLst>
              <a:ext uri="{FF2B5EF4-FFF2-40B4-BE49-F238E27FC236}">
                <a16:creationId xmlns:a16="http://schemas.microsoft.com/office/drawing/2014/main" id="{7ECC5274-4124-A59B-AB5F-3175C66DE295}"/>
              </a:ext>
            </a:extLst>
          </p:cNvPr>
          <p:cNvCxnSpPr>
            <a:cxnSpLocks/>
            <a:endCxn id="195" idx="1"/>
          </p:cNvCxnSpPr>
          <p:nvPr/>
        </p:nvCxnSpPr>
        <p:spPr>
          <a:xfrm>
            <a:off x="3763160" y="4056448"/>
            <a:ext cx="167225" cy="2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直线箭头连接符 155">
            <a:extLst>
              <a:ext uri="{FF2B5EF4-FFF2-40B4-BE49-F238E27FC236}">
                <a16:creationId xmlns:a16="http://schemas.microsoft.com/office/drawing/2014/main" id="{2CF32DA6-D115-0A89-DCD8-C06806D12E42}"/>
              </a:ext>
            </a:extLst>
          </p:cNvPr>
          <p:cNvCxnSpPr>
            <a:cxnSpLocks/>
            <a:endCxn id="143" idx="1"/>
          </p:cNvCxnSpPr>
          <p:nvPr/>
        </p:nvCxnSpPr>
        <p:spPr>
          <a:xfrm>
            <a:off x="7611731" y="4067906"/>
            <a:ext cx="167640" cy="1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直线箭头连接符 156">
            <a:extLst>
              <a:ext uri="{FF2B5EF4-FFF2-40B4-BE49-F238E27FC236}">
                <a16:creationId xmlns:a16="http://schemas.microsoft.com/office/drawing/2014/main" id="{64F3D060-149D-10F7-223C-B3A929D1FA07}"/>
              </a:ext>
            </a:extLst>
          </p:cNvPr>
          <p:cNvCxnSpPr>
            <a:cxnSpLocks/>
            <a:stCxn id="143" idx="3"/>
            <a:endCxn id="118" idx="1"/>
          </p:cNvCxnSpPr>
          <p:nvPr/>
        </p:nvCxnSpPr>
        <p:spPr>
          <a:xfrm flipV="1">
            <a:off x="8401941" y="4056448"/>
            <a:ext cx="78145" cy="12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8" name="文本框 157">
            <a:extLst>
              <a:ext uri="{FF2B5EF4-FFF2-40B4-BE49-F238E27FC236}">
                <a16:creationId xmlns:a16="http://schemas.microsoft.com/office/drawing/2014/main" id="{B3A819BF-928F-769A-74A4-F096FE864D72}"/>
              </a:ext>
            </a:extLst>
          </p:cNvPr>
          <p:cNvSpPr txBox="1"/>
          <p:nvPr/>
        </p:nvSpPr>
        <p:spPr>
          <a:xfrm>
            <a:off x="-65983" y="3232931"/>
            <a:ext cx="737702" cy="369332"/>
          </a:xfrm>
          <a:prstGeom prst="rect">
            <a:avLst/>
          </a:prstGeom>
          <a:noFill/>
        </p:spPr>
        <p:txBody>
          <a:bodyPr wrap="none" rtlCol="0">
            <a:spAutoFit/>
          </a:bodyPr>
          <a:lstStyle/>
          <a:p>
            <a:r>
              <a:rPr lang="en-US" altLang="zh-CN" b="1" dirty="0">
                <a:solidFill>
                  <a:srgbClr val="1E2761"/>
                </a:solidFill>
                <a:latin typeface="Georgia" pitchFamily="34" charset="0"/>
              </a:rPr>
              <a:t>CNN</a:t>
            </a:r>
            <a:endParaRPr lang="zh-SG" altLang="en-US" b="1" dirty="0">
              <a:solidFill>
                <a:srgbClr val="1E2761"/>
              </a:solidFill>
              <a:latin typeface="Georgia" pitchFamily="34" charset="0"/>
            </a:endParaRPr>
          </a:p>
        </p:txBody>
      </p:sp>
      <p:grpSp>
        <p:nvGrpSpPr>
          <p:cNvPr id="192" name="组合 191">
            <a:extLst>
              <a:ext uri="{FF2B5EF4-FFF2-40B4-BE49-F238E27FC236}">
                <a16:creationId xmlns:a16="http://schemas.microsoft.com/office/drawing/2014/main" id="{DC12768C-F49A-42E2-AD0F-E8CD36924C1C}"/>
              </a:ext>
            </a:extLst>
          </p:cNvPr>
          <p:cNvGrpSpPr/>
          <p:nvPr/>
        </p:nvGrpSpPr>
        <p:grpSpPr>
          <a:xfrm>
            <a:off x="760649" y="3144819"/>
            <a:ext cx="3122956" cy="1372515"/>
            <a:chOff x="809289" y="3144819"/>
            <a:chExt cx="3122956" cy="1372515"/>
          </a:xfrm>
        </p:grpSpPr>
        <p:cxnSp>
          <p:nvCxnSpPr>
            <p:cNvPr id="98" name="直线箭头连接符 97">
              <a:extLst>
                <a:ext uri="{FF2B5EF4-FFF2-40B4-BE49-F238E27FC236}">
                  <a16:creationId xmlns:a16="http://schemas.microsoft.com/office/drawing/2014/main" id="{409A895B-DCE4-75E7-2F59-3E3C6DFD025D}"/>
                </a:ext>
              </a:extLst>
            </p:cNvPr>
            <p:cNvCxnSpPr>
              <a:cxnSpLocks/>
              <a:stCxn id="168" idx="3"/>
              <a:endCxn id="175" idx="1"/>
            </p:cNvCxnSpPr>
            <p:nvPr/>
          </p:nvCxnSpPr>
          <p:spPr>
            <a:xfrm>
              <a:off x="2953522" y="4069148"/>
              <a:ext cx="80447" cy="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圆角矩形 119">
              <a:extLst>
                <a:ext uri="{FF2B5EF4-FFF2-40B4-BE49-F238E27FC236}">
                  <a16:creationId xmlns:a16="http://schemas.microsoft.com/office/drawing/2014/main" id="{999A835D-BF0B-6596-85B9-EE059B5CDDC1}"/>
                </a:ext>
              </a:extLst>
            </p:cNvPr>
            <p:cNvSpPr/>
            <p:nvPr/>
          </p:nvSpPr>
          <p:spPr>
            <a:xfrm>
              <a:off x="809289" y="3615326"/>
              <a:ext cx="666666"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Conv2d</a:t>
              </a:r>
            </a:p>
            <a:p>
              <a:pPr algn="ctr"/>
              <a:r>
                <a:rPr kumimoji="1" lang="en-US" altLang="zh-CN" sz="1050" dirty="0"/>
                <a:t>-&gt;</a:t>
              </a:r>
            </a:p>
            <a:p>
              <a:pPr algn="ctr"/>
              <a:r>
                <a:rPr kumimoji="1" lang="en-US" altLang="zh-CN" sz="1050" dirty="0"/>
                <a:t>1,</a:t>
              </a:r>
              <a:r>
                <a:rPr kumimoji="1" lang="zh-CN" altLang="en-US" sz="1050" dirty="0"/>
                <a:t> </a:t>
              </a:r>
              <a:r>
                <a:rPr kumimoji="1" lang="en-US" altLang="zh-CN" sz="1050" dirty="0"/>
                <a:t>32,</a:t>
              </a:r>
              <a:r>
                <a:rPr kumimoji="1" lang="zh-CN" altLang="en-US" sz="1050" dirty="0"/>
                <a:t> </a:t>
              </a:r>
              <a:r>
                <a:rPr kumimoji="1" lang="en-US" altLang="zh-CN" sz="1050" dirty="0"/>
                <a:t>3x3</a:t>
              </a:r>
              <a:endParaRPr kumimoji="1" lang="zh-SG" altLang="en-US" sz="1050" dirty="0"/>
            </a:p>
          </p:txBody>
        </p:sp>
        <p:sp>
          <p:nvSpPr>
            <p:cNvPr id="121" name="圆角矩形 120">
              <a:extLst>
                <a:ext uri="{FF2B5EF4-FFF2-40B4-BE49-F238E27FC236}">
                  <a16:creationId xmlns:a16="http://schemas.microsoft.com/office/drawing/2014/main" id="{3712C1A5-4392-2301-02DF-3B59E025AA2D}"/>
                </a:ext>
              </a:extLst>
            </p:cNvPr>
            <p:cNvSpPr/>
            <p:nvPr/>
          </p:nvSpPr>
          <p:spPr>
            <a:xfrm>
              <a:off x="1556402" y="3615326"/>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1200" dirty="0"/>
            </a:p>
          </p:txBody>
        </p:sp>
        <p:sp>
          <p:nvSpPr>
            <p:cNvPr id="123" name="圆角矩形 122">
              <a:extLst>
                <a:ext uri="{FF2B5EF4-FFF2-40B4-BE49-F238E27FC236}">
                  <a16:creationId xmlns:a16="http://schemas.microsoft.com/office/drawing/2014/main" id="{11376BBF-C074-D141-05D8-A161D74F7634}"/>
                </a:ext>
              </a:extLst>
            </p:cNvPr>
            <p:cNvSpPr/>
            <p:nvPr/>
          </p:nvSpPr>
          <p:spPr>
            <a:xfrm>
              <a:off x="3582700" y="3615326"/>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124" name="文本框 123">
              <a:extLst>
                <a:ext uri="{FF2B5EF4-FFF2-40B4-BE49-F238E27FC236}">
                  <a16:creationId xmlns:a16="http://schemas.microsoft.com/office/drawing/2014/main" id="{6E08099D-BE7D-5C9B-2B4F-3BE208E20EBE}"/>
                </a:ext>
              </a:extLst>
            </p:cNvPr>
            <p:cNvSpPr txBox="1"/>
            <p:nvPr/>
          </p:nvSpPr>
          <p:spPr>
            <a:xfrm>
              <a:off x="3562913" y="3762942"/>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125" name="肘形连接符 124">
              <a:extLst>
                <a:ext uri="{FF2B5EF4-FFF2-40B4-BE49-F238E27FC236}">
                  <a16:creationId xmlns:a16="http://schemas.microsoft.com/office/drawing/2014/main" id="{5DCA4FCF-D31E-DA47-8D7B-AB37D7599421}"/>
                </a:ext>
              </a:extLst>
            </p:cNvPr>
            <p:cNvCxnSpPr>
              <a:cxnSpLocks/>
              <a:stCxn id="120" idx="0"/>
              <a:endCxn id="123" idx="0"/>
            </p:cNvCxnSpPr>
            <p:nvPr/>
          </p:nvCxnSpPr>
          <p:spPr>
            <a:xfrm rot="5400000" flipH="1" flipV="1">
              <a:off x="2434322" y="2323626"/>
              <a:ext cx="12700" cy="25834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126" name="文本框 125">
              <a:extLst>
                <a:ext uri="{FF2B5EF4-FFF2-40B4-BE49-F238E27FC236}">
                  <a16:creationId xmlns:a16="http://schemas.microsoft.com/office/drawing/2014/main" id="{F1827635-64CF-F139-CE7C-A449C2CAA54D}"/>
                </a:ext>
              </a:extLst>
            </p:cNvPr>
            <p:cNvSpPr txBox="1"/>
            <p:nvPr/>
          </p:nvSpPr>
          <p:spPr>
            <a:xfrm>
              <a:off x="1467579" y="3144819"/>
              <a:ext cx="1817036" cy="276999"/>
            </a:xfrm>
            <a:prstGeom prst="rect">
              <a:avLst/>
            </a:prstGeom>
            <a:noFill/>
          </p:spPr>
          <p:txBody>
            <a:bodyPr wrap="none" rtlCol="0">
              <a:spAutoFit/>
            </a:bodyPr>
            <a:lstStyle/>
            <a:p>
              <a:r>
                <a:rPr kumimoji="1" lang="en-US" altLang="zh-CN" sz="1200" i="1" dirty="0">
                  <a:solidFill>
                    <a:schemeClr val="accent3"/>
                  </a:solidFill>
                </a:rPr>
                <a:t>Conv</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1(32ch,</a:t>
              </a:r>
              <a:r>
                <a:rPr kumimoji="1" lang="zh-CN" altLang="en-US" sz="1200" i="1" dirty="0">
                  <a:solidFill>
                    <a:schemeClr val="accent3"/>
                  </a:solidFill>
                </a:rPr>
                <a:t> </a:t>
              </a:r>
              <a:r>
                <a:rPr kumimoji="1" lang="en-US" altLang="zh-CN" sz="1200" i="1" dirty="0">
                  <a:solidFill>
                    <a:schemeClr val="accent3"/>
                  </a:solidFill>
                </a:rPr>
                <a:t>14x14)</a:t>
              </a:r>
              <a:endParaRPr kumimoji="1" lang="zh-SG" altLang="en-US" sz="1200" i="1" dirty="0">
                <a:solidFill>
                  <a:schemeClr val="accent3"/>
                </a:solidFill>
              </a:endParaRPr>
            </a:p>
          </p:txBody>
        </p:sp>
        <p:cxnSp>
          <p:nvCxnSpPr>
            <p:cNvPr id="145" name="直线箭头连接符 144">
              <a:extLst>
                <a:ext uri="{FF2B5EF4-FFF2-40B4-BE49-F238E27FC236}">
                  <a16:creationId xmlns:a16="http://schemas.microsoft.com/office/drawing/2014/main" id="{85406710-5A62-23FD-C2FC-1E98614FAB77}"/>
                </a:ext>
              </a:extLst>
            </p:cNvPr>
            <p:cNvCxnSpPr>
              <a:cxnSpLocks/>
              <a:stCxn id="120" idx="3"/>
              <a:endCxn id="121" idx="1"/>
            </p:cNvCxnSpPr>
            <p:nvPr/>
          </p:nvCxnSpPr>
          <p:spPr>
            <a:xfrm>
              <a:off x="1475955" y="4062798"/>
              <a:ext cx="80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直线箭头连接符 145">
              <a:extLst>
                <a:ext uri="{FF2B5EF4-FFF2-40B4-BE49-F238E27FC236}">
                  <a16:creationId xmlns:a16="http://schemas.microsoft.com/office/drawing/2014/main" id="{FA80DB75-D1E8-0DDF-F32D-98B7904A7CB1}"/>
                </a:ext>
              </a:extLst>
            </p:cNvPr>
            <p:cNvCxnSpPr>
              <a:cxnSpLocks/>
              <a:stCxn id="121" idx="3"/>
              <a:endCxn id="165" idx="1"/>
            </p:cNvCxnSpPr>
            <p:nvPr/>
          </p:nvCxnSpPr>
          <p:spPr>
            <a:xfrm>
              <a:off x="1843045" y="4062798"/>
              <a:ext cx="80447"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4" name="文本框 163">
              <a:extLst>
                <a:ext uri="{FF2B5EF4-FFF2-40B4-BE49-F238E27FC236}">
                  <a16:creationId xmlns:a16="http://schemas.microsoft.com/office/drawing/2014/main" id="{3F7B2B58-90C0-6A27-9FC0-F2DC18DFF04A}"/>
                </a:ext>
              </a:extLst>
            </p:cNvPr>
            <p:cNvSpPr txBox="1"/>
            <p:nvPr/>
          </p:nvSpPr>
          <p:spPr>
            <a:xfrm>
              <a:off x="1504034" y="3761699"/>
              <a:ext cx="369332" cy="628121"/>
            </a:xfrm>
            <a:prstGeom prst="rect">
              <a:avLst/>
            </a:prstGeom>
            <a:noFill/>
          </p:spPr>
          <p:txBody>
            <a:bodyPr vert="eaVert" wrap="none" rtlCol="0">
              <a:spAutoFit/>
            </a:bodyPr>
            <a:lstStyle/>
            <a:p>
              <a:r>
                <a:rPr kumimoji="1" lang="en-US" altLang="zh-CN" sz="1200" dirty="0">
                  <a:solidFill>
                    <a:schemeClr val="bg1"/>
                  </a:solidFill>
                </a:rPr>
                <a:t>BN</a:t>
              </a:r>
              <a:r>
                <a:rPr kumimoji="1" lang="zh-CN" altLang="en-US" sz="1200" dirty="0">
                  <a:solidFill>
                    <a:schemeClr val="bg1"/>
                  </a:solidFill>
                </a:rPr>
                <a:t> </a:t>
              </a:r>
              <a:r>
                <a:rPr kumimoji="1" lang="en-US" altLang="zh-CN" sz="1200" dirty="0" err="1">
                  <a:solidFill>
                    <a:schemeClr val="bg1"/>
                  </a:solidFill>
                </a:rPr>
                <a:t>ReLU</a:t>
              </a:r>
              <a:endParaRPr kumimoji="1" lang="zh-SG" altLang="en-US" sz="1200" dirty="0">
                <a:solidFill>
                  <a:schemeClr val="bg1"/>
                </a:solidFill>
              </a:endParaRPr>
            </a:p>
          </p:txBody>
        </p:sp>
        <p:sp>
          <p:nvSpPr>
            <p:cNvPr id="165" name="圆角矩形 164">
              <a:extLst>
                <a:ext uri="{FF2B5EF4-FFF2-40B4-BE49-F238E27FC236}">
                  <a16:creationId xmlns:a16="http://schemas.microsoft.com/office/drawing/2014/main" id="{82363AAE-E235-DC5C-97E2-B645CC01290F}"/>
                </a:ext>
              </a:extLst>
            </p:cNvPr>
            <p:cNvSpPr/>
            <p:nvPr/>
          </p:nvSpPr>
          <p:spPr>
            <a:xfrm>
              <a:off x="1923492" y="3621676"/>
              <a:ext cx="662940"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Conv2d</a:t>
              </a:r>
            </a:p>
            <a:p>
              <a:pPr algn="ctr"/>
              <a:r>
                <a:rPr kumimoji="1" lang="en-US" altLang="zh-CN" sz="1050" dirty="0"/>
                <a:t>-&gt;</a:t>
              </a:r>
            </a:p>
            <a:p>
              <a:pPr algn="ctr"/>
              <a:r>
                <a:rPr kumimoji="1" lang="en-US" altLang="zh-CN" sz="1050" dirty="0"/>
                <a:t>32,</a:t>
              </a:r>
              <a:r>
                <a:rPr kumimoji="1" lang="zh-CN" altLang="en-US" sz="1050" dirty="0"/>
                <a:t> </a:t>
              </a:r>
              <a:r>
                <a:rPr kumimoji="1" lang="en-US" altLang="zh-CN" sz="1050" dirty="0"/>
                <a:t>32,</a:t>
              </a:r>
              <a:r>
                <a:rPr kumimoji="1" lang="zh-CN" altLang="en-US" sz="1050" dirty="0"/>
                <a:t> </a:t>
              </a:r>
              <a:r>
                <a:rPr kumimoji="1" lang="en-US" altLang="zh-CN" sz="1050" dirty="0"/>
                <a:t>3x3</a:t>
              </a:r>
              <a:endParaRPr kumimoji="1" lang="zh-SG" altLang="en-US" sz="1050" dirty="0"/>
            </a:p>
          </p:txBody>
        </p:sp>
        <p:sp>
          <p:nvSpPr>
            <p:cNvPr id="168" name="圆角矩形 167">
              <a:extLst>
                <a:ext uri="{FF2B5EF4-FFF2-40B4-BE49-F238E27FC236}">
                  <a16:creationId xmlns:a16="http://schemas.microsoft.com/office/drawing/2014/main" id="{84DE11AE-3EC4-435F-4054-BFCA41E77C70}"/>
                </a:ext>
              </a:extLst>
            </p:cNvPr>
            <p:cNvSpPr/>
            <p:nvPr/>
          </p:nvSpPr>
          <p:spPr>
            <a:xfrm>
              <a:off x="2666879" y="3621676"/>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1200" dirty="0"/>
            </a:p>
          </p:txBody>
        </p:sp>
        <p:sp>
          <p:nvSpPr>
            <p:cNvPr id="175" name="圆角矩形 174">
              <a:extLst>
                <a:ext uri="{FF2B5EF4-FFF2-40B4-BE49-F238E27FC236}">
                  <a16:creationId xmlns:a16="http://schemas.microsoft.com/office/drawing/2014/main" id="{D07ABAA0-58DB-EBDE-318C-76C199ED71D8}"/>
                </a:ext>
              </a:extLst>
            </p:cNvPr>
            <p:cNvSpPr/>
            <p:nvPr/>
          </p:nvSpPr>
          <p:spPr>
            <a:xfrm>
              <a:off x="3033969" y="3622390"/>
              <a:ext cx="468283" cy="894944"/>
            </a:xfrm>
            <a:prstGeom prst="roundRect">
              <a:avLst/>
            </a:prstGeom>
            <a:solidFill>
              <a:srgbClr val="37A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M</a:t>
              </a:r>
              <a:r>
                <a:rPr kumimoji="1" lang="en-US" altLang="zh-CN" sz="1050" dirty="0"/>
                <a:t>ax</a:t>
              </a:r>
            </a:p>
            <a:p>
              <a:pPr algn="ctr"/>
              <a:r>
                <a:rPr kumimoji="1" lang="en-US" altLang="zh-CN" sz="1050" dirty="0"/>
                <a:t>Pool</a:t>
              </a:r>
              <a:endParaRPr kumimoji="1" lang="zh-SG" altLang="en-US" sz="1050" dirty="0"/>
            </a:p>
          </p:txBody>
        </p:sp>
        <p:sp>
          <p:nvSpPr>
            <p:cNvPr id="176" name="文本框 175">
              <a:extLst>
                <a:ext uri="{FF2B5EF4-FFF2-40B4-BE49-F238E27FC236}">
                  <a16:creationId xmlns:a16="http://schemas.microsoft.com/office/drawing/2014/main" id="{ABA34FD2-681E-5602-879C-E6837DB721D8}"/>
                </a:ext>
              </a:extLst>
            </p:cNvPr>
            <p:cNvSpPr txBox="1"/>
            <p:nvPr/>
          </p:nvSpPr>
          <p:spPr>
            <a:xfrm>
              <a:off x="2622391" y="3767404"/>
              <a:ext cx="369332" cy="628121"/>
            </a:xfrm>
            <a:prstGeom prst="rect">
              <a:avLst/>
            </a:prstGeom>
            <a:noFill/>
          </p:spPr>
          <p:txBody>
            <a:bodyPr vert="eaVert" wrap="none" rtlCol="0">
              <a:spAutoFit/>
            </a:bodyPr>
            <a:lstStyle/>
            <a:p>
              <a:r>
                <a:rPr kumimoji="1" lang="en-US" altLang="zh-CN" sz="1200" dirty="0">
                  <a:solidFill>
                    <a:schemeClr val="bg1"/>
                  </a:solidFill>
                </a:rPr>
                <a:t>BN</a:t>
              </a:r>
              <a:r>
                <a:rPr kumimoji="1" lang="zh-CN" altLang="en-US" sz="1200" dirty="0">
                  <a:solidFill>
                    <a:schemeClr val="bg1"/>
                  </a:solidFill>
                </a:rPr>
                <a:t> </a:t>
              </a:r>
              <a:r>
                <a:rPr kumimoji="1" lang="en-US" altLang="zh-CN" sz="1200" dirty="0" err="1">
                  <a:solidFill>
                    <a:schemeClr val="bg1"/>
                  </a:solidFill>
                </a:rPr>
                <a:t>ReLU</a:t>
              </a:r>
              <a:endParaRPr kumimoji="1" lang="zh-SG" altLang="en-US" sz="1200" dirty="0">
                <a:solidFill>
                  <a:schemeClr val="bg1"/>
                </a:solidFill>
              </a:endParaRPr>
            </a:p>
          </p:txBody>
        </p:sp>
        <p:cxnSp>
          <p:nvCxnSpPr>
            <p:cNvPr id="180" name="直线箭头连接符 179">
              <a:extLst>
                <a:ext uri="{FF2B5EF4-FFF2-40B4-BE49-F238E27FC236}">
                  <a16:creationId xmlns:a16="http://schemas.microsoft.com/office/drawing/2014/main" id="{B1424CFD-D4FB-E82C-E1E6-33457E8EA48D}"/>
                </a:ext>
              </a:extLst>
            </p:cNvPr>
            <p:cNvCxnSpPr>
              <a:cxnSpLocks/>
              <a:stCxn id="175" idx="3"/>
              <a:endCxn id="123" idx="1"/>
            </p:cNvCxnSpPr>
            <p:nvPr/>
          </p:nvCxnSpPr>
          <p:spPr>
            <a:xfrm flipV="1">
              <a:off x="3502252" y="4062798"/>
              <a:ext cx="80448" cy="7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直线箭头连接符 183">
              <a:extLst>
                <a:ext uri="{FF2B5EF4-FFF2-40B4-BE49-F238E27FC236}">
                  <a16:creationId xmlns:a16="http://schemas.microsoft.com/office/drawing/2014/main" id="{7C9B76C7-A081-7941-B555-83B022F9C6A6}"/>
                </a:ext>
              </a:extLst>
            </p:cNvPr>
            <p:cNvCxnSpPr>
              <a:cxnSpLocks/>
              <a:stCxn id="165" idx="3"/>
              <a:endCxn id="168" idx="1"/>
            </p:cNvCxnSpPr>
            <p:nvPr/>
          </p:nvCxnSpPr>
          <p:spPr>
            <a:xfrm>
              <a:off x="2586432" y="4069148"/>
              <a:ext cx="80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93" name="组合 192">
            <a:extLst>
              <a:ext uri="{FF2B5EF4-FFF2-40B4-BE49-F238E27FC236}">
                <a16:creationId xmlns:a16="http://schemas.microsoft.com/office/drawing/2014/main" id="{A184380E-862D-4955-31D2-A549F5BB2507}"/>
              </a:ext>
            </a:extLst>
          </p:cNvPr>
          <p:cNvGrpSpPr/>
          <p:nvPr/>
        </p:nvGrpSpPr>
        <p:grpSpPr>
          <a:xfrm>
            <a:off x="3930385" y="3141170"/>
            <a:ext cx="3122956" cy="1372515"/>
            <a:chOff x="809289" y="3144819"/>
            <a:chExt cx="3122956" cy="1372515"/>
          </a:xfrm>
        </p:grpSpPr>
        <p:cxnSp>
          <p:nvCxnSpPr>
            <p:cNvPr id="194" name="直线箭头连接符 193">
              <a:extLst>
                <a:ext uri="{FF2B5EF4-FFF2-40B4-BE49-F238E27FC236}">
                  <a16:creationId xmlns:a16="http://schemas.microsoft.com/office/drawing/2014/main" id="{65A25FD5-0900-C43A-368A-DCD310266E0D}"/>
                </a:ext>
              </a:extLst>
            </p:cNvPr>
            <p:cNvCxnSpPr>
              <a:cxnSpLocks/>
              <a:stCxn id="205" idx="3"/>
              <a:endCxn id="206" idx="1"/>
            </p:cNvCxnSpPr>
            <p:nvPr/>
          </p:nvCxnSpPr>
          <p:spPr>
            <a:xfrm>
              <a:off x="2953522" y="4069148"/>
              <a:ext cx="80447" cy="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5" name="圆角矩形 194">
              <a:extLst>
                <a:ext uri="{FF2B5EF4-FFF2-40B4-BE49-F238E27FC236}">
                  <a16:creationId xmlns:a16="http://schemas.microsoft.com/office/drawing/2014/main" id="{E325179C-7475-46D2-971D-A687DC39B603}"/>
                </a:ext>
              </a:extLst>
            </p:cNvPr>
            <p:cNvSpPr/>
            <p:nvPr/>
          </p:nvSpPr>
          <p:spPr>
            <a:xfrm>
              <a:off x="809289" y="3615326"/>
              <a:ext cx="666666"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Conv2d</a:t>
              </a:r>
            </a:p>
            <a:p>
              <a:pPr algn="ctr"/>
              <a:r>
                <a:rPr kumimoji="1" lang="en-US" altLang="zh-CN" sz="1050" dirty="0"/>
                <a:t>-&gt;</a:t>
              </a:r>
            </a:p>
            <a:p>
              <a:pPr algn="ctr"/>
              <a:r>
                <a:rPr kumimoji="1" lang="en-US" altLang="zh-CN" sz="1050" dirty="0"/>
                <a:t>32,</a:t>
              </a:r>
              <a:r>
                <a:rPr kumimoji="1" lang="zh-CN" altLang="en-US" sz="1050" dirty="0"/>
                <a:t> </a:t>
              </a:r>
              <a:r>
                <a:rPr kumimoji="1" lang="en-US" altLang="zh-CN" sz="1050" dirty="0"/>
                <a:t>64,</a:t>
              </a:r>
              <a:r>
                <a:rPr kumimoji="1" lang="zh-CN" altLang="en-US" sz="1050" dirty="0"/>
                <a:t> </a:t>
              </a:r>
              <a:r>
                <a:rPr kumimoji="1" lang="en-US" altLang="zh-CN" sz="1050" dirty="0"/>
                <a:t>3x3</a:t>
              </a:r>
              <a:endParaRPr kumimoji="1" lang="zh-SG" altLang="en-US" sz="1050" dirty="0"/>
            </a:p>
          </p:txBody>
        </p:sp>
        <p:sp>
          <p:nvSpPr>
            <p:cNvPr id="196" name="圆角矩形 195">
              <a:extLst>
                <a:ext uri="{FF2B5EF4-FFF2-40B4-BE49-F238E27FC236}">
                  <a16:creationId xmlns:a16="http://schemas.microsoft.com/office/drawing/2014/main" id="{25234475-D322-CA90-7BB7-222FB9064A34}"/>
                </a:ext>
              </a:extLst>
            </p:cNvPr>
            <p:cNvSpPr/>
            <p:nvPr/>
          </p:nvSpPr>
          <p:spPr>
            <a:xfrm>
              <a:off x="1556402" y="3615326"/>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1200" dirty="0"/>
            </a:p>
          </p:txBody>
        </p:sp>
        <p:sp>
          <p:nvSpPr>
            <p:cNvPr id="197" name="圆角矩形 196">
              <a:extLst>
                <a:ext uri="{FF2B5EF4-FFF2-40B4-BE49-F238E27FC236}">
                  <a16:creationId xmlns:a16="http://schemas.microsoft.com/office/drawing/2014/main" id="{2EC0F879-867F-DABC-5D01-15D6A3509A74}"/>
                </a:ext>
              </a:extLst>
            </p:cNvPr>
            <p:cNvSpPr/>
            <p:nvPr/>
          </p:nvSpPr>
          <p:spPr>
            <a:xfrm>
              <a:off x="3582700" y="3615326"/>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198" name="文本框 197">
              <a:extLst>
                <a:ext uri="{FF2B5EF4-FFF2-40B4-BE49-F238E27FC236}">
                  <a16:creationId xmlns:a16="http://schemas.microsoft.com/office/drawing/2014/main" id="{87E725BA-9905-40FF-8AE8-4238B586F43A}"/>
                </a:ext>
              </a:extLst>
            </p:cNvPr>
            <p:cNvSpPr txBox="1"/>
            <p:nvPr/>
          </p:nvSpPr>
          <p:spPr>
            <a:xfrm>
              <a:off x="3562913" y="3762942"/>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199" name="肘形连接符 198">
              <a:extLst>
                <a:ext uri="{FF2B5EF4-FFF2-40B4-BE49-F238E27FC236}">
                  <a16:creationId xmlns:a16="http://schemas.microsoft.com/office/drawing/2014/main" id="{86766818-0EF0-2146-2A4F-5909251CA4A0}"/>
                </a:ext>
              </a:extLst>
            </p:cNvPr>
            <p:cNvCxnSpPr>
              <a:cxnSpLocks/>
              <a:stCxn id="195" idx="0"/>
              <a:endCxn id="197" idx="0"/>
            </p:cNvCxnSpPr>
            <p:nvPr/>
          </p:nvCxnSpPr>
          <p:spPr>
            <a:xfrm rot="5400000" flipH="1" flipV="1">
              <a:off x="2434322" y="2323626"/>
              <a:ext cx="12700" cy="25834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200" name="文本框 199">
              <a:extLst>
                <a:ext uri="{FF2B5EF4-FFF2-40B4-BE49-F238E27FC236}">
                  <a16:creationId xmlns:a16="http://schemas.microsoft.com/office/drawing/2014/main" id="{C1589F5F-6A15-6BF9-58D3-A0C15C10A4B5}"/>
                </a:ext>
              </a:extLst>
            </p:cNvPr>
            <p:cNvSpPr txBox="1"/>
            <p:nvPr/>
          </p:nvSpPr>
          <p:spPr>
            <a:xfrm>
              <a:off x="1467579" y="3144819"/>
              <a:ext cx="1659942" cy="276999"/>
            </a:xfrm>
            <a:prstGeom prst="rect">
              <a:avLst/>
            </a:prstGeom>
            <a:noFill/>
          </p:spPr>
          <p:txBody>
            <a:bodyPr wrap="none" rtlCol="0">
              <a:spAutoFit/>
            </a:bodyPr>
            <a:lstStyle/>
            <a:p>
              <a:r>
                <a:rPr kumimoji="1" lang="en-US" altLang="zh-CN" sz="1200" i="1" dirty="0">
                  <a:solidFill>
                    <a:schemeClr val="accent3"/>
                  </a:solidFill>
                </a:rPr>
                <a:t>Conv</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2(64ch,</a:t>
              </a:r>
              <a:r>
                <a:rPr kumimoji="1" lang="zh-CN" altLang="en-US" sz="1200" i="1" dirty="0">
                  <a:solidFill>
                    <a:schemeClr val="accent3"/>
                  </a:solidFill>
                </a:rPr>
                <a:t> </a:t>
              </a:r>
              <a:r>
                <a:rPr kumimoji="1" lang="en-US" altLang="zh-CN" sz="1200" i="1" dirty="0">
                  <a:solidFill>
                    <a:schemeClr val="accent3"/>
                  </a:solidFill>
                </a:rPr>
                <a:t>7x7)</a:t>
              </a:r>
              <a:endParaRPr kumimoji="1" lang="zh-SG" altLang="en-US" sz="1200" i="1" dirty="0">
                <a:solidFill>
                  <a:schemeClr val="accent3"/>
                </a:solidFill>
              </a:endParaRPr>
            </a:p>
          </p:txBody>
        </p:sp>
        <p:cxnSp>
          <p:nvCxnSpPr>
            <p:cNvPr id="201" name="直线箭头连接符 200">
              <a:extLst>
                <a:ext uri="{FF2B5EF4-FFF2-40B4-BE49-F238E27FC236}">
                  <a16:creationId xmlns:a16="http://schemas.microsoft.com/office/drawing/2014/main" id="{D18B5FDF-650C-447B-98D3-87ED7A08EF61}"/>
                </a:ext>
              </a:extLst>
            </p:cNvPr>
            <p:cNvCxnSpPr>
              <a:cxnSpLocks/>
              <a:stCxn id="195" idx="3"/>
              <a:endCxn id="196" idx="1"/>
            </p:cNvCxnSpPr>
            <p:nvPr/>
          </p:nvCxnSpPr>
          <p:spPr>
            <a:xfrm>
              <a:off x="1475955" y="4062798"/>
              <a:ext cx="80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2" name="直线箭头连接符 201">
              <a:extLst>
                <a:ext uri="{FF2B5EF4-FFF2-40B4-BE49-F238E27FC236}">
                  <a16:creationId xmlns:a16="http://schemas.microsoft.com/office/drawing/2014/main" id="{A23A9D27-0AEC-EFC9-E5A6-40EE52199DA8}"/>
                </a:ext>
              </a:extLst>
            </p:cNvPr>
            <p:cNvCxnSpPr>
              <a:cxnSpLocks/>
              <a:stCxn id="196" idx="3"/>
              <a:endCxn id="204" idx="1"/>
            </p:cNvCxnSpPr>
            <p:nvPr/>
          </p:nvCxnSpPr>
          <p:spPr>
            <a:xfrm>
              <a:off x="1843045" y="4062798"/>
              <a:ext cx="80447"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3" name="文本框 202">
              <a:extLst>
                <a:ext uri="{FF2B5EF4-FFF2-40B4-BE49-F238E27FC236}">
                  <a16:creationId xmlns:a16="http://schemas.microsoft.com/office/drawing/2014/main" id="{F83F9758-A4FC-1B7D-F516-087E7C5FB74E}"/>
                </a:ext>
              </a:extLst>
            </p:cNvPr>
            <p:cNvSpPr txBox="1"/>
            <p:nvPr/>
          </p:nvSpPr>
          <p:spPr>
            <a:xfrm>
              <a:off x="1504034" y="3761699"/>
              <a:ext cx="369332" cy="628121"/>
            </a:xfrm>
            <a:prstGeom prst="rect">
              <a:avLst/>
            </a:prstGeom>
            <a:noFill/>
          </p:spPr>
          <p:txBody>
            <a:bodyPr vert="eaVert" wrap="none" rtlCol="0">
              <a:spAutoFit/>
            </a:bodyPr>
            <a:lstStyle/>
            <a:p>
              <a:r>
                <a:rPr kumimoji="1" lang="en-US" altLang="zh-CN" sz="1200" dirty="0">
                  <a:solidFill>
                    <a:schemeClr val="bg1"/>
                  </a:solidFill>
                </a:rPr>
                <a:t>BN</a:t>
              </a:r>
              <a:r>
                <a:rPr kumimoji="1" lang="zh-CN" altLang="en-US" sz="1200" dirty="0">
                  <a:solidFill>
                    <a:schemeClr val="bg1"/>
                  </a:solidFill>
                </a:rPr>
                <a:t> </a:t>
              </a:r>
              <a:r>
                <a:rPr kumimoji="1" lang="en-US" altLang="zh-CN" sz="1200" dirty="0" err="1">
                  <a:solidFill>
                    <a:schemeClr val="bg1"/>
                  </a:solidFill>
                </a:rPr>
                <a:t>ReLU</a:t>
              </a:r>
              <a:endParaRPr kumimoji="1" lang="zh-SG" altLang="en-US" sz="1200" dirty="0">
                <a:solidFill>
                  <a:schemeClr val="bg1"/>
                </a:solidFill>
              </a:endParaRPr>
            </a:p>
          </p:txBody>
        </p:sp>
        <p:sp>
          <p:nvSpPr>
            <p:cNvPr id="204" name="圆角矩形 203">
              <a:extLst>
                <a:ext uri="{FF2B5EF4-FFF2-40B4-BE49-F238E27FC236}">
                  <a16:creationId xmlns:a16="http://schemas.microsoft.com/office/drawing/2014/main" id="{DCB2684D-E9DE-F608-3148-4F1D87B925AD}"/>
                </a:ext>
              </a:extLst>
            </p:cNvPr>
            <p:cNvSpPr/>
            <p:nvPr/>
          </p:nvSpPr>
          <p:spPr>
            <a:xfrm>
              <a:off x="1923492" y="3621676"/>
              <a:ext cx="662940"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Conv2d</a:t>
              </a:r>
            </a:p>
            <a:p>
              <a:pPr algn="ctr"/>
              <a:r>
                <a:rPr kumimoji="1" lang="en-US" altLang="zh-CN" sz="1050" dirty="0"/>
                <a:t>-&gt;</a:t>
              </a:r>
            </a:p>
            <a:p>
              <a:pPr algn="ctr"/>
              <a:r>
                <a:rPr kumimoji="1" lang="en-US" altLang="zh-CN" sz="1050" dirty="0"/>
                <a:t>64,</a:t>
              </a:r>
              <a:r>
                <a:rPr kumimoji="1" lang="zh-CN" altLang="en-US" sz="1050" dirty="0"/>
                <a:t> </a:t>
              </a:r>
              <a:r>
                <a:rPr kumimoji="1" lang="en-US" altLang="zh-CN" sz="1050" dirty="0"/>
                <a:t>64,</a:t>
              </a:r>
              <a:r>
                <a:rPr kumimoji="1" lang="zh-CN" altLang="en-US" sz="1050" dirty="0"/>
                <a:t> </a:t>
              </a:r>
              <a:r>
                <a:rPr kumimoji="1" lang="en-US" altLang="zh-CN" sz="1050" dirty="0"/>
                <a:t>3x3</a:t>
              </a:r>
              <a:endParaRPr kumimoji="1" lang="zh-SG" altLang="en-US" sz="1050" dirty="0"/>
            </a:p>
          </p:txBody>
        </p:sp>
        <p:sp>
          <p:nvSpPr>
            <p:cNvPr id="205" name="圆角矩形 204">
              <a:extLst>
                <a:ext uri="{FF2B5EF4-FFF2-40B4-BE49-F238E27FC236}">
                  <a16:creationId xmlns:a16="http://schemas.microsoft.com/office/drawing/2014/main" id="{592F45CA-771C-05BE-FF64-27C63720B5B5}"/>
                </a:ext>
              </a:extLst>
            </p:cNvPr>
            <p:cNvSpPr/>
            <p:nvPr/>
          </p:nvSpPr>
          <p:spPr>
            <a:xfrm>
              <a:off x="2666879" y="3621676"/>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1200" dirty="0"/>
            </a:p>
          </p:txBody>
        </p:sp>
        <p:sp>
          <p:nvSpPr>
            <p:cNvPr id="206" name="圆角矩形 205">
              <a:extLst>
                <a:ext uri="{FF2B5EF4-FFF2-40B4-BE49-F238E27FC236}">
                  <a16:creationId xmlns:a16="http://schemas.microsoft.com/office/drawing/2014/main" id="{C608A4DD-0A75-73F2-B29E-5FDD7CA87847}"/>
                </a:ext>
              </a:extLst>
            </p:cNvPr>
            <p:cNvSpPr/>
            <p:nvPr/>
          </p:nvSpPr>
          <p:spPr>
            <a:xfrm>
              <a:off x="3033969" y="3622390"/>
              <a:ext cx="468283" cy="894944"/>
            </a:xfrm>
            <a:prstGeom prst="roundRect">
              <a:avLst/>
            </a:prstGeom>
            <a:solidFill>
              <a:srgbClr val="37A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M</a:t>
              </a:r>
              <a:r>
                <a:rPr kumimoji="1" lang="en-US" altLang="zh-CN" sz="1050" dirty="0"/>
                <a:t>ax</a:t>
              </a:r>
            </a:p>
            <a:p>
              <a:pPr algn="ctr"/>
              <a:r>
                <a:rPr kumimoji="1" lang="en-US" altLang="zh-CN" sz="1050" dirty="0"/>
                <a:t>Pool</a:t>
              </a:r>
              <a:endParaRPr kumimoji="1" lang="zh-SG" altLang="en-US" sz="1050" dirty="0"/>
            </a:p>
          </p:txBody>
        </p:sp>
        <p:sp>
          <p:nvSpPr>
            <p:cNvPr id="207" name="文本框 206">
              <a:extLst>
                <a:ext uri="{FF2B5EF4-FFF2-40B4-BE49-F238E27FC236}">
                  <a16:creationId xmlns:a16="http://schemas.microsoft.com/office/drawing/2014/main" id="{237BA09B-802E-66CD-5721-A21FCD32ADE8}"/>
                </a:ext>
              </a:extLst>
            </p:cNvPr>
            <p:cNvSpPr txBox="1"/>
            <p:nvPr/>
          </p:nvSpPr>
          <p:spPr>
            <a:xfrm>
              <a:off x="2622391" y="3767404"/>
              <a:ext cx="369332" cy="628121"/>
            </a:xfrm>
            <a:prstGeom prst="rect">
              <a:avLst/>
            </a:prstGeom>
            <a:noFill/>
          </p:spPr>
          <p:txBody>
            <a:bodyPr vert="eaVert" wrap="none" rtlCol="0">
              <a:spAutoFit/>
            </a:bodyPr>
            <a:lstStyle/>
            <a:p>
              <a:r>
                <a:rPr kumimoji="1" lang="en-US" altLang="zh-CN" sz="1200" dirty="0">
                  <a:solidFill>
                    <a:schemeClr val="bg1"/>
                  </a:solidFill>
                </a:rPr>
                <a:t>BN</a:t>
              </a:r>
              <a:r>
                <a:rPr kumimoji="1" lang="zh-CN" altLang="en-US" sz="1200" dirty="0">
                  <a:solidFill>
                    <a:schemeClr val="bg1"/>
                  </a:solidFill>
                </a:rPr>
                <a:t> </a:t>
              </a:r>
              <a:r>
                <a:rPr kumimoji="1" lang="en-US" altLang="zh-CN" sz="1200" dirty="0" err="1">
                  <a:solidFill>
                    <a:schemeClr val="bg1"/>
                  </a:solidFill>
                </a:rPr>
                <a:t>ReLU</a:t>
              </a:r>
              <a:endParaRPr kumimoji="1" lang="zh-SG" altLang="en-US" sz="1200" dirty="0">
                <a:solidFill>
                  <a:schemeClr val="bg1"/>
                </a:solidFill>
              </a:endParaRPr>
            </a:p>
          </p:txBody>
        </p:sp>
        <p:cxnSp>
          <p:nvCxnSpPr>
            <p:cNvPr id="208" name="直线箭头连接符 207">
              <a:extLst>
                <a:ext uri="{FF2B5EF4-FFF2-40B4-BE49-F238E27FC236}">
                  <a16:creationId xmlns:a16="http://schemas.microsoft.com/office/drawing/2014/main" id="{92A227E6-3B60-C533-81BE-247629827543}"/>
                </a:ext>
              </a:extLst>
            </p:cNvPr>
            <p:cNvCxnSpPr>
              <a:cxnSpLocks/>
              <a:stCxn id="206" idx="3"/>
              <a:endCxn id="197" idx="1"/>
            </p:cNvCxnSpPr>
            <p:nvPr/>
          </p:nvCxnSpPr>
          <p:spPr>
            <a:xfrm flipV="1">
              <a:off x="3502252" y="4062798"/>
              <a:ext cx="80448" cy="7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 name="直线箭头连接符 208">
              <a:extLst>
                <a:ext uri="{FF2B5EF4-FFF2-40B4-BE49-F238E27FC236}">
                  <a16:creationId xmlns:a16="http://schemas.microsoft.com/office/drawing/2014/main" id="{05C97ABA-4939-DDDF-8E12-93D27F791322}"/>
                </a:ext>
              </a:extLst>
            </p:cNvPr>
            <p:cNvCxnSpPr>
              <a:cxnSpLocks/>
              <a:stCxn id="204" idx="3"/>
              <a:endCxn id="205" idx="1"/>
            </p:cNvCxnSpPr>
            <p:nvPr/>
          </p:nvCxnSpPr>
          <p:spPr>
            <a:xfrm>
              <a:off x="2586432" y="4069148"/>
              <a:ext cx="80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10" name="圆角矩形 209">
            <a:extLst>
              <a:ext uri="{FF2B5EF4-FFF2-40B4-BE49-F238E27FC236}">
                <a16:creationId xmlns:a16="http://schemas.microsoft.com/office/drawing/2014/main" id="{8A677F71-76D5-657B-637D-57EF601BA5AD}"/>
              </a:ext>
            </a:extLst>
          </p:cNvPr>
          <p:cNvSpPr/>
          <p:nvPr/>
        </p:nvSpPr>
        <p:spPr>
          <a:xfrm>
            <a:off x="7108160" y="3615326"/>
            <a:ext cx="581713" cy="894944"/>
          </a:xfrm>
          <a:prstGeom prst="roundRect">
            <a:avLst/>
          </a:prstGeom>
          <a:solidFill>
            <a:srgbClr val="7180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Flatten</a:t>
            </a:r>
          </a:p>
          <a:p>
            <a:pPr algn="ctr"/>
            <a:r>
              <a:rPr kumimoji="1" lang="en-US" altLang="zh-CN" sz="1050" dirty="0"/>
              <a:t>3136</a:t>
            </a:r>
            <a:endParaRPr kumimoji="1" lang="zh-SG" alt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CB789B8D-D013-A7B9-786C-5BAD958E7C4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E25164-3D0D-D6AB-A5DF-2B818E6B6D29}"/>
              </a:ext>
            </a:extLst>
          </p:cNvPr>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MLP — Multi-Layer Perceptron</a:t>
            </a:r>
            <a:endParaRPr lang="en-US" sz="2400" dirty="0"/>
          </a:p>
        </p:txBody>
      </p:sp>
      <p:sp>
        <p:nvSpPr>
          <p:cNvPr id="3" name="Shape 1">
            <a:extLst>
              <a:ext uri="{FF2B5EF4-FFF2-40B4-BE49-F238E27FC236}">
                <a16:creationId xmlns:a16="http://schemas.microsoft.com/office/drawing/2014/main" id="{90CCBD6C-5AB0-F368-BF3E-F7788ED7EB64}"/>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a:extLst>
              <a:ext uri="{FF2B5EF4-FFF2-40B4-BE49-F238E27FC236}">
                <a16:creationId xmlns:a16="http://schemas.microsoft.com/office/drawing/2014/main" id="{BF114575-EED4-510D-E8FB-89BD01DDD37A}"/>
              </a:ext>
            </a:extLst>
          </p:cNvPr>
          <p:cNvSpPr/>
          <p:nvPr/>
        </p:nvSpPr>
        <p:spPr>
          <a:xfrm>
            <a:off x="548640" y="1143000"/>
            <a:ext cx="3840480" cy="2468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3">
            <a:extLst>
              <a:ext uri="{FF2B5EF4-FFF2-40B4-BE49-F238E27FC236}">
                <a16:creationId xmlns:a16="http://schemas.microsoft.com/office/drawing/2014/main" id="{3B1FE060-E418-4FF3-0C22-600EDFB66D62}"/>
              </a:ext>
            </a:extLst>
          </p:cNvPr>
          <p:cNvSpPr/>
          <p:nvPr/>
        </p:nvSpPr>
        <p:spPr>
          <a:xfrm>
            <a:off x="548640" y="1143000"/>
            <a:ext cx="64008" cy="2468880"/>
          </a:xfrm>
          <a:prstGeom prst="rect">
            <a:avLst/>
          </a:prstGeom>
          <a:solidFill>
            <a:srgbClr val="3D7DCA"/>
          </a:solidFill>
          <a:ln/>
        </p:spPr>
        <p:txBody>
          <a:bodyPr/>
          <a:lstStyle/>
          <a:p>
            <a:endParaRPr lang="zh-SG" altLang="en-US"/>
          </a:p>
        </p:txBody>
      </p:sp>
      <p:sp>
        <p:nvSpPr>
          <p:cNvPr id="6" name="Text 4">
            <a:extLst>
              <a:ext uri="{FF2B5EF4-FFF2-40B4-BE49-F238E27FC236}">
                <a16:creationId xmlns:a16="http://schemas.microsoft.com/office/drawing/2014/main" id="{23657D67-7595-B052-3855-3863ACC8AC3A}"/>
              </a:ext>
            </a:extLst>
          </p:cNvPr>
          <p:cNvSpPr/>
          <p:nvPr/>
        </p:nvSpPr>
        <p:spPr>
          <a:xfrm>
            <a:off x="777240" y="1234440"/>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Architecture</a:t>
            </a:r>
            <a:endParaRPr lang="en-US" sz="1500" dirty="0"/>
          </a:p>
        </p:txBody>
      </p:sp>
      <p:sp>
        <p:nvSpPr>
          <p:cNvPr id="7" name="Text 5">
            <a:extLst>
              <a:ext uri="{FF2B5EF4-FFF2-40B4-BE49-F238E27FC236}">
                <a16:creationId xmlns:a16="http://schemas.microsoft.com/office/drawing/2014/main" id="{A041F17C-D858-984E-65C9-8ACCFDF8A9EA}"/>
              </a:ext>
            </a:extLst>
          </p:cNvPr>
          <p:cNvSpPr/>
          <p:nvPr/>
        </p:nvSpPr>
        <p:spPr>
          <a:xfrm>
            <a:off x="777240" y="1600200"/>
            <a:ext cx="3474720" cy="320040"/>
          </a:xfrm>
          <a:prstGeom prst="rect">
            <a:avLst/>
          </a:prstGeom>
          <a:noFill/>
          <a:ln/>
        </p:spPr>
        <p:txBody>
          <a:bodyPr wrap="square" lIns="0" tIns="0" rIns="0" bIns="0" rtlCol="0" anchor="ctr"/>
          <a:lstStyle/>
          <a:p>
            <a:pPr marL="0" indent="0">
              <a:buNone/>
            </a:pPr>
            <a:r>
              <a:rPr lang="en-US" sz="1200" b="1" dirty="0">
                <a:solidFill>
                  <a:srgbClr val="3D7DCA"/>
                </a:solidFill>
                <a:ea typeface="Consolas" pitchFamily="34" charset="-122"/>
                <a:cs typeface="Consolas" pitchFamily="34" charset="-120"/>
              </a:rPr>
              <a:t>784  -&gt;  512  -&gt;  256  -&gt;  128  -&gt;  10</a:t>
            </a:r>
            <a:endParaRPr lang="en-US" sz="1200" dirty="0"/>
          </a:p>
        </p:txBody>
      </p:sp>
      <p:sp>
        <p:nvSpPr>
          <p:cNvPr id="8" name="Text 6">
            <a:extLst>
              <a:ext uri="{FF2B5EF4-FFF2-40B4-BE49-F238E27FC236}">
                <a16:creationId xmlns:a16="http://schemas.microsoft.com/office/drawing/2014/main" id="{45560401-516C-1C38-AAEE-67A053339093}"/>
              </a:ext>
            </a:extLst>
          </p:cNvPr>
          <p:cNvSpPr/>
          <p:nvPr/>
        </p:nvSpPr>
        <p:spPr>
          <a:xfrm>
            <a:off x="822960" y="2011680"/>
            <a:ext cx="3383280" cy="1097280"/>
          </a:xfrm>
          <a:prstGeom prst="rect">
            <a:avLst/>
          </a:prstGeom>
          <a:noFill/>
          <a:ln/>
        </p:spPr>
        <p:txBody>
          <a:bodyPr wrap="square" rtlCol="0" anchor="ctr"/>
          <a:lstStyle/>
          <a:p>
            <a:pPr marL="342900" indent="-342900">
              <a:spcAft>
                <a:spcPts val="400"/>
              </a:spcAft>
              <a:buSzPct val="100000"/>
              <a:buChar char="•"/>
            </a:pPr>
            <a:r>
              <a:rPr lang="en-US" altLang="zh-CN" sz="1200" dirty="0">
                <a:solidFill>
                  <a:srgbClr val="4A5568"/>
                </a:solidFill>
                <a:latin typeface="Calibri" pitchFamily="34" charset="0"/>
                <a:ea typeface="Calibri" pitchFamily="34" charset="-122"/>
                <a:cs typeface="Calibri" pitchFamily="34" charset="-120"/>
              </a:rPr>
              <a:t>3</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Blocks</a:t>
            </a:r>
            <a:endParaRPr lang="en-US" sz="1200" dirty="0">
              <a:solidFill>
                <a:srgbClr val="4A5568"/>
              </a:solidFill>
              <a:latin typeface="Calibri" pitchFamily="34" charset="0"/>
              <a:ea typeface="Calibri" pitchFamily="34" charset="-122"/>
              <a:cs typeface="Calibri" pitchFamily="34" charset="-120"/>
            </a:endParaRPr>
          </a:p>
          <a:p>
            <a:pPr marL="342900" indent="-342900">
              <a:spcAft>
                <a:spcPts val="400"/>
              </a:spcAft>
              <a:buSzPct val="100000"/>
              <a:buChar char="•"/>
            </a:pPr>
            <a:r>
              <a:rPr lang="en-US" sz="1200" dirty="0" err="1">
                <a:solidFill>
                  <a:srgbClr val="4A5568"/>
                </a:solidFill>
                <a:latin typeface="Calibri" pitchFamily="34" charset="0"/>
                <a:ea typeface="Calibri" pitchFamily="34" charset="-122"/>
                <a:cs typeface="Calibri" pitchFamily="34" charset="-120"/>
              </a:rPr>
              <a:t>BatchNorm</a:t>
            </a:r>
            <a:r>
              <a:rPr lang="en-US" sz="1200" dirty="0">
                <a:solidFill>
                  <a:srgbClr val="4A5568"/>
                </a:solidFill>
                <a:latin typeface="Calibri" pitchFamily="34" charset="0"/>
                <a:ea typeface="Calibri" pitchFamily="34" charset="-122"/>
                <a:cs typeface="Calibri" pitchFamily="34" charset="-120"/>
              </a:rPr>
              <a:t> + ReLU + Dropout per layer</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Dropout rates: 0.3, 0.3, 0.2</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Input: flattened 28x28 images</a:t>
            </a:r>
            <a:endParaRPr lang="en-US" sz="1200" dirty="0"/>
          </a:p>
        </p:txBody>
      </p:sp>
      <p:sp>
        <p:nvSpPr>
          <p:cNvPr id="9" name="Shape 7">
            <a:extLst>
              <a:ext uri="{FF2B5EF4-FFF2-40B4-BE49-F238E27FC236}">
                <a16:creationId xmlns:a16="http://schemas.microsoft.com/office/drawing/2014/main" id="{D74637FF-FA79-BCB8-13B3-5E3D7F737B11}"/>
              </a:ext>
            </a:extLst>
          </p:cNvPr>
          <p:cNvSpPr/>
          <p:nvPr/>
        </p:nvSpPr>
        <p:spPr>
          <a:xfrm>
            <a:off x="4754880" y="1143000"/>
            <a:ext cx="3840480" cy="2468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0" name="Shape 8">
            <a:extLst>
              <a:ext uri="{FF2B5EF4-FFF2-40B4-BE49-F238E27FC236}">
                <a16:creationId xmlns:a16="http://schemas.microsoft.com/office/drawing/2014/main" id="{B36E51D5-859D-931B-6752-D7453CE027D5}"/>
              </a:ext>
            </a:extLst>
          </p:cNvPr>
          <p:cNvSpPr/>
          <p:nvPr/>
        </p:nvSpPr>
        <p:spPr>
          <a:xfrm>
            <a:off x="4754880" y="1143000"/>
            <a:ext cx="64008" cy="2468880"/>
          </a:xfrm>
          <a:prstGeom prst="rect">
            <a:avLst/>
          </a:prstGeom>
          <a:solidFill>
            <a:srgbClr val="E8B931"/>
          </a:solidFill>
          <a:ln/>
        </p:spPr>
        <p:txBody>
          <a:bodyPr/>
          <a:lstStyle/>
          <a:p>
            <a:endParaRPr lang="zh-SG" altLang="en-US"/>
          </a:p>
        </p:txBody>
      </p:sp>
      <p:sp>
        <p:nvSpPr>
          <p:cNvPr id="11" name="Text 9">
            <a:extLst>
              <a:ext uri="{FF2B5EF4-FFF2-40B4-BE49-F238E27FC236}">
                <a16:creationId xmlns:a16="http://schemas.microsoft.com/office/drawing/2014/main" id="{41DA7B58-287E-AF04-9D59-F2F405FB17D8}"/>
              </a:ext>
            </a:extLst>
          </p:cNvPr>
          <p:cNvSpPr/>
          <p:nvPr/>
        </p:nvSpPr>
        <p:spPr>
          <a:xfrm>
            <a:off x="4983480" y="1234440"/>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Training Configuration</a:t>
            </a:r>
            <a:endParaRPr lang="en-US" sz="1500" dirty="0"/>
          </a:p>
        </p:txBody>
      </p:sp>
      <p:sp>
        <p:nvSpPr>
          <p:cNvPr id="12" name="Text 10">
            <a:extLst>
              <a:ext uri="{FF2B5EF4-FFF2-40B4-BE49-F238E27FC236}">
                <a16:creationId xmlns:a16="http://schemas.microsoft.com/office/drawing/2014/main" id="{826BAA44-ED8C-E7F4-46EB-B10E383959D6}"/>
              </a:ext>
            </a:extLst>
          </p:cNvPr>
          <p:cNvSpPr/>
          <p:nvPr/>
        </p:nvSpPr>
        <p:spPr>
          <a:xfrm>
            <a:off x="5029200" y="1600200"/>
            <a:ext cx="3383280" cy="1828800"/>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Optimizer: AdamW</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Learning rate: 0.0005</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Weight decay: 1e-4</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Scheduler: ReduceLROnPlateau</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Augmentation: Gaussian noise (std=0.05)</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Epochs: 50 (best checkpoint restored)</a:t>
            </a:r>
          </a:p>
          <a:p>
            <a:pPr marL="342900" indent="-342900">
              <a:spcAft>
                <a:spcPts val="400"/>
              </a:spcAft>
              <a:buSzPct val="100000"/>
              <a:buFontTx/>
              <a:buChar char="•"/>
            </a:pPr>
            <a:r>
              <a:rPr lang="en-US" altLang="zh-SG" sz="1200" dirty="0">
                <a:solidFill>
                  <a:srgbClr val="4A5568"/>
                </a:solidFill>
                <a:latin typeface="Calibri" pitchFamily="34" charset="0"/>
                <a:ea typeface="Calibri" pitchFamily="34" charset="-122"/>
                <a:cs typeface="Calibri" pitchFamily="34" charset="-120"/>
              </a:rPr>
              <a:t>Best checkpoint epoch: 4</a:t>
            </a:r>
            <a:r>
              <a:rPr lang="en-US" altLang="zh-CN" sz="1200" dirty="0">
                <a:solidFill>
                  <a:srgbClr val="4A5568"/>
                </a:solidFill>
                <a:latin typeface="Calibri" pitchFamily="34" charset="0"/>
                <a:ea typeface="Calibri" pitchFamily="34" charset="-122"/>
                <a:cs typeface="Calibri" pitchFamily="34" charset="-120"/>
              </a:rPr>
              <a:t>5</a:t>
            </a:r>
          </a:p>
          <a:p>
            <a:pPr marL="342900" indent="-342900">
              <a:spcAft>
                <a:spcPts val="400"/>
              </a:spcAft>
              <a:buSzPct val="100000"/>
              <a:buFontTx/>
              <a:buChar char="•"/>
            </a:pPr>
            <a:r>
              <a:rPr lang="en-US" altLang="zh-SG" sz="1200" dirty="0">
                <a:solidFill>
                  <a:srgbClr val="4A5568"/>
                </a:solidFill>
                <a:latin typeface="Calibri" pitchFamily="34" charset="0"/>
                <a:cs typeface="Calibri" pitchFamily="34" charset="-120"/>
              </a:rPr>
              <a:t>Best validation accuracy: 0.9</a:t>
            </a:r>
            <a:r>
              <a:rPr lang="en-US" altLang="zh-CN" sz="1200" dirty="0">
                <a:solidFill>
                  <a:srgbClr val="4A5568"/>
                </a:solidFill>
                <a:latin typeface="Calibri" pitchFamily="34" charset="0"/>
                <a:cs typeface="Calibri" pitchFamily="34" charset="-120"/>
              </a:rPr>
              <a:t>8</a:t>
            </a:r>
            <a:r>
              <a:rPr lang="en-US" altLang="zh-SG" sz="1200" dirty="0">
                <a:solidFill>
                  <a:srgbClr val="4A5568"/>
                </a:solidFill>
                <a:latin typeface="Calibri" pitchFamily="34" charset="0"/>
                <a:cs typeface="Calibri" pitchFamily="34" charset="-120"/>
              </a:rPr>
              <a:t>7</a:t>
            </a:r>
            <a:r>
              <a:rPr lang="en-US" altLang="zh-CN" sz="1200" dirty="0">
                <a:solidFill>
                  <a:srgbClr val="4A5568"/>
                </a:solidFill>
                <a:latin typeface="Calibri" pitchFamily="34" charset="0"/>
                <a:cs typeface="Calibri" pitchFamily="34" charset="-120"/>
              </a:rPr>
              <a:t>5</a:t>
            </a:r>
            <a:endParaRPr lang="en-US" altLang="zh-SG" sz="1200" dirty="0">
              <a:solidFill>
                <a:srgbClr val="4A5568"/>
              </a:solidFill>
              <a:latin typeface="Calibri" pitchFamily="34" charset="0"/>
              <a:cs typeface="Calibri" pitchFamily="34" charset="-120"/>
            </a:endParaRPr>
          </a:p>
        </p:txBody>
      </p:sp>
      <p:sp>
        <p:nvSpPr>
          <p:cNvPr id="13" name="Shape 11">
            <a:extLst>
              <a:ext uri="{FF2B5EF4-FFF2-40B4-BE49-F238E27FC236}">
                <a16:creationId xmlns:a16="http://schemas.microsoft.com/office/drawing/2014/main" id="{C717781F-AFF4-09B0-8953-F9CD215C536C}"/>
              </a:ext>
            </a:extLst>
          </p:cNvPr>
          <p:cNvSpPr/>
          <p:nvPr/>
        </p:nvSpPr>
        <p:spPr>
          <a:xfrm>
            <a:off x="548640" y="3840480"/>
            <a:ext cx="8046720" cy="777240"/>
          </a:xfrm>
          <a:prstGeom prst="rect">
            <a:avLst/>
          </a:prstGeom>
          <a:solidFill>
            <a:srgbClr val="1E2761"/>
          </a:solidFill>
          <a:ln/>
        </p:spPr>
        <p:txBody>
          <a:bodyPr/>
          <a:lstStyle/>
          <a:p>
            <a:endParaRPr lang="zh-SG" altLang="en-US"/>
          </a:p>
        </p:txBody>
      </p:sp>
      <p:sp>
        <p:nvSpPr>
          <p:cNvPr id="14" name="Text 12">
            <a:extLst>
              <a:ext uri="{FF2B5EF4-FFF2-40B4-BE49-F238E27FC236}">
                <a16:creationId xmlns:a16="http://schemas.microsoft.com/office/drawing/2014/main" id="{A71ABB96-F596-B274-FF38-C6C34166BE8B}"/>
              </a:ext>
            </a:extLst>
          </p:cNvPr>
          <p:cNvSpPr/>
          <p:nvPr/>
        </p:nvSpPr>
        <p:spPr>
          <a:xfrm>
            <a:off x="731520" y="3840480"/>
            <a:ext cx="7680960" cy="77724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Test Accuracy: </a:t>
            </a:r>
            <a:r>
              <a:rPr lang="en-US" sz="2600" b="1" dirty="0">
                <a:solidFill>
                  <a:srgbClr val="E8B931"/>
                </a:solidFill>
                <a:latin typeface="Calibri" pitchFamily="34" charset="0"/>
                <a:ea typeface="Calibri" pitchFamily="34" charset="-122"/>
                <a:cs typeface="Calibri" pitchFamily="34" charset="-120"/>
              </a:rPr>
              <a:t>98.72%</a:t>
            </a:r>
            <a:r>
              <a:rPr lang="en-US" sz="1200" dirty="0">
                <a:solidFill>
                  <a:srgbClr val="8A94A6"/>
                </a:solidFill>
                <a:latin typeface="Calibri" pitchFamily="34" charset="0"/>
                <a:ea typeface="Calibri" pitchFamily="34" charset="-122"/>
                <a:cs typeface="Calibri" pitchFamily="34" charset="-120"/>
              </a:rPr>
              <a:t>     Best Epoch: 45  |  Train: 32.19s  |  Predict: 0.024s</a:t>
            </a:r>
            <a:endParaRPr lang="en-US" sz="1800" dirty="0"/>
          </a:p>
        </p:txBody>
      </p:sp>
      <p:sp>
        <p:nvSpPr>
          <p:cNvPr id="15" name="Text 13">
            <a:extLst>
              <a:ext uri="{FF2B5EF4-FFF2-40B4-BE49-F238E27FC236}">
                <a16:creationId xmlns:a16="http://schemas.microsoft.com/office/drawing/2014/main" id="{75F17AB1-B7D7-FE6D-8BEB-27FC83B7BC51}"/>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extLst>
      <p:ext uri="{BB962C8B-B14F-4D97-AF65-F5344CB8AC3E}">
        <p14:creationId xmlns:p14="http://schemas.microsoft.com/office/powerpoint/2010/main" val="3482180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CNN — Convolutional Neural Network</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p:cNvSpPr/>
          <p:nvPr/>
        </p:nvSpPr>
        <p:spPr>
          <a:xfrm>
            <a:off x="548640" y="1097280"/>
            <a:ext cx="384048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3"/>
          <p:cNvSpPr/>
          <p:nvPr/>
        </p:nvSpPr>
        <p:spPr>
          <a:xfrm>
            <a:off x="548640" y="1097280"/>
            <a:ext cx="64008" cy="2743200"/>
          </a:xfrm>
          <a:prstGeom prst="rect">
            <a:avLst/>
          </a:prstGeom>
          <a:solidFill>
            <a:srgbClr val="3D7DCA"/>
          </a:solidFill>
          <a:ln/>
        </p:spPr>
        <p:txBody>
          <a:bodyPr/>
          <a:lstStyle/>
          <a:p>
            <a:endParaRPr lang="zh-SG" altLang="en-US"/>
          </a:p>
        </p:txBody>
      </p:sp>
      <p:sp>
        <p:nvSpPr>
          <p:cNvPr id="6" name="Text 4"/>
          <p:cNvSpPr/>
          <p:nvPr/>
        </p:nvSpPr>
        <p:spPr>
          <a:xfrm>
            <a:off x="777240" y="1170432"/>
            <a:ext cx="3474720" cy="320040"/>
          </a:xfrm>
          <a:prstGeom prst="rect">
            <a:avLst/>
          </a:prstGeom>
          <a:noFill/>
          <a:ln/>
        </p:spPr>
        <p:txBody>
          <a:bodyPr wrap="square" lIns="0" tIns="0" rIns="0" bIns="0" rtlCol="0" anchor="ctr"/>
          <a:lstStyle/>
          <a:p>
            <a:r>
              <a:rPr lang="en-US" sz="1500" b="1" dirty="0">
                <a:solidFill>
                  <a:srgbClr val="1E2761"/>
                </a:solidFill>
                <a:latin typeface="Georgia" pitchFamily="34" charset="0"/>
                <a:ea typeface="Georgia" pitchFamily="34" charset="-122"/>
                <a:cs typeface="Georgia" pitchFamily="34" charset="-120"/>
              </a:rPr>
              <a:t>Architecture</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VGG</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style</a:t>
            </a:r>
            <a:endParaRPr lang="en-US" sz="1500" dirty="0"/>
          </a:p>
        </p:txBody>
      </p:sp>
      <p:sp>
        <p:nvSpPr>
          <p:cNvPr id="7" name="Text 5"/>
          <p:cNvSpPr/>
          <p:nvPr/>
        </p:nvSpPr>
        <p:spPr>
          <a:xfrm>
            <a:off x="777240" y="1554480"/>
            <a:ext cx="3474720" cy="2103120"/>
          </a:xfrm>
          <a:prstGeom prst="rect">
            <a:avLst/>
          </a:prstGeom>
          <a:noFill/>
          <a:ln/>
        </p:spPr>
        <p:txBody>
          <a:bodyPr wrap="square" rtlCol="0" anchor="ctr"/>
          <a:lstStyle/>
          <a:p>
            <a:pPr marL="0" indent="0">
              <a:spcAft>
                <a:spcPts val="200"/>
              </a:spcAft>
              <a:buNone/>
            </a:pPr>
            <a:r>
              <a:rPr lang="en-US" sz="1200" dirty="0">
                <a:solidFill>
                  <a:srgbClr val="4A5568"/>
                </a:solidFill>
                <a:ea typeface="Consolas" pitchFamily="34" charset="-122"/>
                <a:cs typeface="Consolas" pitchFamily="34" charset="-120"/>
              </a:rPr>
              <a:t>Block 1: Conv(32) -&gt; BN -&gt; ReLU -&gt; Conv(32) -&gt; BN -&gt; ReLU -&gt; MaxPool -&gt; Dropout(0.25)</a:t>
            </a:r>
            <a:endParaRPr lang="en-US" sz="1200" dirty="0"/>
          </a:p>
          <a:p>
            <a:pPr marL="0" indent="0">
              <a:spcAft>
                <a:spcPts val="200"/>
              </a:spcAft>
              <a:buNone/>
            </a:pPr>
            <a:endParaRPr lang="en-US" sz="1200" dirty="0"/>
          </a:p>
          <a:p>
            <a:pPr marL="0" indent="0">
              <a:spcAft>
                <a:spcPts val="200"/>
              </a:spcAft>
              <a:buNone/>
            </a:pPr>
            <a:r>
              <a:rPr lang="en-US" sz="1200" dirty="0">
                <a:solidFill>
                  <a:srgbClr val="4A5568"/>
                </a:solidFill>
                <a:ea typeface="Consolas" pitchFamily="34" charset="-122"/>
                <a:cs typeface="Consolas" pitchFamily="34" charset="-120"/>
              </a:rPr>
              <a:t>Block 2: Conv(64) -&gt; BN -&gt; ReLU -&gt; Conv(64) -&gt; BN -&gt; ReLU -&gt; MaxPool -&gt; Dropout(0.25)</a:t>
            </a:r>
            <a:endParaRPr lang="en-US" sz="1200" dirty="0"/>
          </a:p>
          <a:p>
            <a:pPr marL="0" indent="0">
              <a:spcAft>
                <a:spcPts val="200"/>
              </a:spcAft>
              <a:buNone/>
            </a:pPr>
            <a:endParaRPr lang="en-US" sz="1200" dirty="0"/>
          </a:p>
          <a:p>
            <a:pPr marL="0" indent="0">
              <a:spcAft>
                <a:spcPts val="200"/>
              </a:spcAft>
              <a:buNone/>
            </a:pPr>
            <a:r>
              <a:rPr lang="en-US" sz="1200" dirty="0">
                <a:solidFill>
                  <a:srgbClr val="4A5568"/>
                </a:solidFill>
                <a:ea typeface="Consolas" pitchFamily="34" charset="-122"/>
                <a:cs typeface="Consolas" pitchFamily="34" charset="-120"/>
              </a:rPr>
              <a:t>Head: Linear(3136-&gt;256) -&gt; BN -&gt; ReLU -&gt; Dropout(0.5) -&gt; Linear(256-&gt;10)</a:t>
            </a:r>
            <a:endParaRPr lang="en-US" sz="1200" dirty="0"/>
          </a:p>
        </p:txBody>
      </p:sp>
      <p:sp>
        <p:nvSpPr>
          <p:cNvPr id="8" name="Shape 6"/>
          <p:cNvSpPr/>
          <p:nvPr/>
        </p:nvSpPr>
        <p:spPr>
          <a:xfrm>
            <a:off x="4754880" y="1097280"/>
            <a:ext cx="384048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p:cNvSpPr/>
          <p:nvPr/>
        </p:nvSpPr>
        <p:spPr>
          <a:xfrm>
            <a:off x="4754880" y="1097280"/>
            <a:ext cx="64008" cy="2743200"/>
          </a:xfrm>
          <a:prstGeom prst="rect">
            <a:avLst/>
          </a:prstGeom>
          <a:solidFill>
            <a:srgbClr val="E8B931"/>
          </a:solidFill>
          <a:ln/>
        </p:spPr>
        <p:txBody>
          <a:bodyPr/>
          <a:lstStyle/>
          <a:p>
            <a:endParaRPr lang="zh-SG" altLang="en-US"/>
          </a:p>
        </p:txBody>
      </p:sp>
      <p:sp>
        <p:nvSpPr>
          <p:cNvPr id="10" name="Text 8"/>
          <p:cNvSpPr/>
          <p:nvPr/>
        </p:nvSpPr>
        <p:spPr>
          <a:xfrm>
            <a:off x="4983480" y="1170432"/>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Training Configuration</a:t>
            </a:r>
            <a:endParaRPr lang="en-US" sz="1500" dirty="0"/>
          </a:p>
        </p:txBody>
      </p:sp>
      <p:sp>
        <p:nvSpPr>
          <p:cNvPr id="11" name="Text 9"/>
          <p:cNvSpPr/>
          <p:nvPr/>
        </p:nvSpPr>
        <p:spPr>
          <a:xfrm>
            <a:off x="5029200" y="1554480"/>
            <a:ext cx="3383280" cy="2103120"/>
          </a:xfrm>
          <a:prstGeom prst="rect">
            <a:avLst/>
          </a:prstGeom>
          <a:noFill/>
          <a:ln/>
        </p:spPr>
        <p:txBody>
          <a:bodyPr wrap="square" rtlCol="0" anchor="ctr"/>
          <a:lstStyle/>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Optimizer: AdamW (lr=0.0005, wd=1e-4)</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Scheduler: ReduceLROnPlateau</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Data augmentation (per-sample):</a:t>
            </a:r>
            <a:endParaRPr lang="en-US" sz="1200" dirty="0"/>
          </a:p>
          <a:p>
            <a:pPr marL="685800" lvl="1"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RandomRotation(+-10 deg)</a:t>
            </a:r>
            <a:endParaRPr lang="en-US" sz="1200" dirty="0"/>
          </a:p>
          <a:p>
            <a:pPr marL="685800" lvl="1"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RandomAffine(translate=10%)</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Epochs: 50 (best checkpoint restored)</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Best checkpoint epoch: 44</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Best validation accuracy: 0.9978</a:t>
            </a:r>
            <a:endParaRPr lang="en-US" sz="1200" dirty="0"/>
          </a:p>
        </p:txBody>
      </p:sp>
      <p:sp>
        <p:nvSpPr>
          <p:cNvPr id="12" name="Shape 10"/>
          <p:cNvSpPr/>
          <p:nvPr/>
        </p:nvSpPr>
        <p:spPr>
          <a:xfrm>
            <a:off x="548640" y="4069080"/>
            <a:ext cx="8046720" cy="640080"/>
          </a:xfrm>
          <a:prstGeom prst="rect">
            <a:avLst/>
          </a:prstGeom>
          <a:solidFill>
            <a:srgbClr val="1E2761"/>
          </a:solidFill>
          <a:ln/>
        </p:spPr>
        <p:txBody>
          <a:bodyPr/>
          <a:lstStyle/>
          <a:p>
            <a:endParaRPr lang="zh-SG" altLang="en-US"/>
          </a:p>
        </p:txBody>
      </p:sp>
      <p:sp>
        <p:nvSpPr>
          <p:cNvPr id="13" name="Text 11"/>
          <p:cNvSpPr/>
          <p:nvPr/>
        </p:nvSpPr>
        <p:spPr>
          <a:xfrm>
            <a:off x="731520" y="4069080"/>
            <a:ext cx="7680960" cy="64008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Test Accuracy: </a:t>
            </a:r>
            <a:r>
              <a:rPr lang="en-US" sz="2600" b="1" dirty="0">
                <a:solidFill>
                  <a:srgbClr val="E8B931"/>
                </a:solidFill>
                <a:latin typeface="Calibri" pitchFamily="34" charset="0"/>
                <a:ea typeface="Calibri" pitchFamily="34" charset="-122"/>
                <a:cs typeface="Calibri" pitchFamily="34" charset="-120"/>
              </a:rPr>
              <a:t>99.65%</a:t>
            </a:r>
            <a:r>
              <a:rPr lang="en-US" sz="1200" dirty="0">
                <a:solidFill>
                  <a:srgbClr val="8A94A6"/>
                </a:solidFill>
                <a:latin typeface="Calibri" pitchFamily="34" charset="0"/>
                <a:ea typeface="Calibri" pitchFamily="34" charset="-122"/>
                <a:cs typeface="Calibri" pitchFamily="34" charset="-120"/>
              </a:rPr>
              <a:t>     Best Epoch: 44  |  Train: 347.3s  |  Predict: 0.066s</a:t>
            </a:r>
            <a:endParaRPr lang="en-US" sz="1800" dirty="0"/>
          </a:p>
        </p:txBody>
      </p:sp>
      <p:sp>
        <p:nvSpPr>
          <p:cNvPr id="14" name="Text 12"/>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363BE1AD-1F54-2CA1-BDFE-B3466A031B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0564CA-FC2C-51EB-9C15-747E24AFA3D8}"/>
              </a:ext>
            </a:extLst>
          </p:cNvPr>
          <p:cNvSpPr/>
          <p:nvPr/>
        </p:nvSpPr>
        <p:spPr>
          <a:xfrm>
            <a:off x="609601" y="172403"/>
            <a:ext cx="8382788"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Neural Network</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Loss</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Curve</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&amp;</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Best</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Checkpoint Epoch</a:t>
            </a:r>
            <a:r>
              <a:rPr lang="zh-CN" altLang="en-US" sz="2400" b="1" dirty="0">
                <a:solidFill>
                  <a:srgbClr val="1E2761"/>
                </a:solidFill>
                <a:latin typeface="Georgia" pitchFamily="34" charset="0"/>
                <a:ea typeface="Georgia" pitchFamily="34" charset="-122"/>
                <a:cs typeface="Georgia" pitchFamily="34" charset="-120"/>
              </a:rPr>
              <a:t> </a:t>
            </a:r>
            <a:endParaRPr lang="en-US" sz="2400" dirty="0"/>
          </a:p>
        </p:txBody>
      </p:sp>
      <p:sp>
        <p:nvSpPr>
          <p:cNvPr id="3" name="Shape 1">
            <a:extLst>
              <a:ext uri="{FF2B5EF4-FFF2-40B4-BE49-F238E27FC236}">
                <a16:creationId xmlns:a16="http://schemas.microsoft.com/office/drawing/2014/main" id="{3A5D991C-0E32-F235-C5CC-4EAE0E47F00B}"/>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14" name="Text 12">
            <a:extLst>
              <a:ext uri="{FF2B5EF4-FFF2-40B4-BE49-F238E27FC236}">
                <a16:creationId xmlns:a16="http://schemas.microsoft.com/office/drawing/2014/main" id="{F2375494-3B96-8DCC-8261-7EADFC4094D3}"/>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16" name="图片 15">
            <a:extLst>
              <a:ext uri="{FF2B5EF4-FFF2-40B4-BE49-F238E27FC236}">
                <a16:creationId xmlns:a16="http://schemas.microsoft.com/office/drawing/2014/main" id="{0D370F73-9466-3B28-BD29-D8D6064B3EEF}"/>
              </a:ext>
            </a:extLst>
          </p:cNvPr>
          <p:cNvPicPr>
            <a:picLocks noChangeAspect="1"/>
          </p:cNvPicPr>
          <p:nvPr/>
        </p:nvPicPr>
        <p:blipFill>
          <a:blip r:embed="rId3"/>
          <a:stretch>
            <a:fillRect/>
          </a:stretch>
        </p:blipFill>
        <p:spPr>
          <a:xfrm>
            <a:off x="307849" y="814312"/>
            <a:ext cx="5561863" cy="3952875"/>
          </a:xfrm>
          <a:prstGeom prst="rect">
            <a:avLst/>
          </a:prstGeom>
        </p:spPr>
      </p:pic>
      <p:sp>
        <p:nvSpPr>
          <p:cNvPr id="4" name="Shape 7">
            <a:extLst>
              <a:ext uri="{FF2B5EF4-FFF2-40B4-BE49-F238E27FC236}">
                <a16:creationId xmlns:a16="http://schemas.microsoft.com/office/drawing/2014/main" id="{085B6932-FECB-4954-16DB-8670679F5812}"/>
              </a:ext>
            </a:extLst>
          </p:cNvPr>
          <p:cNvSpPr/>
          <p:nvPr/>
        </p:nvSpPr>
        <p:spPr>
          <a:xfrm>
            <a:off x="6177561" y="2883523"/>
            <a:ext cx="2820925" cy="188366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8">
            <a:extLst>
              <a:ext uri="{FF2B5EF4-FFF2-40B4-BE49-F238E27FC236}">
                <a16:creationId xmlns:a16="http://schemas.microsoft.com/office/drawing/2014/main" id="{E510581A-0F9D-2332-46C3-E63DABFF73EB}"/>
              </a:ext>
            </a:extLst>
          </p:cNvPr>
          <p:cNvSpPr/>
          <p:nvPr/>
        </p:nvSpPr>
        <p:spPr>
          <a:xfrm>
            <a:off x="6168417" y="2883523"/>
            <a:ext cx="64008" cy="1883664"/>
          </a:xfrm>
          <a:prstGeom prst="rect">
            <a:avLst/>
          </a:prstGeom>
          <a:solidFill>
            <a:srgbClr val="E8B931"/>
          </a:solidFill>
          <a:ln/>
        </p:spPr>
        <p:txBody>
          <a:bodyPr/>
          <a:lstStyle/>
          <a:p>
            <a:endParaRPr lang="zh-SG" altLang="en-US"/>
          </a:p>
        </p:txBody>
      </p:sp>
      <p:sp>
        <p:nvSpPr>
          <p:cNvPr id="6" name="Text 9">
            <a:extLst>
              <a:ext uri="{FF2B5EF4-FFF2-40B4-BE49-F238E27FC236}">
                <a16:creationId xmlns:a16="http://schemas.microsoft.com/office/drawing/2014/main" id="{CBDD6810-EDB2-DF4A-DFDD-7DA3C8B7CFEB}"/>
              </a:ext>
            </a:extLst>
          </p:cNvPr>
          <p:cNvSpPr/>
          <p:nvPr/>
        </p:nvSpPr>
        <p:spPr>
          <a:xfrm>
            <a:off x="6346725" y="2917813"/>
            <a:ext cx="2546605"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Training </a:t>
            </a:r>
            <a:r>
              <a:rPr lang="en-US" altLang="zh-CN" sz="1500" b="1" dirty="0">
                <a:solidFill>
                  <a:srgbClr val="1E2761"/>
                </a:solidFill>
                <a:latin typeface="Georgia" pitchFamily="34" charset="0"/>
                <a:ea typeface="Georgia" pitchFamily="34" charset="-122"/>
                <a:cs typeface="Georgia" pitchFamily="34" charset="-120"/>
              </a:rPr>
              <a:t>Result</a:t>
            </a:r>
            <a:endParaRPr lang="en-US" sz="1500" dirty="0"/>
          </a:p>
        </p:txBody>
      </p:sp>
      <p:sp>
        <p:nvSpPr>
          <p:cNvPr id="7" name="Text 10">
            <a:extLst>
              <a:ext uri="{FF2B5EF4-FFF2-40B4-BE49-F238E27FC236}">
                <a16:creationId xmlns:a16="http://schemas.microsoft.com/office/drawing/2014/main" id="{28AF3A7C-BB03-58F3-91A1-3FEFB9A91AE3}"/>
              </a:ext>
            </a:extLst>
          </p:cNvPr>
          <p:cNvSpPr/>
          <p:nvPr/>
        </p:nvSpPr>
        <p:spPr>
          <a:xfrm>
            <a:off x="6445784" y="3391015"/>
            <a:ext cx="2546605" cy="868680"/>
          </a:xfrm>
          <a:prstGeom prst="rect">
            <a:avLst/>
          </a:prstGeom>
          <a:noFill/>
          <a:ln/>
        </p:spPr>
        <p:txBody>
          <a:bodyPr wrap="square" rtlCol="0" anchor="ctr"/>
          <a:lstStyle/>
          <a:p>
            <a:pPr marL="171450" indent="-171450">
              <a:spcAft>
                <a:spcPts val="400"/>
              </a:spcAft>
              <a:buSzPct val="100000"/>
              <a:buFont typeface="Arial" panose="020B0604020202020204" pitchFamily="34" charset="0"/>
              <a:buChar char="•"/>
            </a:pPr>
            <a:r>
              <a:rPr lang="en-US" altLang="zh-CN" sz="1200" dirty="0">
                <a:solidFill>
                  <a:srgbClr val="4A5568"/>
                </a:solidFill>
                <a:latin typeface="Calibri" pitchFamily="34" charset="0"/>
                <a:ea typeface="Calibri" pitchFamily="34" charset="-122"/>
                <a:cs typeface="Calibri" pitchFamily="34" charset="-120"/>
              </a:rPr>
              <a:t>B</a:t>
            </a:r>
            <a:r>
              <a:rPr lang="en-US" sz="1200" dirty="0">
                <a:solidFill>
                  <a:srgbClr val="4A5568"/>
                </a:solidFill>
                <a:latin typeface="Calibri" pitchFamily="34" charset="0"/>
                <a:ea typeface="Calibri" pitchFamily="34" charset="-122"/>
                <a:cs typeface="Calibri" pitchFamily="34" charset="-120"/>
              </a:rPr>
              <a:t>est </a:t>
            </a:r>
            <a:r>
              <a:rPr lang="en-US" altLang="zh-CN" sz="1200" dirty="0">
                <a:solidFill>
                  <a:srgbClr val="4A5568"/>
                </a:solidFill>
                <a:latin typeface="Calibri" pitchFamily="34" charset="0"/>
                <a:ea typeface="Calibri" pitchFamily="34" charset="-122"/>
                <a:cs typeface="Calibri" pitchFamily="34" charset="-120"/>
              </a:rPr>
              <a:t>result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of</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MLP</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at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45</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epoch</a:t>
            </a:r>
            <a:r>
              <a:rPr lang="zh-CN" altLang="en-US" sz="1200" dirty="0">
                <a:solidFill>
                  <a:srgbClr val="4A5568"/>
                </a:solidFill>
                <a:latin typeface="Calibri" pitchFamily="34" charset="0"/>
                <a:ea typeface="Calibri" pitchFamily="34" charset="-122"/>
                <a:cs typeface="Calibri" pitchFamily="34" charset="-120"/>
              </a:rPr>
              <a:t> </a:t>
            </a:r>
            <a:endParaRPr lang="en-US" altLang="zh-CN" sz="1200" dirty="0">
              <a:solidFill>
                <a:srgbClr val="4A5568"/>
              </a:solidFill>
              <a:latin typeface="Calibri" pitchFamily="34" charset="0"/>
              <a:ea typeface="Calibri" pitchFamily="34" charset="-122"/>
              <a:cs typeface="Calibri" pitchFamily="34" charset="-120"/>
            </a:endParaRPr>
          </a:p>
          <a:p>
            <a:pPr marL="171450" indent="-171450">
              <a:spcAft>
                <a:spcPts val="400"/>
              </a:spcAft>
              <a:buSzPct val="100000"/>
              <a:buFont typeface="Arial" panose="020B0604020202020204" pitchFamily="34" charset="0"/>
              <a:buChar char="•"/>
            </a:pPr>
            <a:r>
              <a:rPr lang="en-US" altLang="zh-CN" sz="1200" dirty="0">
                <a:solidFill>
                  <a:srgbClr val="4A5568"/>
                </a:solidFill>
                <a:latin typeface="Calibri" pitchFamily="34" charset="0"/>
                <a:cs typeface="Calibri" pitchFamily="34" charset="-120"/>
              </a:rPr>
              <a:t>Best</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result</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of</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CNN</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at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44</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epoch</a:t>
            </a:r>
            <a:r>
              <a:rPr lang="zh-CN" altLang="en-US" sz="1200" dirty="0">
                <a:solidFill>
                  <a:srgbClr val="4A5568"/>
                </a:solidFill>
                <a:latin typeface="Calibri" pitchFamily="34" charset="0"/>
                <a:ea typeface="Calibri" pitchFamily="34" charset="-122"/>
                <a:cs typeface="Calibri" pitchFamily="34" charset="-120"/>
              </a:rPr>
              <a:t> </a:t>
            </a:r>
            <a:endParaRPr lang="en-US" sz="1200" dirty="0"/>
          </a:p>
        </p:txBody>
      </p:sp>
      <p:sp>
        <p:nvSpPr>
          <p:cNvPr id="8" name="Shape 7">
            <a:extLst>
              <a:ext uri="{FF2B5EF4-FFF2-40B4-BE49-F238E27FC236}">
                <a16:creationId xmlns:a16="http://schemas.microsoft.com/office/drawing/2014/main" id="{EA3F54D5-27E6-5984-10E3-8F0CE4D9BD11}"/>
              </a:ext>
            </a:extLst>
          </p:cNvPr>
          <p:cNvSpPr/>
          <p:nvPr/>
        </p:nvSpPr>
        <p:spPr>
          <a:xfrm>
            <a:off x="6177561" y="820142"/>
            <a:ext cx="2820925" cy="175160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0" name="Text 9">
            <a:extLst>
              <a:ext uri="{FF2B5EF4-FFF2-40B4-BE49-F238E27FC236}">
                <a16:creationId xmlns:a16="http://schemas.microsoft.com/office/drawing/2014/main" id="{E601D56F-1198-372A-49CC-66E883C8E0E3}"/>
              </a:ext>
            </a:extLst>
          </p:cNvPr>
          <p:cNvSpPr/>
          <p:nvPr/>
        </p:nvSpPr>
        <p:spPr>
          <a:xfrm>
            <a:off x="6346725" y="854432"/>
            <a:ext cx="2546605" cy="320040"/>
          </a:xfrm>
          <a:prstGeom prst="rect">
            <a:avLst/>
          </a:prstGeom>
          <a:noFill/>
          <a:ln/>
        </p:spPr>
        <p:txBody>
          <a:bodyPr wrap="square" lIns="0" tIns="0" rIns="0" bIns="0" rtlCol="0" anchor="ctr"/>
          <a:lstStyle/>
          <a:p>
            <a:pPr marL="0" indent="0">
              <a:buNone/>
            </a:pPr>
            <a:r>
              <a:rPr lang="en-US" altLang="zh-CN" sz="1500" b="1" dirty="0">
                <a:solidFill>
                  <a:srgbClr val="1E2761"/>
                </a:solidFill>
                <a:latin typeface="Georgia" pitchFamily="34" charset="0"/>
                <a:ea typeface="Georgia" pitchFamily="34" charset="-122"/>
                <a:cs typeface="Georgia" pitchFamily="34" charset="-120"/>
              </a:rPr>
              <a:t>Regularization</a:t>
            </a:r>
            <a:endParaRPr lang="en-US" sz="1500" dirty="0"/>
          </a:p>
        </p:txBody>
      </p:sp>
      <p:sp>
        <p:nvSpPr>
          <p:cNvPr id="11" name="Text 10">
            <a:extLst>
              <a:ext uri="{FF2B5EF4-FFF2-40B4-BE49-F238E27FC236}">
                <a16:creationId xmlns:a16="http://schemas.microsoft.com/office/drawing/2014/main" id="{F7168399-CF71-B2D3-D1D5-B739B64BC0DD}"/>
              </a:ext>
            </a:extLst>
          </p:cNvPr>
          <p:cNvSpPr/>
          <p:nvPr/>
        </p:nvSpPr>
        <p:spPr>
          <a:xfrm>
            <a:off x="6445783" y="1322222"/>
            <a:ext cx="2546605" cy="1066115"/>
          </a:xfrm>
          <a:prstGeom prst="rect">
            <a:avLst/>
          </a:prstGeom>
          <a:noFill/>
          <a:ln/>
        </p:spPr>
        <p:txBody>
          <a:bodyPr wrap="square" rtlCol="0" anchor="ctr"/>
          <a:lstStyle/>
          <a:p>
            <a:pPr marL="171450" indent="-171450">
              <a:spcAft>
                <a:spcPts val="400"/>
              </a:spcAft>
              <a:buSzPct val="100000"/>
              <a:buFont typeface="Arial" panose="020B0604020202020204" pitchFamily="34" charset="0"/>
              <a:buChar char="•"/>
            </a:pPr>
            <a:r>
              <a:rPr lang="en-US" altLang="zh-CN" sz="1200" dirty="0" err="1">
                <a:solidFill>
                  <a:srgbClr val="4A5568"/>
                </a:solidFill>
                <a:latin typeface="Calibri" pitchFamily="34" charset="0"/>
                <a:ea typeface="Calibri" pitchFamily="34" charset="-122"/>
                <a:cs typeface="Calibri" pitchFamily="34" charset="-120"/>
              </a:rPr>
              <a:t>BatchNorm</a:t>
            </a:r>
            <a:endParaRPr lang="en-US" altLang="zh-CN" sz="1200" dirty="0">
              <a:solidFill>
                <a:srgbClr val="4A5568"/>
              </a:solidFill>
              <a:latin typeface="Calibri" pitchFamily="34" charset="0"/>
              <a:ea typeface="Calibri" pitchFamily="34" charset="-122"/>
              <a:cs typeface="Calibri" pitchFamily="34" charset="-120"/>
            </a:endParaRPr>
          </a:p>
          <a:p>
            <a:pPr marL="171450" indent="-171450">
              <a:spcAft>
                <a:spcPts val="400"/>
              </a:spcAft>
              <a:buSzPct val="100000"/>
              <a:buFont typeface="Arial" panose="020B0604020202020204" pitchFamily="34" charset="0"/>
              <a:buChar char="•"/>
            </a:pPr>
            <a:r>
              <a:rPr lang="en-US" altLang="zh-SG" sz="1200" dirty="0">
                <a:solidFill>
                  <a:srgbClr val="4A5568"/>
                </a:solidFill>
                <a:latin typeface="Calibri" pitchFamily="34" charset="0"/>
                <a:ea typeface="Calibri" pitchFamily="34" charset="-122"/>
                <a:cs typeface="Calibri" pitchFamily="34" charset="-120"/>
              </a:rPr>
              <a:t>Dropout</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cs typeface="Calibri" pitchFamily="34" charset="-120"/>
              </a:rPr>
              <a:t>Weight decay</a:t>
            </a:r>
          </a:p>
          <a:p>
            <a:pPr marL="171450" indent="-171450">
              <a:spcAft>
                <a:spcPts val="400"/>
              </a:spcAft>
              <a:buSzPct val="100000"/>
              <a:buFont typeface="Arial" panose="020B0604020202020204" pitchFamily="34" charset="0"/>
              <a:buChar char="•"/>
            </a:pPr>
            <a:r>
              <a:rPr lang="en-US" altLang="zh-CN" sz="1200" strike="sngStrike" dirty="0">
                <a:solidFill>
                  <a:srgbClr val="4A5568"/>
                </a:solidFill>
                <a:latin typeface="Calibri" pitchFamily="34" charset="0"/>
                <a:cs typeface="Calibri" pitchFamily="34" charset="-120"/>
              </a:rPr>
              <a:t>Early</a:t>
            </a:r>
            <a:r>
              <a:rPr lang="zh-CN" altLang="en-US" sz="1200" strike="sngStrike" dirty="0">
                <a:solidFill>
                  <a:srgbClr val="4A5568"/>
                </a:solidFill>
                <a:latin typeface="Calibri" pitchFamily="34" charset="0"/>
                <a:cs typeface="Calibri" pitchFamily="34" charset="-120"/>
              </a:rPr>
              <a:t> </a:t>
            </a:r>
            <a:r>
              <a:rPr lang="en-US" altLang="zh-CN" sz="1200" strike="sngStrike" dirty="0">
                <a:solidFill>
                  <a:srgbClr val="4A5568"/>
                </a:solidFill>
                <a:latin typeface="Calibri" pitchFamily="34" charset="0"/>
                <a:cs typeface="Calibri" pitchFamily="34" charset="-120"/>
              </a:rPr>
              <a:t>Stop</a:t>
            </a:r>
            <a:endParaRPr lang="en-US" sz="1200" strike="sngStrike" dirty="0">
              <a:solidFill>
                <a:srgbClr val="4A5568"/>
              </a:solidFill>
              <a:latin typeface="Calibri" pitchFamily="34" charset="0"/>
              <a:cs typeface="Calibri" pitchFamily="34" charset="-120"/>
            </a:endParaRPr>
          </a:p>
          <a:p>
            <a:pPr marL="171450" indent="-171450">
              <a:spcAft>
                <a:spcPts val="400"/>
              </a:spcAft>
              <a:buSzPct val="100000"/>
              <a:buFont typeface="Arial" panose="020B0604020202020204" pitchFamily="34" charset="0"/>
              <a:buChar char="•"/>
            </a:pPr>
            <a:r>
              <a:rPr lang="en-US" altLang="zh-CN" sz="1200" dirty="0">
                <a:solidFill>
                  <a:srgbClr val="4A5568"/>
                </a:solidFill>
                <a:latin typeface="Calibri" pitchFamily="34" charset="0"/>
                <a:cs typeface="Calibri" pitchFamily="34" charset="-120"/>
              </a:rPr>
              <a:t>Data</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augmentation</a:t>
            </a:r>
          </a:p>
        </p:txBody>
      </p:sp>
      <p:sp>
        <p:nvSpPr>
          <p:cNvPr id="12" name="Shape 3">
            <a:extLst>
              <a:ext uri="{FF2B5EF4-FFF2-40B4-BE49-F238E27FC236}">
                <a16:creationId xmlns:a16="http://schemas.microsoft.com/office/drawing/2014/main" id="{6D380452-4AEB-DBE4-7FF0-218C343D4007}"/>
              </a:ext>
            </a:extLst>
          </p:cNvPr>
          <p:cNvSpPr/>
          <p:nvPr/>
        </p:nvSpPr>
        <p:spPr>
          <a:xfrm>
            <a:off x="6168417" y="803263"/>
            <a:ext cx="64008" cy="1768487"/>
          </a:xfrm>
          <a:prstGeom prst="rect">
            <a:avLst/>
          </a:prstGeom>
          <a:solidFill>
            <a:srgbClr val="3D7DCA"/>
          </a:solidFill>
          <a:ln/>
        </p:spPr>
        <p:txBody>
          <a:bodyPr/>
          <a:lstStyle/>
          <a:p>
            <a:endParaRPr lang="zh-SG" altLang="en-US"/>
          </a:p>
        </p:txBody>
      </p:sp>
    </p:spTree>
    <p:extLst>
      <p:ext uri="{BB962C8B-B14F-4D97-AF65-F5344CB8AC3E}">
        <p14:creationId xmlns:p14="http://schemas.microsoft.com/office/powerpoint/2010/main" val="897855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sz="1800" b="1" dirty="0">
                <a:solidFill>
                  <a:srgbClr val="E8B931"/>
                </a:solidFill>
                <a:latin typeface="Georgia" pitchFamily="34" charset="0"/>
                <a:ea typeface="Georgia" pitchFamily="34" charset="-122"/>
                <a:cs typeface="Georgia" pitchFamily="34" charset="-120"/>
              </a:rPr>
              <a:t>6</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Final Model Comparison</a:t>
            </a:r>
            <a:endParaRPr lang="en-US" sz="3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Final Results-Set Comparison</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1828800"/>
        </p:xfrm>
        <a:graphic>
          <a:graphicData uri="http://schemas.openxmlformats.org/drawingml/2006/table">
            <a:tbl>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Test Accuracy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Train Time (s)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Predict Time (s)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CNN (Neural Network)</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200" b="1" dirty="0">
                          <a:solidFill>
                            <a:srgbClr val="38A169"/>
                          </a:solidFill>
                          <a:latin typeface="Calibri" pitchFamily="34" charset="0"/>
                          <a:ea typeface="Calibri" pitchFamily="34" charset="-122"/>
                          <a:cs typeface="Calibri" pitchFamily="34" charset="-120"/>
                        </a:rPr>
                        <a:t>99.65%</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347.29</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0.066</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4A5568"/>
                          </a:solidFill>
                          <a:latin typeface="Calibri" pitchFamily="34" charset="0"/>
                          <a:ea typeface="Calibri" pitchFamily="34" charset="-122"/>
                          <a:cs typeface="Calibri" pitchFamily="34" charset="-120"/>
                        </a:rPr>
                        <a:t>MLP (Neural Network)</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98.72%</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32.19</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0.024</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4A5568"/>
                          </a:solidFill>
                          <a:latin typeface="Calibri" pitchFamily="34" charset="0"/>
                          <a:ea typeface="Calibri" pitchFamily="34" charset="-122"/>
                          <a:cs typeface="Calibri" pitchFamily="34" charset="-120"/>
                        </a:rPr>
                        <a:t>KNN (Optimized)</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97.74%</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0.22</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0.253</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4A5568"/>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92.27%</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0.008</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Chart 0"/>
          <p:cNvGraphicFramePr/>
          <p:nvPr/>
        </p:nvGraphicFramePr>
        <p:xfrm>
          <a:off x="548640" y="3108960"/>
          <a:ext cx="8046720" cy="1645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82DD48D0-4267-AEBD-D896-95C760E839A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AB878C8-99C8-3211-E659-96D74CC07F44}"/>
              </a:ext>
            </a:extLst>
          </p:cNvPr>
          <p:cNvSpPr/>
          <p:nvPr/>
        </p:nvSpPr>
        <p:spPr>
          <a:xfrm>
            <a:off x="731520" y="109728"/>
            <a:ext cx="7680960" cy="548640"/>
          </a:xfrm>
          <a:prstGeom prst="rect">
            <a:avLst/>
          </a:prstGeom>
          <a:noFill/>
          <a:ln/>
        </p:spPr>
        <p:txBody>
          <a:bodyPr wrap="square" lIns="0" tIns="0" rIns="0" bIns="0" rtlCol="0" anchor="ctr"/>
          <a:lstStyle/>
          <a:p>
            <a:r>
              <a:rPr lang="en-US" sz="2800" b="1" dirty="0">
                <a:solidFill>
                  <a:srgbClr val="1E2761"/>
                </a:solidFill>
                <a:latin typeface="Georgia" pitchFamily="34" charset="0"/>
                <a:ea typeface="Georgia" pitchFamily="34" charset="-122"/>
                <a:cs typeface="Georgia" pitchFamily="34" charset="-120"/>
              </a:rPr>
              <a:t>Final </a:t>
            </a:r>
            <a:r>
              <a:rPr lang="en-US" altLang="zh-SG" sz="2800" b="1" dirty="0">
                <a:solidFill>
                  <a:srgbClr val="1E2761"/>
                </a:solidFill>
                <a:latin typeface="Georgia" pitchFamily="34" charset="0"/>
                <a:ea typeface="Georgia" pitchFamily="34" charset="-122"/>
                <a:cs typeface="Georgia" pitchFamily="34" charset="-120"/>
              </a:rPr>
              <a:t>Results</a:t>
            </a:r>
            <a:r>
              <a:rPr lang="en-US" sz="2800" b="1" dirty="0">
                <a:solidFill>
                  <a:srgbClr val="1E2761"/>
                </a:solidFill>
                <a:latin typeface="Georgia" pitchFamily="34" charset="0"/>
                <a:ea typeface="Georgia" pitchFamily="34" charset="-122"/>
                <a:cs typeface="Georgia" pitchFamily="34" charset="-120"/>
              </a:rPr>
              <a:t>-Con</a:t>
            </a:r>
            <a:r>
              <a:rPr lang="en-US" altLang="zh-CN" sz="2800" b="1" dirty="0">
                <a:solidFill>
                  <a:srgbClr val="1E2761"/>
                </a:solidFill>
                <a:latin typeface="Georgia" pitchFamily="34" charset="0"/>
                <a:ea typeface="Georgia" pitchFamily="34" charset="-122"/>
                <a:cs typeface="Georgia" pitchFamily="34" charset="-120"/>
              </a:rPr>
              <a:t>fusion</a:t>
            </a:r>
            <a:r>
              <a:rPr lang="zh-CN" altLang="en-US" sz="2800" b="1" dirty="0">
                <a:solidFill>
                  <a:srgbClr val="1E2761"/>
                </a:solidFill>
                <a:latin typeface="Georgia" pitchFamily="34" charset="0"/>
                <a:ea typeface="Georgia" pitchFamily="34" charset="-122"/>
                <a:cs typeface="Georgia" pitchFamily="34" charset="-120"/>
              </a:rPr>
              <a:t> </a:t>
            </a:r>
            <a:r>
              <a:rPr lang="en-US" altLang="zh-CN" sz="2800" b="1" dirty="0">
                <a:solidFill>
                  <a:srgbClr val="1E2761"/>
                </a:solidFill>
                <a:latin typeface="Georgia" pitchFamily="34" charset="0"/>
                <a:ea typeface="Georgia" pitchFamily="34" charset="-122"/>
                <a:cs typeface="Georgia" pitchFamily="34" charset="-120"/>
              </a:rPr>
              <a:t>Matrix</a:t>
            </a:r>
            <a:endParaRPr lang="en-US" sz="2800" dirty="0"/>
          </a:p>
        </p:txBody>
      </p:sp>
      <p:sp>
        <p:nvSpPr>
          <p:cNvPr id="3" name="Shape 1">
            <a:extLst>
              <a:ext uri="{FF2B5EF4-FFF2-40B4-BE49-F238E27FC236}">
                <a16:creationId xmlns:a16="http://schemas.microsoft.com/office/drawing/2014/main" id="{F11114FF-3600-08EF-ADE4-2BF5967C3D03}"/>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6" name="Text 2">
            <a:extLst>
              <a:ext uri="{FF2B5EF4-FFF2-40B4-BE49-F238E27FC236}">
                <a16:creationId xmlns:a16="http://schemas.microsoft.com/office/drawing/2014/main" id="{D7B20634-679A-A577-80FA-080716C298DE}"/>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7" name="图片 6">
            <a:extLst>
              <a:ext uri="{FF2B5EF4-FFF2-40B4-BE49-F238E27FC236}">
                <a16:creationId xmlns:a16="http://schemas.microsoft.com/office/drawing/2014/main" id="{281E58A4-F3E0-1F04-D5B0-ACDCD368EFA5}"/>
              </a:ext>
            </a:extLst>
          </p:cNvPr>
          <p:cNvPicPr>
            <a:picLocks noChangeAspect="1"/>
          </p:cNvPicPr>
          <p:nvPr/>
        </p:nvPicPr>
        <p:blipFill>
          <a:blip r:embed="rId3"/>
          <a:srcRect r="75038"/>
          <a:stretch>
            <a:fillRect/>
          </a:stretch>
        </p:blipFill>
        <p:spPr>
          <a:xfrm>
            <a:off x="731520" y="539445"/>
            <a:ext cx="2858593" cy="2359126"/>
          </a:xfrm>
          <a:prstGeom prst="rect">
            <a:avLst/>
          </a:prstGeom>
        </p:spPr>
      </p:pic>
      <p:pic>
        <p:nvPicPr>
          <p:cNvPr id="4" name="图片 3">
            <a:extLst>
              <a:ext uri="{FF2B5EF4-FFF2-40B4-BE49-F238E27FC236}">
                <a16:creationId xmlns:a16="http://schemas.microsoft.com/office/drawing/2014/main" id="{E5CB049F-F456-30A0-C87B-A3590B8DA94C}"/>
              </a:ext>
            </a:extLst>
          </p:cNvPr>
          <p:cNvPicPr>
            <a:picLocks noChangeAspect="1"/>
          </p:cNvPicPr>
          <p:nvPr/>
        </p:nvPicPr>
        <p:blipFill>
          <a:blip r:embed="rId3"/>
          <a:srcRect l="50187" r="24901"/>
          <a:stretch>
            <a:fillRect/>
          </a:stretch>
        </p:blipFill>
        <p:spPr>
          <a:xfrm>
            <a:off x="731520" y="2779646"/>
            <a:ext cx="2858593" cy="2363854"/>
          </a:xfrm>
          <a:prstGeom prst="rect">
            <a:avLst/>
          </a:prstGeom>
        </p:spPr>
      </p:pic>
      <p:pic>
        <p:nvPicPr>
          <p:cNvPr id="5" name="图片 4">
            <a:extLst>
              <a:ext uri="{FF2B5EF4-FFF2-40B4-BE49-F238E27FC236}">
                <a16:creationId xmlns:a16="http://schemas.microsoft.com/office/drawing/2014/main" id="{EAECA47A-6829-1701-9160-B9A823C0113A}"/>
              </a:ext>
            </a:extLst>
          </p:cNvPr>
          <p:cNvPicPr>
            <a:picLocks noChangeAspect="1"/>
          </p:cNvPicPr>
          <p:nvPr/>
        </p:nvPicPr>
        <p:blipFill>
          <a:blip r:embed="rId3"/>
          <a:srcRect l="24911" r="50127"/>
          <a:stretch>
            <a:fillRect/>
          </a:stretch>
        </p:blipFill>
        <p:spPr>
          <a:xfrm>
            <a:off x="5553890" y="539444"/>
            <a:ext cx="2858593" cy="2359126"/>
          </a:xfrm>
          <a:prstGeom prst="rect">
            <a:avLst/>
          </a:prstGeom>
        </p:spPr>
      </p:pic>
      <p:pic>
        <p:nvPicPr>
          <p:cNvPr id="8" name="图片 7">
            <a:extLst>
              <a:ext uri="{FF2B5EF4-FFF2-40B4-BE49-F238E27FC236}">
                <a16:creationId xmlns:a16="http://schemas.microsoft.com/office/drawing/2014/main" id="{BFA5D761-AA98-5D57-2C72-2F8B3361EE2A}"/>
              </a:ext>
            </a:extLst>
          </p:cNvPr>
          <p:cNvPicPr>
            <a:picLocks noChangeAspect="1"/>
          </p:cNvPicPr>
          <p:nvPr/>
        </p:nvPicPr>
        <p:blipFill>
          <a:blip r:embed="rId3"/>
          <a:srcRect l="75088"/>
          <a:stretch>
            <a:fillRect/>
          </a:stretch>
        </p:blipFill>
        <p:spPr>
          <a:xfrm>
            <a:off x="5553889" y="2779646"/>
            <a:ext cx="2858594" cy="2363854"/>
          </a:xfrm>
          <a:prstGeom prst="rect">
            <a:avLst/>
          </a:prstGeom>
        </p:spPr>
      </p:pic>
    </p:spTree>
    <p:extLst>
      <p:ext uri="{BB962C8B-B14F-4D97-AF65-F5344CB8AC3E}">
        <p14:creationId xmlns:p14="http://schemas.microsoft.com/office/powerpoint/2010/main" val="619782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sz="1800" b="1" dirty="0">
                <a:solidFill>
                  <a:srgbClr val="E8B931"/>
                </a:solidFill>
                <a:latin typeface="Georgia" pitchFamily="34" charset="0"/>
                <a:ea typeface="Georgia" pitchFamily="34" charset="-122"/>
                <a:cs typeface="Georgia" pitchFamily="34" charset="-120"/>
              </a:rPr>
              <a:t>7</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Ablation Study</a:t>
            </a:r>
            <a:endParaRPr lang="en-U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0292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Partial Ablation — Optimizer &amp; Weight Decay</a:t>
            </a:r>
            <a:endParaRPr lang="en-US" sz="2400" dirty="0"/>
          </a:p>
        </p:txBody>
      </p:sp>
      <p:sp>
        <p:nvSpPr>
          <p:cNvPr id="3" name="Shape 1"/>
          <p:cNvSpPr/>
          <p:nvPr/>
        </p:nvSpPr>
        <p:spPr>
          <a:xfrm>
            <a:off x="731520" y="777240"/>
            <a:ext cx="1097280" cy="3658"/>
          </a:xfrm>
          <a:prstGeom prst="rect">
            <a:avLst/>
          </a:prstGeom>
          <a:solidFill>
            <a:srgbClr val="E8B931"/>
          </a:solidFill>
          <a:ln/>
        </p:spPr>
        <p:txBody>
          <a:bodyPr/>
          <a:lstStyle/>
          <a:p>
            <a:endParaRPr lang="zh-SG" altLang="en-US"/>
          </a:p>
        </p:txBody>
      </p:sp>
      <p:sp>
        <p:nvSpPr>
          <p:cNvPr id="4" name="Text 2"/>
          <p:cNvSpPr/>
          <p:nvPr/>
        </p:nvSpPr>
        <p:spPr>
          <a:xfrm>
            <a:off x="731520" y="841248"/>
            <a:ext cx="7680960" cy="274320"/>
          </a:xfrm>
          <a:prstGeom prst="rect">
            <a:avLst/>
          </a:prstGeom>
          <a:noFill/>
          <a:ln/>
        </p:spPr>
        <p:txBody>
          <a:bodyPr wrap="square" lIns="0" tIns="0" rIns="0" bIns="0" rtlCol="0" anchor="ctr"/>
          <a:lstStyle/>
          <a:p>
            <a:pPr marL="0" indent="0">
              <a:buNone/>
            </a:pPr>
            <a:r>
              <a:rPr lang="en-US" sz="1100" i="1" dirty="0">
                <a:solidFill>
                  <a:srgbClr val="8A94A6"/>
                </a:solidFill>
                <a:latin typeface="Calibri" pitchFamily="34" charset="0"/>
                <a:ea typeface="Calibri" pitchFamily="34" charset="-122"/>
                <a:cs typeface="Calibri" pitchFamily="34" charset="-120"/>
              </a:rPr>
              <a:t>Fixed architecture, best-checkpoint restoration. Single-run results (exploratory).</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442401280"/>
              </p:ext>
            </p:extLst>
          </p:nvPr>
        </p:nvGraphicFramePr>
        <p:xfrm>
          <a:off x="580644" y="1211580"/>
          <a:ext cx="7132320" cy="1920240"/>
        </p:xfrm>
        <a:graphic>
          <a:graphicData uri="http://schemas.openxmlformats.org/drawingml/2006/table">
            <a:tbl>
              <a:tblPr/>
              <a:tblGrid>
                <a:gridCol w="457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3200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Run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Optimizer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Weight Decay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MLP Epoch/ValAcc</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MLP Test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CNN Epoch/ValAcc</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CNN Test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5e-5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40 / 0.9870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98.65%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28 / 0.9970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99.57%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5e-5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39 / 0.9875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98.49%</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38 / 0.9973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99.57%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22 / 0.9878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98.46%</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35 / 0.9978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99.59%</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1e-5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30 / 0.9882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98.54%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35 / 0.9977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99.58%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1e-4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23 / 0.9877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98.60%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30 / 0.9972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b="1" dirty="0">
                          <a:solidFill>
                            <a:srgbClr val="38A169"/>
                          </a:solidFill>
                          <a:latin typeface="Calibri" pitchFamily="34" charset="0"/>
                          <a:ea typeface="Calibri" pitchFamily="34" charset="-122"/>
                          <a:cs typeface="Calibri" pitchFamily="34" charset="-120"/>
                        </a:rPr>
                        <a:t>99.60%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3337560"/>
            <a:ext cx="3840480"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7" name="Shape 4"/>
          <p:cNvSpPr/>
          <p:nvPr/>
        </p:nvSpPr>
        <p:spPr>
          <a:xfrm>
            <a:off x="548640" y="3337560"/>
            <a:ext cx="64008" cy="1325880"/>
          </a:xfrm>
          <a:prstGeom prst="rect">
            <a:avLst/>
          </a:prstGeom>
          <a:solidFill>
            <a:srgbClr val="3D7DCA"/>
          </a:solidFill>
          <a:ln/>
        </p:spPr>
        <p:txBody>
          <a:bodyPr/>
          <a:lstStyle/>
          <a:p>
            <a:endParaRPr lang="zh-SG" altLang="en-US"/>
          </a:p>
        </p:txBody>
      </p:sp>
      <p:sp>
        <p:nvSpPr>
          <p:cNvPr id="8" name="Text 5"/>
          <p:cNvSpPr/>
          <p:nvPr/>
        </p:nvSpPr>
        <p:spPr>
          <a:xfrm>
            <a:off x="777240" y="3383280"/>
            <a:ext cx="3474720" cy="274320"/>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MLP Findings</a:t>
            </a:r>
            <a:endParaRPr lang="en-US" sz="1300" dirty="0"/>
          </a:p>
        </p:txBody>
      </p:sp>
      <p:sp>
        <p:nvSpPr>
          <p:cNvPr id="9" name="Text 6"/>
          <p:cNvSpPr/>
          <p:nvPr/>
        </p:nvSpPr>
        <p:spPr>
          <a:xfrm>
            <a:off x="822960" y="3657600"/>
            <a:ext cx="3383280" cy="868680"/>
          </a:xfrm>
          <a:prstGeom prst="rect">
            <a:avLst/>
          </a:prstGeom>
          <a:noFill/>
          <a:ln/>
        </p:spPr>
        <p:txBody>
          <a:bodyPr wrap="square" rtlCol="0" anchor="ctr"/>
          <a:lstStyle/>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More sensitive to optimizer &amp; weight decay</a:t>
            </a:r>
            <a:endParaRPr lang="en-US" sz="1100" dirty="0"/>
          </a:p>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Adam outperformed AdamW at fixed wd=5e-5</a:t>
            </a:r>
            <a:endParaRPr lang="en-US" sz="1100" dirty="0"/>
          </a:p>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Best AdamW: wd=1e-4 -&gt; 98.60%</a:t>
            </a:r>
            <a:endParaRPr lang="en-US" sz="1100" dirty="0"/>
          </a:p>
        </p:txBody>
      </p:sp>
      <p:sp>
        <p:nvSpPr>
          <p:cNvPr id="10" name="Shape 7"/>
          <p:cNvSpPr/>
          <p:nvPr/>
        </p:nvSpPr>
        <p:spPr>
          <a:xfrm>
            <a:off x="4754880" y="3337560"/>
            <a:ext cx="3840480"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1" name="Shape 8"/>
          <p:cNvSpPr/>
          <p:nvPr/>
        </p:nvSpPr>
        <p:spPr>
          <a:xfrm>
            <a:off x="4754880" y="3337560"/>
            <a:ext cx="64008" cy="1325880"/>
          </a:xfrm>
          <a:prstGeom prst="rect">
            <a:avLst/>
          </a:prstGeom>
          <a:solidFill>
            <a:srgbClr val="E8B931"/>
          </a:solidFill>
          <a:ln/>
        </p:spPr>
        <p:txBody>
          <a:bodyPr/>
          <a:lstStyle/>
          <a:p>
            <a:endParaRPr lang="zh-SG" altLang="en-US"/>
          </a:p>
        </p:txBody>
      </p:sp>
      <p:sp>
        <p:nvSpPr>
          <p:cNvPr id="12" name="Text 9"/>
          <p:cNvSpPr/>
          <p:nvPr/>
        </p:nvSpPr>
        <p:spPr>
          <a:xfrm>
            <a:off x="4983480" y="3383280"/>
            <a:ext cx="3474720" cy="274320"/>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CNN Findings</a:t>
            </a:r>
            <a:endParaRPr lang="en-US" sz="1300" dirty="0"/>
          </a:p>
        </p:txBody>
      </p:sp>
      <p:sp>
        <p:nvSpPr>
          <p:cNvPr id="13" name="Text 10"/>
          <p:cNvSpPr/>
          <p:nvPr/>
        </p:nvSpPr>
        <p:spPr>
          <a:xfrm>
            <a:off x="5029200" y="3657600"/>
            <a:ext cx="3383280" cy="868680"/>
          </a:xfrm>
          <a:prstGeom prst="rect">
            <a:avLst/>
          </a:prstGeom>
          <a:noFill/>
          <a:ln/>
        </p:spPr>
        <p:txBody>
          <a:bodyPr wrap="square" rtlCol="0" anchor="ctr"/>
          <a:lstStyle/>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Remarkably robust across all settings</a:t>
            </a:r>
            <a:endParaRPr lang="en-US" sz="1100" dirty="0"/>
          </a:p>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Test accuracy range: 99.57% - 99.60%</a:t>
            </a:r>
            <a:endParaRPr lang="en-US" sz="1100" dirty="0"/>
          </a:p>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wd=1e-4 marginally best (99.60%)</a:t>
            </a:r>
            <a:endParaRPr lang="en-US" sz="1100" dirty="0"/>
          </a:p>
        </p:txBody>
      </p:sp>
      <p:sp>
        <p:nvSpPr>
          <p:cNvPr id="14" name="Text 11"/>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sz="1800" b="1" dirty="0">
                <a:solidFill>
                  <a:srgbClr val="E8B931"/>
                </a:solidFill>
                <a:latin typeface="Georgia" pitchFamily="34" charset="0"/>
                <a:ea typeface="Georgia" pitchFamily="34" charset="-122"/>
                <a:cs typeface="Georgia" pitchFamily="34" charset="-120"/>
              </a:rPr>
              <a:t>8</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Conclusions</a:t>
            </a:r>
            <a:endParaRPr lang="en-US" sz="3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Summary</a:t>
            </a:r>
            <a:r>
              <a:rPr lang="zh-CN" altLang="en-US" sz="2800" b="1" dirty="0">
                <a:solidFill>
                  <a:srgbClr val="1E2761"/>
                </a:solidFill>
                <a:latin typeface="Georgia" pitchFamily="34" charset="0"/>
                <a:ea typeface="Georgia" pitchFamily="34" charset="-122"/>
                <a:cs typeface="Georgia" pitchFamily="34" charset="-120"/>
              </a:rPr>
              <a:t> </a:t>
            </a:r>
            <a:r>
              <a:rPr lang="en-US" altLang="zh-CN" sz="2800" b="1" dirty="0">
                <a:solidFill>
                  <a:srgbClr val="1E2761"/>
                </a:solidFill>
                <a:latin typeface="Georgia" pitchFamily="34" charset="0"/>
                <a:ea typeface="Georgia" pitchFamily="34" charset="-122"/>
                <a:cs typeface="Georgia" pitchFamily="34" charset="-120"/>
              </a:rPr>
              <a:t>of</a:t>
            </a:r>
            <a:r>
              <a:rPr lang="zh-CN" altLang="en-US" sz="2800" b="1" dirty="0">
                <a:solidFill>
                  <a:srgbClr val="1E2761"/>
                </a:solidFill>
                <a:latin typeface="Georgia" pitchFamily="34" charset="0"/>
                <a:ea typeface="Georgia" pitchFamily="34" charset="-122"/>
                <a:cs typeface="Georgia" pitchFamily="34" charset="-120"/>
              </a:rPr>
              <a:t> </a:t>
            </a:r>
            <a:r>
              <a:rPr lang="en-US" altLang="zh-CN" sz="2800" b="1" dirty="0">
                <a:solidFill>
                  <a:srgbClr val="1E2761"/>
                </a:solidFill>
                <a:latin typeface="Georgia" pitchFamily="34" charset="0"/>
                <a:ea typeface="Georgia" pitchFamily="34" charset="-122"/>
                <a:cs typeface="Georgia" pitchFamily="34" charset="-120"/>
              </a:rPr>
              <a:t>Results</a:t>
            </a:r>
            <a:endParaRPr lang="en-US" sz="28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p:cNvSpPr/>
          <p:nvPr/>
        </p:nvSpPr>
        <p:spPr>
          <a:xfrm>
            <a:off x="548640" y="109728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3"/>
          <p:cNvSpPr/>
          <p:nvPr/>
        </p:nvSpPr>
        <p:spPr>
          <a:xfrm>
            <a:off x="548640" y="1097280"/>
            <a:ext cx="64008" cy="502920"/>
          </a:xfrm>
          <a:prstGeom prst="rect">
            <a:avLst/>
          </a:prstGeom>
          <a:solidFill>
            <a:schemeClr val="accent6"/>
          </a:solidFill>
          <a:ln/>
        </p:spPr>
        <p:txBody>
          <a:bodyPr/>
          <a:lstStyle/>
          <a:p>
            <a:endParaRPr lang="zh-SG" altLang="en-US"/>
          </a:p>
        </p:txBody>
      </p:sp>
      <p:sp>
        <p:nvSpPr>
          <p:cNvPr id="6" name="Text 4"/>
          <p:cNvSpPr/>
          <p:nvPr/>
        </p:nvSpPr>
        <p:spPr>
          <a:xfrm>
            <a:off x="777240" y="109728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143000" y="109728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CNN is the strongest model — 99.65% test accuracy with per-sample data augmentation and best-checkpoint restoration.</a:t>
            </a:r>
            <a:endParaRPr lang="en-US" sz="1200" dirty="0"/>
          </a:p>
        </p:txBody>
      </p:sp>
      <p:sp>
        <p:nvSpPr>
          <p:cNvPr id="8" name="Shape 6"/>
          <p:cNvSpPr/>
          <p:nvPr/>
        </p:nvSpPr>
        <p:spPr>
          <a:xfrm>
            <a:off x="548640" y="169164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p:cNvSpPr/>
          <p:nvPr/>
        </p:nvSpPr>
        <p:spPr>
          <a:xfrm>
            <a:off x="548640" y="1691640"/>
            <a:ext cx="64008" cy="502920"/>
          </a:xfrm>
          <a:prstGeom prst="rect">
            <a:avLst/>
          </a:prstGeom>
          <a:solidFill>
            <a:srgbClr val="3D7DCA"/>
          </a:solidFill>
          <a:ln/>
        </p:spPr>
        <p:txBody>
          <a:bodyPr/>
          <a:lstStyle/>
          <a:p>
            <a:endParaRPr lang="zh-SG" altLang="en-US"/>
          </a:p>
        </p:txBody>
      </p:sp>
      <p:sp>
        <p:nvSpPr>
          <p:cNvPr id="10" name="Text 8"/>
          <p:cNvSpPr/>
          <p:nvPr/>
        </p:nvSpPr>
        <p:spPr>
          <a:xfrm>
            <a:off x="777240" y="169164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1143000" y="169164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MLP provides an excellent performance/complexity trade-off at 98.72%, especially after extending training and checkpoint selection.</a:t>
            </a:r>
            <a:endParaRPr lang="en-US" sz="1200" dirty="0"/>
          </a:p>
        </p:txBody>
      </p:sp>
      <p:sp>
        <p:nvSpPr>
          <p:cNvPr id="12" name="Shape 10"/>
          <p:cNvSpPr/>
          <p:nvPr/>
        </p:nvSpPr>
        <p:spPr>
          <a:xfrm>
            <a:off x="548640" y="228600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3" name="Shape 11"/>
          <p:cNvSpPr/>
          <p:nvPr/>
        </p:nvSpPr>
        <p:spPr>
          <a:xfrm>
            <a:off x="548640" y="2286000"/>
            <a:ext cx="64008" cy="502920"/>
          </a:xfrm>
          <a:prstGeom prst="rect">
            <a:avLst/>
          </a:prstGeom>
          <a:solidFill>
            <a:srgbClr val="3D7DCA"/>
          </a:solidFill>
          <a:ln/>
        </p:spPr>
        <p:txBody>
          <a:bodyPr/>
          <a:lstStyle/>
          <a:p>
            <a:endParaRPr lang="zh-SG" altLang="en-US"/>
          </a:p>
        </p:txBody>
      </p:sp>
      <p:sp>
        <p:nvSpPr>
          <p:cNvPr id="14" name="Text 12"/>
          <p:cNvSpPr/>
          <p:nvPr/>
        </p:nvSpPr>
        <p:spPr>
          <a:xfrm>
            <a:off x="777240" y="228600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3</a:t>
            </a:r>
            <a:endParaRPr lang="en-US" sz="1800" dirty="0"/>
          </a:p>
        </p:txBody>
      </p:sp>
      <p:sp>
        <p:nvSpPr>
          <p:cNvPr id="15" name="Text 13"/>
          <p:cNvSpPr/>
          <p:nvPr/>
        </p:nvSpPr>
        <p:spPr>
          <a:xfrm>
            <a:off x="1143000" y="228600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KNN is a strong classical baseline (97.74%) — Euclidean distance + small k + 90% PCA retention is the sweet spot.</a:t>
            </a:r>
            <a:endParaRPr lang="en-US" sz="1200" dirty="0"/>
          </a:p>
        </p:txBody>
      </p:sp>
      <p:sp>
        <p:nvSpPr>
          <p:cNvPr id="16" name="Shape 14"/>
          <p:cNvSpPr/>
          <p:nvPr/>
        </p:nvSpPr>
        <p:spPr>
          <a:xfrm>
            <a:off x="548640" y="288036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7" name="Shape 15"/>
          <p:cNvSpPr/>
          <p:nvPr/>
        </p:nvSpPr>
        <p:spPr>
          <a:xfrm>
            <a:off x="548640" y="2880360"/>
            <a:ext cx="64008" cy="502920"/>
          </a:xfrm>
          <a:prstGeom prst="rect">
            <a:avLst/>
          </a:prstGeom>
          <a:solidFill>
            <a:srgbClr val="3D7DCA"/>
          </a:solidFill>
          <a:ln/>
        </p:spPr>
        <p:txBody>
          <a:bodyPr/>
          <a:lstStyle/>
          <a:p>
            <a:endParaRPr lang="zh-SG" altLang="en-US"/>
          </a:p>
        </p:txBody>
      </p:sp>
      <p:sp>
        <p:nvSpPr>
          <p:cNvPr id="18" name="Text 16"/>
          <p:cNvSpPr/>
          <p:nvPr/>
        </p:nvSpPr>
        <p:spPr>
          <a:xfrm>
            <a:off x="777240" y="288036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4</a:t>
            </a:r>
            <a:endParaRPr lang="en-US" sz="1800" dirty="0"/>
          </a:p>
        </p:txBody>
      </p:sp>
      <p:sp>
        <p:nvSpPr>
          <p:cNvPr id="19" name="Text 17"/>
          <p:cNvSpPr/>
          <p:nvPr/>
        </p:nvSpPr>
        <p:spPr>
          <a:xfrm>
            <a:off x="1143000" y="288036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Logistic Regression peaks at 92.27% — a linear decision boundary fundamentally limits performance on image classification.</a:t>
            </a:r>
            <a:endParaRPr lang="en-US" sz="1200" dirty="0"/>
          </a:p>
        </p:txBody>
      </p:sp>
      <p:sp>
        <p:nvSpPr>
          <p:cNvPr id="20" name="Shape 18"/>
          <p:cNvSpPr/>
          <p:nvPr/>
        </p:nvSpPr>
        <p:spPr>
          <a:xfrm>
            <a:off x="548640" y="347472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21" name="Shape 19"/>
          <p:cNvSpPr/>
          <p:nvPr/>
        </p:nvSpPr>
        <p:spPr>
          <a:xfrm>
            <a:off x="548640" y="3474720"/>
            <a:ext cx="64008" cy="502920"/>
          </a:xfrm>
          <a:prstGeom prst="rect">
            <a:avLst/>
          </a:prstGeom>
          <a:solidFill>
            <a:srgbClr val="3D7DCA"/>
          </a:solidFill>
          <a:ln/>
        </p:spPr>
        <p:txBody>
          <a:bodyPr/>
          <a:lstStyle/>
          <a:p>
            <a:endParaRPr lang="zh-SG" altLang="en-US"/>
          </a:p>
        </p:txBody>
      </p:sp>
      <p:sp>
        <p:nvSpPr>
          <p:cNvPr id="22" name="Text 20"/>
          <p:cNvSpPr/>
          <p:nvPr/>
        </p:nvSpPr>
        <p:spPr>
          <a:xfrm>
            <a:off x="777240" y="347472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5</a:t>
            </a:r>
            <a:endParaRPr lang="en-US" sz="1800" dirty="0"/>
          </a:p>
        </p:txBody>
      </p:sp>
      <p:sp>
        <p:nvSpPr>
          <p:cNvPr id="23" name="Text 21"/>
          <p:cNvSpPr/>
          <p:nvPr/>
        </p:nvSpPr>
        <p:spPr>
          <a:xfrm>
            <a:off x="1143000" y="347472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t-SNE reveals much clearer local class clusters than PCA, providing better visual insight into digit separability.</a:t>
            </a:r>
            <a:endParaRPr lang="en-US" sz="1200" dirty="0"/>
          </a:p>
        </p:txBody>
      </p:sp>
      <p:sp>
        <p:nvSpPr>
          <p:cNvPr id="24" name="Shape 22"/>
          <p:cNvSpPr/>
          <p:nvPr/>
        </p:nvSpPr>
        <p:spPr>
          <a:xfrm>
            <a:off x="548640" y="406908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25" name="Shape 23"/>
          <p:cNvSpPr/>
          <p:nvPr/>
        </p:nvSpPr>
        <p:spPr>
          <a:xfrm>
            <a:off x="548640" y="4069080"/>
            <a:ext cx="64008" cy="502920"/>
          </a:xfrm>
          <a:prstGeom prst="rect">
            <a:avLst/>
          </a:prstGeom>
          <a:solidFill>
            <a:srgbClr val="3D7DCA"/>
          </a:solidFill>
          <a:ln/>
        </p:spPr>
        <p:txBody>
          <a:bodyPr/>
          <a:lstStyle/>
          <a:p>
            <a:endParaRPr lang="zh-SG" altLang="en-US"/>
          </a:p>
        </p:txBody>
      </p:sp>
      <p:sp>
        <p:nvSpPr>
          <p:cNvPr id="26" name="Text 24"/>
          <p:cNvSpPr/>
          <p:nvPr/>
        </p:nvSpPr>
        <p:spPr>
          <a:xfrm>
            <a:off x="777240" y="406908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6</a:t>
            </a:r>
            <a:r>
              <a:rPr lang="zh-CN" altLang="en-US" sz="1800" b="1" baseline="30000" dirty="0">
                <a:solidFill>
                  <a:srgbClr val="3D7DCA"/>
                </a:solidFill>
                <a:latin typeface="Georgia" pitchFamily="34" charset="0"/>
                <a:ea typeface="Georgia" pitchFamily="34" charset="-122"/>
                <a:cs typeface="Georgia" pitchFamily="34" charset="-120"/>
              </a:rPr>
              <a:t>*</a:t>
            </a:r>
            <a:endParaRPr lang="en-US" sz="1800" baseline="30000" dirty="0"/>
          </a:p>
        </p:txBody>
      </p:sp>
      <p:sp>
        <p:nvSpPr>
          <p:cNvPr id="27" name="Text 25"/>
          <p:cNvSpPr/>
          <p:nvPr/>
        </p:nvSpPr>
        <p:spPr>
          <a:xfrm>
            <a:off x="1143000" y="406908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Ablation shows CNN is robust to optimizer/regularization choices, while MLP is more sensitive — AdamW + wd=1e-4 is a good default.</a:t>
            </a:r>
            <a:endParaRPr lang="en-US" sz="1200" dirty="0"/>
          </a:p>
        </p:txBody>
      </p:sp>
      <p:sp>
        <p:nvSpPr>
          <p:cNvPr id="28" name="Text 26"/>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19CE8B51-8077-4986-423B-3AA0A51F4A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62DB27-CCD9-8AD0-5F20-0497430924F9}"/>
              </a:ext>
            </a:extLst>
          </p:cNvPr>
          <p:cNvSpPr/>
          <p:nvPr/>
        </p:nvSpPr>
        <p:spPr>
          <a:xfrm>
            <a:off x="368032" y="1708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Summary of models and insights</a:t>
            </a:r>
            <a:endParaRPr lang="en-US" sz="2400" dirty="0"/>
          </a:p>
        </p:txBody>
      </p:sp>
      <p:sp>
        <p:nvSpPr>
          <p:cNvPr id="3" name="Shape 1">
            <a:extLst>
              <a:ext uri="{FF2B5EF4-FFF2-40B4-BE49-F238E27FC236}">
                <a16:creationId xmlns:a16="http://schemas.microsoft.com/office/drawing/2014/main" id="{8C611442-C943-B5EA-5B9D-44993FE9AA56}"/>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6" name="Text 2">
            <a:extLst>
              <a:ext uri="{FF2B5EF4-FFF2-40B4-BE49-F238E27FC236}">
                <a16:creationId xmlns:a16="http://schemas.microsoft.com/office/drawing/2014/main" id="{ADC9CC21-D790-72C1-319D-9B1A29BB4C9A}"/>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
        <p:nvSpPr>
          <p:cNvPr id="7" name="TextBox 6">
            <a:extLst>
              <a:ext uri="{FF2B5EF4-FFF2-40B4-BE49-F238E27FC236}">
                <a16:creationId xmlns:a16="http://schemas.microsoft.com/office/drawing/2014/main" id="{8658E160-EF0F-6256-5306-52189FD4621E}"/>
              </a:ext>
            </a:extLst>
          </p:cNvPr>
          <p:cNvSpPr txBox="1"/>
          <p:nvPr/>
        </p:nvSpPr>
        <p:spPr>
          <a:xfrm>
            <a:off x="409517" y="1043656"/>
            <a:ext cx="7583812" cy="523220"/>
          </a:xfrm>
          <a:prstGeom prst="rect">
            <a:avLst/>
          </a:prstGeom>
          <a:noFill/>
        </p:spPr>
        <p:txBody>
          <a:bodyPr wrap="square">
            <a:spAutoFit/>
          </a:bodyPr>
          <a:lstStyle/>
          <a:p>
            <a:r>
              <a:rPr lang="en-US" sz="1400" dirty="0"/>
              <a:t>Overall, model performance highlights the importance of </a:t>
            </a:r>
            <a:r>
              <a:rPr lang="en-US" sz="1400" b="1" dirty="0"/>
              <a:t>non-linear feature learning for images</a:t>
            </a:r>
            <a:r>
              <a:rPr lang="en-US" sz="1400" dirty="0"/>
              <a:t>, with deep learning models outperforming linear and distance-based approaches on MNIST</a:t>
            </a:r>
            <a:endParaRPr lang="en-SG" sz="1400" dirty="0"/>
          </a:p>
        </p:txBody>
      </p:sp>
      <p:graphicFrame>
        <p:nvGraphicFramePr>
          <p:cNvPr id="12" name="Table 11">
            <a:extLst>
              <a:ext uri="{FF2B5EF4-FFF2-40B4-BE49-F238E27FC236}">
                <a16:creationId xmlns:a16="http://schemas.microsoft.com/office/drawing/2014/main" id="{B45F1FD4-E55C-D809-6D17-EAE8C9971416}"/>
              </a:ext>
            </a:extLst>
          </p:cNvPr>
          <p:cNvGraphicFramePr>
            <a:graphicFrameLocks noGrp="1"/>
          </p:cNvGraphicFramePr>
          <p:nvPr>
            <p:extLst>
              <p:ext uri="{D42A27DB-BD31-4B8C-83A1-F6EECF244321}">
                <p14:modId xmlns:p14="http://schemas.microsoft.com/office/powerpoint/2010/main" val="7356933"/>
              </p:ext>
            </p:extLst>
          </p:nvPr>
        </p:nvGraphicFramePr>
        <p:xfrm>
          <a:off x="493662" y="1845629"/>
          <a:ext cx="7859354" cy="2642225"/>
        </p:xfrm>
        <a:graphic>
          <a:graphicData uri="http://schemas.openxmlformats.org/drawingml/2006/table">
            <a:tbl>
              <a:tblPr/>
              <a:tblGrid>
                <a:gridCol w="1351967">
                  <a:extLst>
                    <a:ext uri="{9D8B030D-6E8A-4147-A177-3AD203B41FA5}">
                      <a16:colId xmlns:a16="http://schemas.microsoft.com/office/drawing/2014/main" val="173522432"/>
                    </a:ext>
                  </a:extLst>
                </a:gridCol>
                <a:gridCol w="1239770">
                  <a:extLst>
                    <a:ext uri="{9D8B030D-6E8A-4147-A177-3AD203B41FA5}">
                      <a16:colId xmlns:a16="http://schemas.microsoft.com/office/drawing/2014/main" val="3222982012"/>
                    </a:ext>
                  </a:extLst>
                </a:gridCol>
                <a:gridCol w="2692711">
                  <a:extLst>
                    <a:ext uri="{9D8B030D-6E8A-4147-A177-3AD203B41FA5}">
                      <a16:colId xmlns:a16="http://schemas.microsoft.com/office/drawing/2014/main" val="740366781"/>
                    </a:ext>
                  </a:extLst>
                </a:gridCol>
                <a:gridCol w="2574906">
                  <a:extLst>
                    <a:ext uri="{9D8B030D-6E8A-4147-A177-3AD203B41FA5}">
                      <a16:colId xmlns:a16="http://schemas.microsoft.com/office/drawing/2014/main" val="1986523641"/>
                    </a:ext>
                  </a:extLst>
                </a:gridCol>
              </a:tblGrid>
              <a:tr h="419063">
                <a:tc>
                  <a:txBody>
                    <a:bodyPr/>
                    <a:lstStyle/>
                    <a:p>
                      <a:pPr algn="ctr">
                        <a:buNone/>
                      </a:pPr>
                      <a:r>
                        <a:rPr lang="en-SG" sz="1200" b="1" dirty="0">
                          <a:solidFill>
                            <a:srgbClr val="F4F6FC"/>
                          </a:solidFill>
                        </a:rPr>
                        <a:t>Model</a:t>
                      </a:r>
                    </a:p>
                  </a:txBody>
                  <a:tcPr marL="42368" marR="42368" marT="21184" marB="21184"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solidFill>
                      <a:srgbClr val="1E2760"/>
                    </a:solidFill>
                  </a:tcPr>
                </a:tc>
                <a:tc>
                  <a:txBody>
                    <a:bodyPr/>
                    <a:lstStyle/>
                    <a:p>
                      <a:pPr algn="ctr">
                        <a:buNone/>
                      </a:pPr>
                      <a:r>
                        <a:rPr lang="en-SG" sz="1200" b="1" dirty="0">
                          <a:solidFill>
                            <a:srgbClr val="F4F6FC"/>
                          </a:solidFill>
                        </a:rPr>
                        <a:t>Performance</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solidFill>
                      <a:srgbClr val="1E2760"/>
                    </a:solidFill>
                  </a:tcPr>
                </a:tc>
                <a:tc>
                  <a:txBody>
                    <a:bodyPr/>
                    <a:lstStyle/>
                    <a:p>
                      <a:pPr algn="ctr">
                        <a:buNone/>
                      </a:pPr>
                      <a:r>
                        <a:rPr lang="en-US" sz="1200" b="1" dirty="0">
                          <a:solidFill>
                            <a:srgbClr val="F4F6FC"/>
                          </a:solidFill>
                        </a:rPr>
                        <a:t>Why it Performs This Way on MNIST</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solidFill>
                      <a:srgbClr val="1E2760"/>
                    </a:solidFill>
                  </a:tcPr>
                </a:tc>
                <a:tc>
                  <a:txBody>
                    <a:bodyPr/>
                    <a:lstStyle/>
                    <a:p>
                      <a:pPr algn="ctr">
                        <a:buNone/>
                      </a:pPr>
                      <a:r>
                        <a:rPr lang="en-US" sz="1200" b="1" dirty="0">
                          <a:solidFill>
                            <a:srgbClr val="F4F6FC"/>
                          </a:solidFill>
                        </a:rPr>
                        <a:t>Insight (What this reveals)</a:t>
                      </a:r>
                    </a:p>
                  </a:txBody>
                  <a:tcPr marL="42368" marR="42368" marT="21184" marB="21184"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solidFill>
                      <a:srgbClr val="1E2760"/>
                    </a:solidFill>
                  </a:tcPr>
                </a:tc>
                <a:extLst>
                  <a:ext uri="{0D108BD9-81ED-4DB2-BD59-A6C34878D82A}">
                    <a16:rowId xmlns:a16="http://schemas.microsoft.com/office/drawing/2014/main" val="3433356986"/>
                  </a:ext>
                </a:extLst>
              </a:tr>
              <a:tr h="499801">
                <a:tc>
                  <a:txBody>
                    <a:bodyPr/>
                    <a:lstStyle/>
                    <a:p>
                      <a:pPr algn="ctr">
                        <a:buNone/>
                      </a:pPr>
                      <a:r>
                        <a:rPr lang="en-SG" sz="1200" b="1" dirty="0"/>
                        <a:t>CNN</a:t>
                      </a:r>
                      <a:endParaRPr lang="en-SG" sz="1200" dirty="0"/>
                    </a:p>
                  </a:txBody>
                  <a:tcPr marL="42368" marR="42368" marT="21184" marB="2118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SG" sz="1200" dirty="0"/>
                        <a:t>Best (99.65%)</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Exploits </a:t>
                      </a:r>
                      <a:r>
                        <a:rPr lang="en-US" sz="1200" b="1" dirty="0"/>
                        <a:t>local spatial patterns (edges, strokes)</a:t>
                      </a:r>
                      <a:r>
                        <a:rPr lang="en-US" sz="1200" dirty="0"/>
                        <a:t> and builds hierarchical features</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MNIST is </a:t>
                      </a:r>
                      <a:r>
                        <a:rPr lang="en-US" sz="1200" b="1" dirty="0"/>
                        <a:t>spatially structured image data</a:t>
                      </a:r>
                      <a:r>
                        <a:rPr lang="en-US" sz="1200" dirty="0"/>
                        <a:t>, not just numbers.</a:t>
                      </a:r>
                    </a:p>
                  </a:txBody>
                  <a:tcPr marL="42368" marR="42368" marT="21184" marB="2118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38681844"/>
                  </a:ext>
                </a:extLst>
              </a:tr>
              <a:tr h="499801">
                <a:tc>
                  <a:txBody>
                    <a:bodyPr/>
                    <a:lstStyle/>
                    <a:p>
                      <a:pPr algn="ctr">
                        <a:buNone/>
                      </a:pPr>
                      <a:r>
                        <a:rPr lang="en-SG" sz="1200" b="1" dirty="0"/>
                        <a:t>MLP</a:t>
                      </a:r>
                      <a:endParaRPr lang="en-SG" sz="1200" dirty="0"/>
                    </a:p>
                  </a:txBody>
                  <a:tcPr marL="42368" marR="42368" marT="21184" marB="2118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SG" sz="1200" dirty="0"/>
                        <a:t>High (98.72%)</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Can model non-linearity, but loses </a:t>
                      </a:r>
                      <a:r>
                        <a:rPr lang="en-US" sz="1200" b="1" dirty="0"/>
                        <a:t>spatial structure</a:t>
                      </a:r>
                      <a:r>
                        <a:rPr lang="en-US" sz="1200" dirty="0"/>
                        <a:t> when flattening images</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Spatial relationships are important, but  flattening is suboptimal</a:t>
                      </a:r>
                    </a:p>
                  </a:txBody>
                  <a:tcPr marL="42368" marR="42368" marT="21184" marB="2118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665502230"/>
                  </a:ext>
                </a:extLst>
              </a:tr>
              <a:tr h="723759">
                <a:tc>
                  <a:txBody>
                    <a:bodyPr/>
                    <a:lstStyle/>
                    <a:p>
                      <a:pPr algn="ctr">
                        <a:buNone/>
                      </a:pPr>
                      <a:r>
                        <a:rPr lang="en-SG" sz="1200" b="1" dirty="0"/>
                        <a:t>KNN (with PCA)</a:t>
                      </a:r>
                      <a:endParaRPr lang="en-SG" sz="1200" dirty="0"/>
                    </a:p>
                  </a:txBody>
                  <a:tcPr marL="42368" marR="42368" marT="21184" marB="2118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SG" sz="1200" dirty="0"/>
                        <a:t>High (97.74%)</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Benefits from </a:t>
                      </a:r>
                      <a:r>
                        <a:rPr lang="en-US" sz="1200" b="1" dirty="0"/>
                        <a:t>dense pixel similarity</a:t>
                      </a:r>
                      <a:r>
                        <a:rPr lang="en-US" sz="1200" dirty="0"/>
                        <a:t>; PCA keeps</a:t>
                      </a:r>
                      <a:r>
                        <a:rPr lang="zh-CN" altLang="en-US" sz="1200" dirty="0"/>
                        <a:t> </a:t>
                      </a:r>
                      <a:r>
                        <a:rPr lang="en-US" altLang="zh-CN" sz="1200" dirty="0"/>
                        <a:t>majority</a:t>
                      </a:r>
                      <a:r>
                        <a:rPr lang="zh-CN" altLang="en-US" sz="1200" dirty="0"/>
                        <a:t> </a:t>
                      </a:r>
                      <a:r>
                        <a:rPr lang="en-US" altLang="zh-CN" sz="1200" dirty="0"/>
                        <a:t>features</a:t>
                      </a:r>
                      <a:r>
                        <a:rPr lang="en-US" sz="1200" dirty="0"/>
                        <a:t>, making local</a:t>
                      </a:r>
                      <a:r>
                        <a:rPr lang="zh-CN" altLang="en-US" sz="1200" dirty="0"/>
                        <a:t> </a:t>
                      </a:r>
                      <a:r>
                        <a:rPr lang="en-US" altLang="zh-CN" sz="1200" dirty="0"/>
                        <a:t>feature</a:t>
                      </a:r>
                      <a:r>
                        <a:rPr lang="zh-CN" altLang="en-US" sz="1200" dirty="0"/>
                        <a:t> </a:t>
                      </a:r>
                      <a:r>
                        <a:rPr lang="en-US" altLang="zh-CN" sz="1200" dirty="0"/>
                        <a:t>appears</a:t>
                      </a:r>
                      <a:endParaRPr lang="en-US" sz="1200" dirty="0"/>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MNIST clusters well in feature space, </a:t>
                      </a:r>
                      <a:r>
                        <a:rPr lang="en-US" sz="1200" b="1" dirty="0"/>
                        <a:t>local similarity is strong</a:t>
                      </a:r>
                      <a:endParaRPr lang="en-US" sz="1200" dirty="0"/>
                    </a:p>
                  </a:txBody>
                  <a:tcPr marL="42368" marR="42368" marT="21184" marB="2118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99940139"/>
                  </a:ext>
                </a:extLst>
              </a:tr>
              <a:tr h="499801">
                <a:tc>
                  <a:txBody>
                    <a:bodyPr/>
                    <a:lstStyle/>
                    <a:p>
                      <a:pPr algn="ctr">
                        <a:buNone/>
                      </a:pPr>
                      <a:r>
                        <a:rPr lang="en-SG" sz="1200" b="1"/>
                        <a:t>Logistic Regression</a:t>
                      </a:r>
                      <a:endParaRPr lang="en-SG" sz="1200"/>
                    </a:p>
                  </a:txBody>
                  <a:tcPr marL="42368" marR="42368" marT="21184" marB="2118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sz="1200" dirty="0"/>
                        <a:t>Moderate (92.27%)</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dirty="0"/>
                        <a:t>Assumes </a:t>
                      </a:r>
                      <a:r>
                        <a:rPr lang="en-US" sz="1200" b="1" dirty="0"/>
                        <a:t>linear separability</a:t>
                      </a:r>
                      <a:r>
                        <a:rPr lang="en-US" sz="1200" dirty="0"/>
                        <a:t>, but digits overlap in complex ways</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dirty="0"/>
                        <a:t>MNIST has </a:t>
                      </a:r>
                      <a:r>
                        <a:rPr lang="en-US" sz="1200" b="1" dirty="0"/>
                        <a:t>inherently non-linear decision boundaries</a:t>
                      </a:r>
                      <a:endParaRPr lang="en-US" sz="1200" dirty="0"/>
                    </a:p>
                  </a:txBody>
                  <a:tcPr marL="42368" marR="42368" marT="21184" marB="2118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5519153"/>
                  </a:ext>
                </a:extLst>
              </a:tr>
            </a:tbl>
          </a:graphicData>
        </a:graphic>
      </p:graphicFrame>
    </p:spTree>
    <p:extLst>
      <p:ext uri="{BB962C8B-B14F-4D97-AF65-F5344CB8AC3E}">
        <p14:creationId xmlns:p14="http://schemas.microsoft.com/office/powerpoint/2010/main" val="3772816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B931"/>
          </a:solidFill>
          <a:ln/>
        </p:spPr>
        <p:txBody>
          <a:bodyPr/>
          <a:lstStyle/>
          <a:p>
            <a:endParaRPr lang="zh-SG" altLang="en-US"/>
          </a:p>
        </p:txBody>
      </p:sp>
      <p:sp>
        <p:nvSpPr>
          <p:cNvPr id="3" name="Text 1"/>
          <p:cNvSpPr/>
          <p:nvPr/>
        </p:nvSpPr>
        <p:spPr>
          <a:xfrm>
            <a:off x="0" y="1645920"/>
            <a:ext cx="914400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Text 2"/>
          <p:cNvSpPr/>
          <p:nvPr/>
        </p:nvSpPr>
        <p:spPr>
          <a:xfrm>
            <a:off x="0" y="2651760"/>
            <a:ext cx="9144000" cy="457200"/>
          </a:xfrm>
          <a:prstGeom prst="rect">
            <a:avLst/>
          </a:prstGeom>
          <a:noFill/>
          <a:ln/>
        </p:spPr>
        <p:txBody>
          <a:bodyPr wrap="square" lIns="0" tIns="0" rIns="0" bIns="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Questions &amp; Discussion</a:t>
            </a:r>
            <a:endParaRPr lang="en-US" sz="2000" dirty="0"/>
          </a:p>
        </p:txBody>
      </p:sp>
      <p:sp>
        <p:nvSpPr>
          <p:cNvPr id="5" name="Shape 3"/>
          <p:cNvSpPr/>
          <p:nvPr/>
        </p:nvSpPr>
        <p:spPr>
          <a:xfrm>
            <a:off x="3657600" y="3291840"/>
            <a:ext cx="1828800" cy="3658"/>
          </a:xfrm>
          <a:prstGeom prst="rect">
            <a:avLst/>
          </a:prstGeom>
          <a:solidFill>
            <a:srgbClr val="E8B931"/>
          </a:solidFill>
          <a:ln/>
        </p:spPr>
        <p:txBody>
          <a:bodyPr/>
          <a:lstStyle/>
          <a:p>
            <a:endParaRPr lang="zh-SG" altLang="en-US"/>
          </a:p>
        </p:txBody>
      </p:sp>
      <p:sp>
        <p:nvSpPr>
          <p:cNvPr id="6" name="Shape 4"/>
          <p:cNvSpPr/>
          <p:nvPr/>
        </p:nvSpPr>
        <p:spPr>
          <a:xfrm>
            <a:off x="0" y="5070348"/>
            <a:ext cx="9144000" cy="73152"/>
          </a:xfrm>
          <a:prstGeom prst="rect">
            <a:avLst/>
          </a:prstGeom>
          <a:solidFill>
            <a:srgbClr val="E8B931"/>
          </a:solidFill>
          <a:ln/>
        </p:spPr>
        <p:txBody>
          <a:bodyPr/>
          <a:lstStyle/>
          <a:p>
            <a:endParaRPr lang="zh-SG" altLang="en-US"/>
          </a:p>
        </p:txBody>
      </p:sp>
      <p:sp>
        <p:nvSpPr>
          <p:cNvPr id="7" name="Text 2">
            <a:extLst>
              <a:ext uri="{FF2B5EF4-FFF2-40B4-BE49-F238E27FC236}">
                <a16:creationId xmlns:a16="http://schemas.microsoft.com/office/drawing/2014/main" id="{73A3701F-6D40-0401-0A1F-A885F5573495}"/>
              </a:ext>
            </a:extLst>
          </p:cNvPr>
          <p:cNvSpPr/>
          <p:nvPr/>
        </p:nvSpPr>
        <p:spPr>
          <a:xfrm>
            <a:off x="0" y="3524098"/>
            <a:ext cx="9144000" cy="457200"/>
          </a:xfrm>
          <a:prstGeom prst="rect">
            <a:avLst/>
          </a:prstGeom>
          <a:noFill/>
          <a:ln/>
        </p:spPr>
        <p:txBody>
          <a:bodyPr wrap="square" lIns="0" tIns="0" rIns="0" bIns="0" rtlCol="0" anchor="ctr"/>
          <a:lstStyle/>
          <a:p>
            <a:pPr marL="0" indent="0" algn="ctr">
              <a:buNone/>
            </a:pPr>
            <a:r>
              <a:rPr lang="en-US" sz="1800" i="1" dirty="0">
                <a:solidFill>
                  <a:srgbClr val="CADCFC"/>
                </a:solidFill>
                <a:latin typeface="Calibri" pitchFamily="34" charset="0"/>
                <a:ea typeface="Calibri" pitchFamily="34" charset="-122"/>
                <a:cs typeface="Calibri" pitchFamily="34" charset="-120"/>
              </a:rPr>
              <a:t>Visit</a:t>
            </a:r>
            <a:r>
              <a:rPr lang="zh-CN" altLang="en-US" sz="1800" i="1" dirty="0">
                <a:solidFill>
                  <a:srgbClr val="CADCFC"/>
                </a:solidFill>
                <a:latin typeface="Calibri" pitchFamily="34" charset="0"/>
                <a:ea typeface="Calibri" pitchFamily="34" charset="-122"/>
                <a:cs typeface="Calibri" pitchFamily="34" charset="-120"/>
              </a:rPr>
              <a:t> </a:t>
            </a:r>
            <a:r>
              <a:rPr lang="en-US" altLang="zh-CN" sz="1800" i="1" dirty="0">
                <a:solidFill>
                  <a:srgbClr val="CADCFC"/>
                </a:solidFill>
                <a:latin typeface="Calibri" pitchFamily="34" charset="0"/>
                <a:ea typeface="Calibri" pitchFamily="34" charset="-122"/>
                <a:cs typeface="Calibri" pitchFamily="34" charset="-120"/>
              </a:rPr>
              <a:t>Our</a:t>
            </a:r>
            <a:r>
              <a:rPr lang="zh-CN" altLang="en-US" sz="1800" i="1" dirty="0">
                <a:solidFill>
                  <a:srgbClr val="CADCFC"/>
                </a:solidFill>
                <a:latin typeface="Calibri" pitchFamily="34" charset="0"/>
                <a:ea typeface="Calibri" pitchFamily="34" charset="-122"/>
                <a:cs typeface="Calibri" pitchFamily="34" charset="-120"/>
              </a:rPr>
              <a:t> </a:t>
            </a:r>
            <a:r>
              <a:rPr lang="en-US" altLang="zh-CN" sz="1800" i="1" dirty="0">
                <a:solidFill>
                  <a:srgbClr val="CADCFC"/>
                </a:solidFill>
                <a:latin typeface="Calibri" pitchFamily="34" charset="0"/>
                <a:ea typeface="Calibri" pitchFamily="34" charset="-122"/>
                <a:cs typeface="Calibri" pitchFamily="34" charset="-120"/>
              </a:rPr>
              <a:t>Repository</a:t>
            </a:r>
            <a:r>
              <a:rPr lang="zh-CN" altLang="en-US" sz="1800" i="1" dirty="0">
                <a:solidFill>
                  <a:srgbClr val="CADCFC"/>
                </a:solidFill>
                <a:latin typeface="Calibri" pitchFamily="34" charset="0"/>
                <a:ea typeface="Calibri" pitchFamily="34" charset="-122"/>
                <a:cs typeface="Calibri" pitchFamily="34" charset="-120"/>
              </a:rPr>
              <a:t> </a:t>
            </a:r>
            <a:r>
              <a:rPr lang="en-US" altLang="zh-CN" sz="1800" i="1" dirty="0">
                <a:solidFill>
                  <a:srgbClr val="CADCFC"/>
                </a:solidFill>
                <a:latin typeface="Calibri" pitchFamily="34" charset="0"/>
                <a:ea typeface="Calibri" pitchFamily="34" charset="-122"/>
                <a:cs typeface="Calibri" pitchFamily="34" charset="-120"/>
              </a:rPr>
              <a:t>for</a:t>
            </a:r>
            <a:r>
              <a:rPr lang="zh-CN" altLang="en-US" sz="1800" i="1" dirty="0">
                <a:solidFill>
                  <a:srgbClr val="CADCFC"/>
                </a:solidFill>
                <a:latin typeface="Calibri" pitchFamily="34" charset="0"/>
                <a:ea typeface="Calibri" pitchFamily="34" charset="-122"/>
                <a:cs typeface="Calibri" pitchFamily="34" charset="-120"/>
              </a:rPr>
              <a:t> </a:t>
            </a:r>
            <a:r>
              <a:rPr lang="en-US" altLang="zh-CN" i="1" dirty="0">
                <a:solidFill>
                  <a:srgbClr val="CADCFC"/>
                </a:solidFill>
                <a:latin typeface="Calibri" pitchFamily="34" charset="0"/>
                <a:ea typeface="Calibri" pitchFamily="34" charset="-122"/>
                <a:cs typeface="Calibri" pitchFamily="34" charset="-120"/>
              </a:rPr>
              <a:t>M</a:t>
            </a:r>
            <a:r>
              <a:rPr lang="en-US" altLang="zh-CN" sz="1800" i="1" dirty="0">
                <a:solidFill>
                  <a:srgbClr val="CADCFC"/>
                </a:solidFill>
                <a:latin typeface="Calibri" pitchFamily="34" charset="0"/>
                <a:ea typeface="Calibri" pitchFamily="34" charset="-122"/>
                <a:cs typeface="Calibri" pitchFamily="34" charset="-120"/>
              </a:rPr>
              <a:t>ore</a:t>
            </a:r>
            <a:r>
              <a:rPr lang="zh-CN" altLang="en-US" sz="1800" i="1" dirty="0">
                <a:solidFill>
                  <a:srgbClr val="CADCFC"/>
                </a:solidFill>
                <a:latin typeface="Calibri" pitchFamily="34" charset="0"/>
                <a:ea typeface="Calibri" pitchFamily="34" charset="-122"/>
                <a:cs typeface="Calibri" pitchFamily="34" charset="-120"/>
              </a:rPr>
              <a:t> </a:t>
            </a:r>
            <a:r>
              <a:rPr lang="en-US" altLang="zh-CN" i="1" dirty="0">
                <a:solidFill>
                  <a:srgbClr val="CADCFC"/>
                </a:solidFill>
                <a:latin typeface="Calibri" pitchFamily="34" charset="0"/>
                <a:ea typeface="Calibri" pitchFamily="34" charset="-122"/>
                <a:cs typeface="Calibri" pitchFamily="34" charset="-120"/>
              </a:rPr>
              <a:t>Details</a:t>
            </a:r>
          </a:p>
          <a:p>
            <a:pPr algn="ctr"/>
            <a:r>
              <a:rPr lang="en-US" altLang="zh-CN" sz="1600" i="1" dirty="0">
                <a:solidFill>
                  <a:srgbClr val="CADCFC"/>
                </a:solidFill>
                <a:latin typeface="Calibri" pitchFamily="34" charset="0"/>
                <a:ea typeface="Calibri" pitchFamily="34" charset="-122"/>
                <a:cs typeface="Calibri" pitchFamily="34" charset="-120"/>
                <a:hlinkClick r:id="rId3"/>
              </a:rPr>
              <a:t>https://github.com/seaskyjj/MNIST-MSI</a:t>
            </a:r>
            <a:endParaRPr lang="en-US" altLang="zh-CN" sz="1600" i="1" dirty="0">
              <a:solidFill>
                <a:srgbClr val="CADCFC"/>
              </a:solidFill>
              <a:latin typeface="Calibri" pitchFamily="34" charset="0"/>
              <a:ea typeface="Calibri" pitchFamily="34" charset="-122"/>
              <a:cs typeface="Calibri" pitchFamily="34"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1193</TotalTime>
  <Words>3408</Words>
  <Application>Microsoft Macintosh PowerPoint</Application>
  <PresentationFormat>全屏显示(16:9)</PresentationFormat>
  <Paragraphs>573</Paragraphs>
  <Slides>30</Slides>
  <Notes>30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30</vt:i4>
      </vt:variant>
    </vt:vector>
  </HeadingPairs>
  <TitlesOfParts>
    <vt:vector size="35" baseType="lpstr">
      <vt:lpstr>Arial</vt:lpstr>
      <vt:lpstr>Calibri</vt:lpstr>
      <vt:lpstr>Consolas</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MNIST Handwritten Digit Recognition</dc:title>
  <dc:subject>PptxGenJS Presentation</dc:subject>
  <dc:creator>MSI 5102</dc:creator>
  <cp:lastModifiedBy>Jia Jie</cp:lastModifiedBy>
  <cp:revision>42</cp:revision>
  <dcterms:created xsi:type="dcterms:W3CDTF">2026-04-05T15:05:24Z</dcterms:created>
  <dcterms:modified xsi:type="dcterms:W3CDTF">2026-04-09T08:06:41Z</dcterms:modified>
</cp:coreProperties>
</file>