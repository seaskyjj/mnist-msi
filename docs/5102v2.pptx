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7_F2959D1D.xml" ContentType="application/vnd.ms-powerpoint.comments+xml"/>
  <Override PartName="/ppt/notesSlides/notesSlide8.xml" ContentType="application/vnd.openxmlformats-officedocument.presentationml.notesSlide+xml"/>
  <Override PartName="/ppt/comments/modernComment_106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8_0.xml" ContentType="application/vnd.ms-powerpoint.comments+xml"/>
  <Override PartName="/ppt/notesSlides/notesSlide11.xml" ContentType="application/vnd.openxmlformats-officedocument.presentationml.notesSlide+xml"/>
  <Override PartName="/ppt/comments/modernComment_118_132174C3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comments/modernComment_11A_24F12051.xml" ContentType="application/vnd.ms-powerpoint.comments+xml"/>
  <Override PartName="/ppt/notesSlides/notesSlide20.xml" ContentType="application/vnd.openxmlformats-officedocument.presentationml.notesSlide+xml"/>
  <Override PartName="/ppt/comments/modernComment_11F_F1FAF29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4" r:id="rId11"/>
    <p:sldId id="280" r:id="rId12"/>
    <p:sldId id="288" r:id="rId13"/>
    <p:sldId id="265" r:id="rId14"/>
    <p:sldId id="266" r:id="rId15"/>
    <p:sldId id="268" r:id="rId16"/>
    <p:sldId id="281" r:id="rId17"/>
    <p:sldId id="269" r:id="rId18"/>
    <p:sldId id="270" r:id="rId19"/>
    <p:sldId id="282" r:id="rId20"/>
    <p:sldId id="287" r:id="rId21"/>
    <p:sldId id="271" r:id="rId22"/>
    <p:sldId id="272" r:id="rId23"/>
    <p:sldId id="283" r:id="rId24"/>
    <p:sldId id="285" r:id="rId25"/>
    <p:sldId id="284" r:id="rId26"/>
    <p:sldId id="273" r:id="rId27"/>
    <p:sldId id="274" r:id="rId28"/>
    <p:sldId id="275" r:id="rId29"/>
    <p:sldId id="276" r:id="rId30"/>
    <p:sldId id="277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E01C8B-3828-1E15-BDF5-BA2ECC257552}" name="Timothy Gan" initials="TG" userId="603b8ecd324149de" providerId="Windows Live"/>
  <p188:author id="{288F25A8-9833-5441-1BBD-7C50E276D034}" name="Jia Jie" initials="JJ" userId="S::e1553212@u.nus.edu::6cc7a658-4fb6-4d94-bc39-771ba04268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7CCA"/>
    <a:srgbClr val="434A76"/>
    <a:srgbClr val="4A55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87830" autoAdjust="0"/>
  </p:normalViewPr>
  <p:slideViewPr>
    <p:cSldViewPr snapToGrid="0" snapToObjects="1">
      <p:cViewPr varScale="1">
        <p:scale>
          <a:sx n="140" d="100"/>
          <a:sy n="140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D7DC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zh-S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CNN</c:v>
                </c:pt>
                <c:pt idx="1">
                  <c:v>MLP</c:v>
                </c:pt>
                <c:pt idx="2">
                  <c:v>KNN</c:v>
                </c:pt>
                <c:pt idx="3">
                  <c:v>LR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99.65</c:v>
                </c:pt>
                <c:pt idx="1">
                  <c:v>98.72</c:v>
                </c:pt>
                <c:pt idx="2">
                  <c:v>97.74</c:v>
                </c:pt>
                <c:pt idx="3">
                  <c:v>92.27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C9-A940-8149-A40C950780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omments/modernComment_11A_24F120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AFB986-53E7-491A-947F-E89FC2B56A57}" authorId="{1FE01C8B-3828-1E15-BDF5-BA2ECC257552}" created="2026-04-06T08:45:36.421">
    <pc:sldMkLst xmlns:pc="http://schemas.microsoft.com/office/powerpoint/2013/main/command">
      <pc:docMk/>
      <pc:sldMk cId="619782225" sldId="282"/>
    </pc:sldMkLst>
    <p188:replyLst>
      <p188:reply id="{2006278C-E79D-3C49-8A34-D9E78F55DB22}" authorId="{288F25A8-9833-5441-1BBD-7C50E276D034}" created="2026-04-07T04:10:27.888">
        <p188:txBody>
          <a:bodyPr/>
          <a:lstStyle/>
          <a:p>
            <a:r>
              <a:rPr lang="zh-SG" altLang="en-US"/>
              <a:t>I think the most impoart message in this page is confusion matrix</a:t>
            </a:r>
          </a:p>
        </p188:txBody>
      </p188:reply>
    </p188:replyLst>
    <p188:txBody>
      <a:bodyPr/>
      <a:lstStyle/>
      <a:p>
        <a:r>
          <a:rPr lang="en-SG"/>
          <a:t>Do we need this slide? It seems slide 17 is enough.
Maybe this slide should be on the comparison, currently is missed out:
• Use of appropriate metrics (accuracy, confusion matrix, etc.)
• Clear comparison between models
• Insightful discussion of strengths/weaknesses</a:t>
        </a:r>
      </a:p>
    </p188:txBody>
  </p188:cm>
</p188:cmLst>
</file>

<file path=ppt/comments/modernComment_11F_F1FAF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700B1B-B90E-4894-966E-EFA6E65B1D53}" authorId="{1FE01C8B-3828-1E15-BDF5-BA2ECC257552}" created="2026-04-06T08:55:37.023">
    <pc:sldMkLst xmlns:pc="http://schemas.microsoft.com/office/powerpoint/2013/main/command">
      <pc:docMk/>
      <pc:sldMk cId="253734697" sldId="287"/>
    </pc:sldMkLst>
    <p188:replyLst>
      <p188:reply id="{00F8AF4B-4566-6240-A7E3-7BBE79CD08C1}" authorId="{288F25A8-9833-5441-1BBD-7C50E276D034}" created="2026-04-07T04:11:59.069">
        <p188:txBody>
          <a:bodyPr/>
          <a:lstStyle/>
          <a:p>
            <a:r>
              <a:rPr lang="zh-SG" altLang="en-US"/>
              <a:t>shall we move this page to the tail? and merge it with Main Conclusions?</a:t>
            </a:r>
          </a:p>
        </p188:txBody>
      </p188:reply>
    </p188:replyLst>
    <p188:txBody>
      <a:bodyPr/>
      <a:lstStyle/>
      <a:p>
        <a:r>
          <a:rPr lang="en-SG"/>
          <a:t>Maybe something like this slide. It has to clearly show the comparisons of each model side-by-side.
Current conclusion slide is hard to follow because they are separated points on their own.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C38CF1-3E32-4FC4-8411-D642448FC8CE}" authorId="{1FE01C8B-3828-1E15-BDF5-BA2ECC257552}" created="2026-04-06T08:15:28.479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SG"/>
          <a:t>Insight is only on lower PCA retention. How about the other observations you made?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90A2CC-C18D-4AF5-AEF2-D4AC93DEAEC8}" authorId="{1FE01C8B-3828-1E15-BDF5-BA2ECC257552}" created="2026-04-06T08:39:56.0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2" creationId="{00000000-0000-0000-0000-000000000000}"/>
      <ac:txMk cp="200" len="11">
        <ac:context len="250" hash="2192784792"/>
      </ac:txMk>
    </ac:txMkLst>
    <p188:pos x="4040506" y="562928"/>
    <p188:replyLst>
      <p188:reply id="{9DFBBDA0-18C3-5C49-BC0E-3620F920EB14}" authorId="{288F25A8-9833-5441-1BBD-7C50E276D034}" created="2026-04-07T03:59:46.303">
        <p188:txBody>
          <a:bodyPr/>
          <a:lstStyle/>
          <a:p>
            <a:r>
              <a:rPr lang="zh-SG" altLang="en-US"/>
              <a:t>modified</a:t>
            </a:r>
          </a:p>
        </p188:txBody>
      </p188:reply>
    </p188:replyLst>
    <p188:txBody>
      <a:bodyPr/>
      <a:lstStyle/>
      <a:p>
        <a:r>
          <a:rPr lang="en-SG"/>
          <a:t>We have not seen all models yet, so this finding might be better for the summary table comparing all the models</a:t>
        </a:r>
      </a:p>
    </p188:txBody>
  </p188:cm>
  <p188:cm id="{DC5369C7-7BE3-4B49-B2FF-CEA1AA02D051}" authorId="{1FE01C8B-3828-1E15-BDF5-BA2ECC257552}" created="2026-04-06T08:40:34.5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2" creationId="{00000000-0000-0000-0000-000000000000}"/>
    </ac:deMkLst>
    <p188:replyLst>
      <p188:reply id="{E9D96086-1E95-924E-8C1C-C85D49B06460}" authorId="{288F25A8-9833-5441-1BBD-7C50E276D034}" created="2026-04-07T03:58:38.803">
        <p188:txBody>
          <a:bodyPr/>
          <a:lstStyle/>
          <a:p>
            <a:r>
              <a:rPr lang="zh-SG" altLang="en-US"/>
              <a:t>added page below</a:t>
            </a:r>
          </a:p>
        </p188:txBody>
      </p188:reply>
    </p188:replyLst>
    <p188:txBody>
      <a:bodyPr/>
      <a:lstStyle/>
      <a:p>
        <a:r>
          <a:rPr lang="en-SG"/>
          <a:t>For this section, Is it better to put in a separate slide, ‘Key Observations’, like you did for KNN?</a:t>
        </a:r>
      </a:p>
    </p188:txBody>
  </p188:cm>
</p188:cmLst>
</file>

<file path=ppt/comments/modernComment_117_F2959D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522697-B6DD-47C3-A2A7-55BFD2C4A9C5}" authorId="{1FE01C8B-3828-1E15-BDF5-BA2ECC257552}" created="2026-04-06T08:36:51.2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69891357" sldId="279"/>
      <ac:spMk id="2" creationId="{B4F70391-9576-3F5C-9D60-009C21C563C7}"/>
    </ac:deMkLst>
    <p188:replyLst>
      <p188:reply id="{08C4AB84-6486-9741-86E9-34EA34B0F5BE}" authorId="{288F25A8-9833-5441-1BBD-7C50E276D034}" created="2026-04-07T03:49:44.966">
        <p188:txBody>
          <a:bodyPr/>
          <a:lstStyle/>
          <a:p>
            <a:r>
              <a:rPr lang="zh-SG" altLang="en-US"/>
              <a:t>the lighter color gets the better performance. and the third pic just likes elbow method in which k = 3 the model gets the best result</a:t>
            </a:r>
          </a:p>
        </p188:txBody>
      </p188:reply>
    </p188:replyLst>
    <p188:txBody>
      <a:bodyPr/>
      <a:lstStyle/>
      <a:p>
        <a:r>
          <a:rPr lang="en-SG"/>
          <a:t>I see you want to animate the line graph, I’m not sure how to interpret the pictures behind it. </a:t>
        </a:r>
      </a:p>
    </p188:txBody>
  </p188:cm>
</p188:cmLst>
</file>

<file path=ppt/comments/modernComment_118_132174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AA2CC6-6561-4213-938D-6156B1CF586D}" authorId="{1FE01C8B-3828-1E15-BDF5-BA2ECC257552}" created="2026-04-06T08:40:49.503">
    <pc:sldMkLst xmlns:pc="http://schemas.microsoft.com/office/powerpoint/2013/main/command">
      <pc:docMk/>
      <pc:sldMk cId="320959683" sldId="280"/>
    </pc:sldMkLst>
    <p188:replyLst>
      <p188:reply id="{4834E382-BC6C-DE4C-94C9-7CD8473F4CFD}" authorId="{288F25A8-9833-5441-1BBD-7C50E276D034}" created="2026-04-07T03:51:36.798">
        <p188:txBody>
          <a:bodyPr/>
          <a:lstStyle/>
          <a:p>
            <a:r>
              <a:rPr lang="zh-SG" altLang="en-US"/>
              <a:t>this is the cross vaildation result which means all prarameters comparasion</a:t>
            </a:r>
          </a:p>
        </p188:txBody>
      </p188:reply>
    </p188:replyLst>
    <p188:txBody>
      <a:bodyPr/>
      <a:lstStyle/>
      <a:p>
        <a:r>
          <a:rPr lang="en-SG"/>
          <a:t>What is the main takeaway for this slide?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02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9DC1-BA89-C959-7DA0-E5520EAE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B4783-05AA-A919-67A6-7329D0065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044B0-863F-92E1-BB5B-DCED6447D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AE18A-F678-4F81-3706-88266753C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3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5A2F-151F-4047-0DA0-44DA4C40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EB631-29DB-B0F8-1180-8150A5635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397EA-15AB-E9EE-852D-FE2C68577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3A32C-F18D-5E6D-58CF-F16ED85B1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25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1EF6-FF74-D909-4E6F-6AED6376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9418B-51E5-747E-AA2A-DDBF3704A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F4036-F241-CCE6-00D9-0C312325A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A8092-46D1-4906-447C-5C77BF39E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89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1889-130F-7782-E87E-0D171D2C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C6C25-7246-7D8B-4662-F9C471FD7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98F72-87A3-75DA-339B-5BA4D4ADF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FEE9-D4AC-B79B-80C9-00CA2C83D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3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AC66-6751-A1A3-B6ED-B4DC4989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2F659-B589-C362-C7FF-047DA3277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72BC4-CCD2-5CBB-77B8-A7CF61160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97526-C775-EF96-B158-C06DDD10F5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21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C3E1-E7BB-33AA-A34A-5EF91F3F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D1CFE-AAC9-8A90-0480-62B2EE38E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F0FE1-306D-2554-D305-4AE5B75FB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4CC9C-06B1-0672-5D85-8D6933C31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51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F13D-E8EC-08A4-F76F-197E6A07A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84989-43FD-9C20-CC5D-1008DA2F3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43AE8-7A09-3B32-EE3A-A49C1AC89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[Tim]: Missing: Interpretation of clustering patterns</a:t>
            </a:r>
            <a:br>
              <a:rPr lang="en-US"/>
            </a:br>
            <a:r>
              <a:rPr lang="en-US"/>
              <a:t>t-SNE visualization is much better, ighly distinct clusters. It also shows some of the established ‘common misclassifications’ like 4 and 9, 3 and 8, 3 and 5.</a:t>
            </a:r>
            <a:br>
              <a:rPr lang="en-US"/>
            </a:br>
            <a:r>
              <a:rPr lang="en-US"/>
              <a:t>Why it is better? Because it preserves local non-linear structures and prioritises local neighbours, thereby similar points are placed closer together forming more distinct clusters.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557FA-501A-EA0E-DA99-92379B82D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23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F07A9-A27A-AEEF-19DF-78D83A65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63F5D-10A7-98D0-50BA-ECB5350B2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2518F-B916-E537-473A-44FEBF574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[Tim]: Missing: Interpretation of clustering patterns</a:t>
            </a:r>
            <a:br>
              <a:rPr lang="en-US" dirty="0"/>
            </a:br>
            <a:r>
              <a:rPr lang="en-US" dirty="0"/>
              <a:t>t-SNE visualization is much better, </a:t>
            </a:r>
            <a:r>
              <a:rPr lang="en-US" dirty="0" err="1"/>
              <a:t>ighly</a:t>
            </a:r>
            <a:r>
              <a:rPr lang="en-US" dirty="0"/>
              <a:t> distinct clusters. It also shows some of the established ‘common misclassifications’ like 4 and 9, 3 and 8, 3 and 5.</a:t>
            </a:r>
            <a:br>
              <a:rPr lang="en-US" dirty="0"/>
            </a:br>
            <a:r>
              <a:rPr lang="en-US" dirty="0"/>
              <a:t>Why it is better? Because it preserves local non-linear structures and </a:t>
            </a:r>
            <a:r>
              <a:rPr lang="en-US" dirty="0" err="1"/>
              <a:t>prioritises</a:t>
            </a:r>
            <a:r>
              <a:rPr lang="en-US" dirty="0"/>
              <a:t> local </a:t>
            </a:r>
            <a:r>
              <a:rPr lang="en-US" dirty="0" err="1"/>
              <a:t>neighbours</a:t>
            </a:r>
            <a:r>
              <a:rPr lang="en-US" dirty="0"/>
              <a:t>, thereby similar points are placed closer together forming more distinct clusters.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DF61F-2A45-53A6-8802-22141CB37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24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D4D3-8361-D318-E755-88E968C6E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F84A1-6594-0A33-AA9C-E68BF3B32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3B8F2-D1F9-2280-32E8-75E65E00F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C1383-7ECF-09A4-1D8B-DA21F54A5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359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F2959D1D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132174C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24F1205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F1FAF2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5102  |  Type 2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Handwritten Digit Recognition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  |  KNN  |  Logistic Regression  |  MLP  |  CNN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Report &amp; Model Comparison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Workflow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09928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Pipeline &amp; Grid Search</a:t>
            </a:r>
            <a:r>
              <a:rPr lang="zh-CN" alt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93976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0939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Pipeline &amp; Grid Search</a:t>
            </a:r>
            <a:r>
              <a:rPr lang="zh-CN" alt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478024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4780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Network</a:t>
            </a:r>
            <a:r>
              <a:rPr lang="zh-CN" alt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zh-CN" alt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862072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8575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Comparison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630168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2415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(PCA &amp; t-SNE)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014216"/>
            <a:ext cx="502920" cy="320040"/>
          </a:xfrm>
          <a:prstGeom prst="rect">
            <a:avLst/>
          </a:prstGeom>
          <a:solidFill>
            <a:srgbClr val="3D7DC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6255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0096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Workflow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0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8" name="Shape 6"/>
          <p:cNvSpPr/>
          <p:nvPr/>
        </p:nvSpPr>
        <p:spPr>
          <a:xfrm>
            <a:off x="414338" y="1342548"/>
            <a:ext cx="3495675" cy="245840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9" name="Shape 7"/>
          <p:cNvSpPr/>
          <p:nvPr/>
        </p:nvSpPr>
        <p:spPr>
          <a:xfrm>
            <a:off x="414338" y="1342549"/>
            <a:ext cx="64008" cy="2458402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1" name="Text 9"/>
          <p:cNvSpPr/>
          <p:nvPr/>
        </p:nvSpPr>
        <p:spPr>
          <a:xfrm>
            <a:off x="580645" y="1543527"/>
            <a:ext cx="3329368" cy="2074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normalize MNIST</a:t>
            </a:r>
          </a:p>
          <a:p>
            <a:pPr marL="800100" lvl="1" indent="-342900">
              <a:spcAft>
                <a:spcPts val="200"/>
              </a:spcAft>
              <a:buSzPct val="100000"/>
              <a:buFont typeface="+mj-lt"/>
              <a:buAutoNum type="alphaLcPeriod"/>
            </a:pPr>
            <a:r>
              <a:rPr lang="fr-FR" sz="1400" dirty="0">
                <a:solidFill>
                  <a:srgbClr val="4A5568"/>
                </a:solidFill>
              </a:rPr>
              <a:t>70,000 </a:t>
            </a:r>
            <a:r>
              <a:rPr lang="fr-FR" sz="1400" dirty="0" err="1">
                <a:solidFill>
                  <a:srgbClr val="4A5568"/>
                </a:solidFill>
              </a:rPr>
              <a:t>grayscale</a:t>
            </a:r>
            <a:r>
              <a:rPr lang="fr-FR" sz="1400" dirty="0">
                <a:solidFill>
                  <a:srgbClr val="4A5568"/>
                </a:solidFill>
              </a:rPr>
              <a:t> images (28x28)</a:t>
            </a:r>
          </a:p>
          <a:p>
            <a:pPr marL="800100" lvl="1" indent="-342900">
              <a:spcAft>
                <a:spcPts val="200"/>
              </a:spcAft>
              <a:buSzPct val="100000"/>
              <a:buFont typeface="+mj-lt"/>
              <a:buAutoNum type="alphaLcPeriod"/>
            </a:pPr>
            <a:r>
              <a:rPr lang="fr-FR" sz="1400" dirty="0">
                <a:solidFill>
                  <a:srgbClr val="4A5568"/>
                </a:solidFill>
              </a:rPr>
              <a:t>10 classes (digits 0-9)</a:t>
            </a:r>
          </a:p>
          <a:p>
            <a:pPr marL="800100" lvl="1" indent="-342900">
              <a:spcAft>
                <a:spcPts val="200"/>
              </a:spcAft>
              <a:buSzPct val="100000"/>
              <a:buFont typeface="+mj-lt"/>
              <a:buAutoNum type="alphaLcPeriod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normalized to [0, 1]</a:t>
            </a:r>
            <a:endParaRPr lang="en-US" sz="1400" dirty="0">
              <a:solidFill>
                <a:srgbClr val="4A5568"/>
              </a:solidFill>
            </a:endParaRPr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for KNN &amp; LR (Pipeline)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MLP &amp; CNN (54K train / 6K val)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all models on test set (10K)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t-SNE visualization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25" name="图片 25">
            <a:extLst>
              <a:ext uri="{FF2B5EF4-FFF2-40B4-BE49-F238E27FC236}">
                <a16:creationId xmlns:a16="http://schemas.microsoft.com/office/drawing/2014/main" id="{2D09C243-978B-693B-34A9-148C13F72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49" y="2188633"/>
            <a:ext cx="4602016" cy="1612318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6009D77F-0B0B-BCE3-C357-FCB3459AE014}"/>
              </a:ext>
            </a:extLst>
          </p:cNvPr>
          <p:cNvSpPr/>
          <p:nvPr/>
        </p:nvSpPr>
        <p:spPr>
          <a:xfrm>
            <a:off x="4193749" y="1342548"/>
            <a:ext cx="4602016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algn="ctr">
              <a:spcAft>
                <a:spcPts val="400"/>
              </a:spcAft>
              <a:buSzPct val="100000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train / 10,000 test (follows MNIST benchmark)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1C4109BC-578C-1C6A-AEBE-5573D0C6F7AA}"/>
              </a:ext>
            </a:extLst>
          </p:cNvPr>
          <p:cNvSpPr/>
          <p:nvPr/>
        </p:nvSpPr>
        <p:spPr>
          <a:xfrm>
            <a:off x="3770757" y="2137410"/>
            <a:ext cx="278511" cy="434339"/>
          </a:xfrm>
          <a:prstGeom prst="rightBrace">
            <a:avLst/>
          </a:prstGeom>
          <a:ln w="28575">
            <a:solidFill>
              <a:srgbClr val="3D7C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C9BA7EF-9538-4F6C-D1BF-8759DE343D9B}"/>
              </a:ext>
            </a:extLst>
          </p:cNvPr>
          <p:cNvSpPr/>
          <p:nvPr/>
        </p:nvSpPr>
        <p:spPr>
          <a:xfrm>
            <a:off x="4193749" y="1334035"/>
            <a:ext cx="64008" cy="648594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 (KNN)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 — Pipeline (PCA + KNN)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" cy="228600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Space (5-Fold CV)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variance: 0.90, 0.95, 0.99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1, 3, 5, 7, 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uniform, distance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euclidean, manhattan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combinations x 5 folds = 300 fits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64008" cy="228600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Configuration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euclidean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3, weights = distance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 retained: 0.90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accuracy: 0.9758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time: 510.55 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</a:t>
            </a:r>
            <a:r>
              <a:rPr lang="en-US" sz="280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97.74%</a:t>
            </a: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Train: 0.22s  |  Predict: 0.25s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9C330-A2AD-ADBB-7D74-FF8036C6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F70391-9576-3F5C-9D60-009C21C563C7}"/>
              </a:ext>
            </a:extLst>
          </p:cNvPr>
          <p:cNvSpPr/>
          <p:nvPr/>
        </p:nvSpPr>
        <p:spPr>
          <a:xfrm>
            <a:off x="731520" y="278723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 — </a:t>
            </a:r>
            <a:r>
              <a:rPr lang="en-US" altLang="zh-SG" sz="2400" b="1" dirty="0" err="1">
                <a:solidFill>
                  <a:srgbClr val="1E2761"/>
                </a:solidFill>
                <a:latin typeface="Georgia" pitchFamily="34" charset="0"/>
              </a:rPr>
              <a:t>GridSearchCV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</a:rPr>
              <a:t>Result</a:t>
            </a:r>
          </a:p>
          <a:p>
            <a:r>
              <a:rPr lang="en-US" altLang="zh-SG" sz="1600" dirty="0">
                <a:solidFill>
                  <a:srgbClr val="1E2761"/>
                </a:solidFill>
                <a:latin typeface="Georgia" pitchFamily="34" charset="0"/>
              </a:rPr>
              <a:t>Best results: k=3 with PCA retention 0.9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C2A60D-96B2-E841-B07D-15911E52CC58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E856FAF-040C-E82F-574E-AD1D79F00956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B9DCBB2-0A3B-A13F-A70D-6DED34F19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32" y="956215"/>
            <a:ext cx="8576535" cy="23561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3BB396C-2313-B66F-EFD0-76CF13B5F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57380"/>
            <a:ext cx="7772400" cy="167888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5EB78EE-2B66-0E5E-0AF3-47F594E71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4472" y="1224697"/>
            <a:ext cx="5896928" cy="3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9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 — Key Observations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66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consistently outperformed Manhattan distance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90% PCA variance was better than 95% or 99%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 voting slightly outperformed uniform voting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configurations were tightly clustered — KNN is relatively stable once metric and PCA retention are well-chosen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69917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6" name="Shape 4"/>
          <p:cNvSpPr/>
          <p:nvPr/>
        </p:nvSpPr>
        <p:spPr>
          <a:xfrm>
            <a:off x="548640" y="3169917"/>
            <a:ext cx="64008" cy="100584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7" name="Text 5"/>
          <p:cNvSpPr/>
          <p:nvPr/>
        </p:nvSpPr>
        <p:spPr>
          <a:xfrm>
            <a:off x="777240" y="321563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35677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PCA retention (90%) acts as implicit regularization, reducing noise from less informative components and improving KNN's distance-based decisions.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Pipeline (PCA + LR)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" cy="201168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Space (5-Fold CV)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variance: 0.90, 0.95, 0.99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0.01, 0.1, 1.0, 10.0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lbfgs, saga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L2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combinations x 5 folds = 120 fits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64008" cy="201168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Configuration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0.1, solver = lbfgs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L2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 retained: 0.99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accuracy: 0.9216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time: 626.57 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0557" y="326136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0.99 dominated the top configurations — </a:t>
            </a:r>
            <a:r>
              <a:rPr lang="en-US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Logisitc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Regression benefits from more features than KNN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 was substantially faster than saga at comparable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clearly lagged behind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linear boundary is limiting on MNIST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</a:t>
            </a:r>
            <a:r>
              <a:rPr lang="en-US" sz="260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92.27%</a:t>
            </a: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Train: 0.86s  |  Predict: 0.008s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8F580-F4BB-9B3D-FE89-4029D32C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67E4B0-AC1D-06F6-94FD-F750E8FEF12E}"/>
              </a:ext>
            </a:extLst>
          </p:cNvPr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</a:t>
            </a:r>
            <a:r>
              <a:rPr lang="en-US" altLang="zh-SG" sz="2400" b="1" dirty="0" err="1">
                <a:solidFill>
                  <a:srgbClr val="1E2761"/>
                </a:solidFill>
                <a:latin typeface="Georgia" pitchFamily="34" charset="0"/>
              </a:rPr>
              <a:t>GridSearchCV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</a:rPr>
              <a:t>Result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F547F4-6F9E-06CF-CFB0-D1D04670FEF9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FF6B784-9154-4522-A576-D6CCD31B2CF0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977B3C2-BF63-8641-9006-080754127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71" y="942000"/>
            <a:ext cx="8579458" cy="212624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C4532C0-1052-DE14-09E5-E4AE8EB01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61" y="3138378"/>
            <a:ext cx="8917478" cy="19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96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33AC5-497D-5C4E-DC8B-2EA6D3E4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F257A9-A75C-5AA7-4620-2D5EF287D237}"/>
              </a:ext>
            </a:extLst>
          </p:cNvPr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SG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Key Observations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6FA995-39BE-67C5-1760-21A942DB1141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1F58A6-3F53-4A3D-AF82-5A156E3E14BD}"/>
              </a:ext>
            </a:extLst>
          </p:cNvPr>
          <p:cNvSpPr/>
          <p:nvPr/>
        </p:nvSpPr>
        <p:spPr>
          <a:xfrm>
            <a:off x="731520" y="1188720"/>
            <a:ext cx="7680960" cy="166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zh-SG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altLang="zh-CN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altLang="zh-SG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PCA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the highest-ranked configurations.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saga produced very similar validation accuracy near the top of the table.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substantially faster than saga for comparable accuracy, making it the better practical choice here.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4C684D-6A89-DCC6-A98C-8E9761D16843}"/>
              </a:ext>
            </a:extLst>
          </p:cNvPr>
          <p:cNvSpPr/>
          <p:nvPr/>
        </p:nvSpPr>
        <p:spPr>
          <a:xfrm>
            <a:off x="548640" y="3169917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D14A234-85EF-A23A-A6B8-7585539AC8C0}"/>
              </a:ext>
            </a:extLst>
          </p:cNvPr>
          <p:cNvSpPr/>
          <p:nvPr/>
        </p:nvSpPr>
        <p:spPr>
          <a:xfrm>
            <a:off x="548640" y="3169917"/>
            <a:ext cx="64008" cy="100584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A8E45B-1686-FD5A-8CEA-8DACE649812F}"/>
              </a:ext>
            </a:extLst>
          </p:cNvPr>
          <p:cNvSpPr/>
          <p:nvPr/>
        </p:nvSpPr>
        <p:spPr>
          <a:xfrm>
            <a:off x="777240" y="321563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069B2C-FB72-BF2B-92EB-BEC64A603DAF}"/>
              </a:ext>
            </a:extLst>
          </p:cNvPr>
          <p:cNvSpPr/>
          <p:nvPr/>
        </p:nvSpPr>
        <p:spPr>
          <a:xfrm>
            <a:off x="777240" y="3535677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remained clearly below KNN and both neural models, indicating that a linear decision boundary is limiting on this task even after PCA.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88F7E7-D554-E79F-2634-6988E379FAB8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1860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Neural Network</a:t>
            </a:r>
            <a:r>
              <a:rPr lang="zh-CN" alt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zh-CN" alt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</a:t>
            </a:r>
            <a:r>
              <a:rPr lang="zh-CN" alt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— Multi-Layer Perceptron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" cy="246888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DCA"/>
                </a:solidFill>
                <a:ea typeface="Consolas" pitchFamily="34" charset="-122"/>
                <a:cs typeface="Consolas" pitchFamily="34" charset="-120"/>
              </a:rPr>
              <a:t>784  -&gt;  512  -&gt;  256  -&gt;  128  -&gt;  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ReLU + Dropout per layer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rates: 0.3, 0.3, 0.2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flattened 28x28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64008" cy="246888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0.0005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1e-4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ReduceLROnPlateau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Gaussian noise (std=0.05)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50 (best checkpoint restored)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altLang="zh-SG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epoch: 4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altLang="zh-SG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Best validation accuracy: 0.9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8</a:t>
            </a:r>
            <a:r>
              <a:rPr lang="en-US" altLang="zh-SG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7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altLang="zh-SG" sz="120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</a:t>
            </a:r>
            <a:r>
              <a:rPr lang="en-US" sz="260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98.72%</a:t>
            </a: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Best Epoch: 45  |  Train: 32.19s  |  Predict: 0.024s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— Convolutional Neural Network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" cy="274320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ea typeface="Consolas" pitchFamily="34" charset="-122"/>
                <a:cs typeface="Consolas" pitchFamily="34" charset="-120"/>
              </a:rPr>
              <a:t>Block 1: Conv(32) -&gt; BN -&gt; ReLU -&gt; Conv(32) -&gt; BN -&gt; ReLU -&gt; MaxPool -&gt; Dropout(0.25)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ea typeface="Consolas" pitchFamily="34" charset="-122"/>
                <a:cs typeface="Consolas" pitchFamily="34" charset="-120"/>
              </a:rPr>
              <a:t>Block 2: Conv(64) -&gt; BN -&gt; ReLU -&gt; Conv(64) -&gt; BN -&gt; ReLU -&gt; MaxPool -&gt; Dropout(0.25)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ea typeface="Consolas" pitchFamily="34" charset="-122"/>
                <a:cs typeface="Consolas" pitchFamily="34" charset="-120"/>
              </a:rPr>
              <a:t>Head: Linear(3136-&gt;256) -&gt; BN -&gt; ReLU -&gt; Dropout(0.5) -&gt; Linear(256-&gt;10)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64008" cy="274320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(lr=0.0005, wd=1e-4)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ReduceLROnPlateau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(per-sample):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RandomRotation(+-10 deg)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RandomAffine(translate=10%)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50 (best checkpoint restored)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epoch: 44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accuracy: 0.9978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</a:t>
            </a:r>
            <a:r>
              <a:rPr lang="en-US" sz="260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</a:t>
            </a: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Best Epoch: 44  |  Train: 347.3s  |  Predict: 0.066s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BE1AD-1F54-2CA1-BDFE-B3466A03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0564CA-FC2C-51EB-9C15-747E24AFA3D8}"/>
              </a:ext>
            </a:extLst>
          </p:cNvPr>
          <p:cNvSpPr/>
          <p:nvPr/>
        </p:nvSpPr>
        <p:spPr>
          <a:xfrm>
            <a:off x="609601" y="172403"/>
            <a:ext cx="8382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Curve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 Epoch</a:t>
            </a:r>
            <a:r>
              <a:rPr lang="zh-CN" alt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5D991C-0E32-F235-C5CC-4EAE0E47F00B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375494-3B96-8DCC-8261-7EADFC4094D3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D370F73-9466-3B28-BD29-D8D6064B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9" y="814312"/>
            <a:ext cx="5561863" cy="3952875"/>
          </a:xfrm>
          <a:prstGeom prst="rect">
            <a:avLst/>
          </a:prstGeom>
        </p:spPr>
      </p:pic>
      <p:sp>
        <p:nvSpPr>
          <p:cNvPr id="4" name="Shape 7">
            <a:extLst>
              <a:ext uri="{FF2B5EF4-FFF2-40B4-BE49-F238E27FC236}">
                <a16:creationId xmlns:a16="http://schemas.microsoft.com/office/drawing/2014/main" id="{085B6932-FECB-4954-16DB-8670679F5812}"/>
              </a:ext>
            </a:extLst>
          </p:cNvPr>
          <p:cNvSpPr/>
          <p:nvPr/>
        </p:nvSpPr>
        <p:spPr>
          <a:xfrm>
            <a:off x="6177561" y="2883523"/>
            <a:ext cx="2820925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510581A-0F9D-2332-46C3-E63DABFF73EB}"/>
              </a:ext>
            </a:extLst>
          </p:cNvPr>
          <p:cNvSpPr/>
          <p:nvPr/>
        </p:nvSpPr>
        <p:spPr>
          <a:xfrm>
            <a:off x="6168417" y="2883523"/>
            <a:ext cx="64008" cy="1883664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CBDD6810-EDB2-DF4A-DFDD-7DA3C8B7CFEB}"/>
              </a:ext>
            </a:extLst>
          </p:cNvPr>
          <p:cNvSpPr/>
          <p:nvPr/>
        </p:nvSpPr>
        <p:spPr>
          <a:xfrm>
            <a:off x="6346725" y="2917813"/>
            <a:ext cx="2546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</a:t>
            </a:r>
            <a:r>
              <a:rPr lang="en-US" altLang="zh-CN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5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28AF3A7C-BB03-58F3-91A1-3FEFB9A91AE3}"/>
              </a:ext>
            </a:extLst>
          </p:cNvPr>
          <p:cNvSpPr/>
          <p:nvPr/>
        </p:nvSpPr>
        <p:spPr>
          <a:xfrm>
            <a:off x="6445784" y="3391015"/>
            <a:ext cx="254660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altLang="zh-CN" sz="12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Best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result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of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CNN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A3F54D5-27E6-5984-10E3-8F0CE4D9BD11}"/>
              </a:ext>
            </a:extLst>
          </p:cNvPr>
          <p:cNvSpPr/>
          <p:nvPr/>
        </p:nvSpPr>
        <p:spPr>
          <a:xfrm>
            <a:off x="6177561" y="820142"/>
            <a:ext cx="2820925" cy="17516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601D56F-1198-372A-49CC-66E883C8E0E3}"/>
              </a:ext>
            </a:extLst>
          </p:cNvPr>
          <p:cNvSpPr/>
          <p:nvPr/>
        </p:nvSpPr>
        <p:spPr>
          <a:xfrm>
            <a:off x="6346725" y="854432"/>
            <a:ext cx="2546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</a:t>
            </a:r>
            <a:endParaRPr lang="en-US" sz="15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7168399-CF71-B2D3-D1D5-B739B64BC0DD}"/>
              </a:ext>
            </a:extLst>
          </p:cNvPr>
          <p:cNvSpPr/>
          <p:nvPr/>
        </p:nvSpPr>
        <p:spPr>
          <a:xfrm>
            <a:off x="6445783" y="1367943"/>
            <a:ext cx="254660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altLang="zh-CN" sz="12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SG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Weight decay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Data</a:t>
            </a:r>
            <a:r>
              <a:rPr lang="zh-CN" altLang="en-US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augmentation</a:t>
            </a:r>
            <a:endParaRPr lang="en-US" sz="120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D380452-4AEB-DBE4-7FF0-218C343D4007}"/>
              </a:ext>
            </a:extLst>
          </p:cNvPr>
          <p:cNvSpPr/>
          <p:nvPr/>
        </p:nvSpPr>
        <p:spPr>
          <a:xfrm>
            <a:off x="6168417" y="803263"/>
            <a:ext cx="64008" cy="1768487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97855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altLang="zh-CN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Test-Set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Time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(Neural Network)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(Neural Network)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(Optimized)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48640" y="3108960"/>
          <a:ext cx="804672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D48D0-4267-AEBD-D896-95C760E8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878C8-99C8-3211-E659-96D74CC07F44}"/>
              </a:ext>
            </a:extLst>
          </p:cNvPr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Test-Set Comparison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1114FF-3600-08EF-ADE4-2BF5967C3D03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7B20634-679A-A577-80FA-080716C298DE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81E58A4-F3E0-1F04-D5B0-ACDCD368E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59902"/>
            <a:ext cx="9143527" cy="18835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5A7CE8-471D-CEF5-2F9D-077FB7F56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21" y="935535"/>
            <a:ext cx="7366883" cy="22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822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3FC81-7B1D-81A9-3954-70AF33DA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B530C1-1722-A439-07B6-74F7E7F8602D}"/>
              </a:ext>
            </a:extLst>
          </p:cNvPr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models and insights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9368DC-5A51-E02B-D9C1-DF27BB488CFB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C66D5EE-C2E8-5943-8126-2BC5A6A6693A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B32B6160-DC20-4C61-8A0E-7BE871C9B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402007"/>
              </p:ext>
            </p:extLst>
          </p:nvPr>
        </p:nvGraphicFramePr>
        <p:xfrm>
          <a:off x="529588" y="1759274"/>
          <a:ext cx="8046720" cy="3200400"/>
        </p:xfrm>
        <a:graphic>
          <a:graphicData uri="http://schemas.openxmlformats.org/drawingml/2006/table">
            <a:tbl>
              <a:tblPr/>
              <a:tblGrid>
                <a:gridCol w="209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3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Remarks / Insights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34A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(Neural Network)</a:t>
                      </a:r>
                      <a:endParaRPr lang="en-US" sz="1200" b="1" dirty="0">
                        <a:solidFill>
                          <a:srgbClr val="434A7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latin typeface="Calibri" charset="0"/>
                          <a:ea typeface="Calibri" charset="0"/>
                          <a:cs typeface="Calibri" charset="0"/>
                        </a:rPr>
                        <a:t>Best performance because it is able to capture non-linear, complex spatial features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latin typeface="Calibri" charset="0"/>
                          <a:ea typeface="Calibri" charset="0"/>
                          <a:cs typeface="Calibri" charset="0"/>
                        </a:rPr>
                        <a:t>High compute time, resource-heavy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34A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(Neural Network)</a:t>
                      </a:r>
                      <a:endParaRPr lang="en-US" sz="1200" b="1" dirty="0">
                        <a:solidFill>
                          <a:srgbClr val="434A7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Strong performance,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34A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(Optimized)</a:t>
                      </a:r>
                      <a:endParaRPr lang="en-US" sz="1200" b="1" dirty="0">
                        <a:solidFill>
                          <a:srgbClr val="434A7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Surprisingly competitive baseline. Easy to train.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Sensitive to distance metrics and hyperparameter selection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34A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b="1" dirty="0">
                        <a:solidFill>
                          <a:srgbClr val="434A7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Fast and simple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Lowest relative accuracy because a linear decision boundary fundamentally limits performance on image classification.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E82DC8-5931-EAB7-0D8C-66C780ED7A06}"/>
              </a:ext>
            </a:extLst>
          </p:cNvPr>
          <p:cNvSpPr txBox="1"/>
          <p:nvPr/>
        </p:nvSpPr>
        <p:spPr>
          <a:xfrm>
            <a:off x="581023" y="1075854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Overall, model performance highlights the importance of </a:t>
            </a:r>
            <a:r>
              <a:rPr lang="en-US" sz="1400" b="1" dirty="0"/>
              <a:t>non-linear feature learning for images</a:t>
            </a:r>
            <a:r>
              <a:rPr lang="en-US" sz="1400" dirty="0"/>
              <a:t>, with deep learning models significantly outperforming linear and distance-based approaches on MNIST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537346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altLang="zh-CN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Dimensionality Reduction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&amp; t-SNE Visualization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" cy="320040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(2D)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explained: 16.70%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9.54%  |  PC2: 7.16%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broad global structure but heavy overlap among classes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0, 1, 6 show partial directional separation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compresses too much information into 2 axes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64008" cy="320040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t-SNE (2D)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Pre-step: PCA to 50D, then t-SNE to 2D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= 30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much more distinct local clusters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digits form compact, interpretable groups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appears between morphologically similar digits (e.g. 4/9, 3/5)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coarse global view  |  t-SNE = fine local class separability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AAF24-A64D-6F98-43C7-6CADD98E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93E384-4881-7168-C9E6-28873B784888}"/>
              </a:ext>
            </a:extLst>
          </p:cNvPr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&amp; t-SNE Visualization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AA68FC-1266-245B-4D19-8504D3E6D64C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2C2E275-FEB8-25D5-0F33-DDD5B190EA86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10F7C82-B31C-2CE4-627E-DEB87C0CD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29" y="937936"/>
            <a:ext cx="8568383" cy="377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23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3EDCB-7E05-FF82-BB57-1B9EAAFB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7">
            <a:extLst>
              <a:ext uri="{FF2B5EF4-FFF2-40B4-BE49-F238E27FC236}">
                <a16:creationId xmlns:a16="http://schemas.microsoft.com/office/drawing/2014/main" id="{D9426576-AA06-952E-C7B0-9DBFDCF1AA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44"/>
          <a:stretch>
            <a:fillRect/>
          </a:stretch>
        </p:blipFill>
        <p:spPr>
          <a:xfrm>
            <a:off x="4636701" y="2288738"/>
            <a:ext cx="3129555" cy="272178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0A165A1-0E70-4A09-AAEB-809C294F0A2D}"/>
              </a:ext>
            </a:extLst>
          </p:cNvPr>
          <p:cNvSpPr/>
          <p:nvPr/>
        </p:nvSpPr>
        <p:spPr>
          <a:xfrm>
            <a:off x="383281" y="179009"/>
            <a:ext cx="802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&amp; t-SNE Visualization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t-SNE is visually superior, showing highly distinct clusters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723B6B-965E-3557-8C40-6C108553D7C0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AF0010-4175-D9D1-3DA5-190B3C89544F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05F5379-B0B1-3B2F-32A8-6EC5BD31EB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656"/>
          <a:stretch>
            <a:fillRect/>
          </a:stretch>
        </p:blipFill>
        <p:spPr>
          <a:xfrm>
            <a:off x="472332" y="2432779"/>
            <a:ext cx="2931953" cy="2617755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3A4FDDAB-AA61-7D42-3873-EC99FD82997E}"/>
              </a:ext>
            </a:extLst>
          </p:cNvPr>
          <p:cNvSpPr/>
          <p:nvPr/>
        </p:nvSpPr>
        <p:spPr>
          <a:xfrm>
            <a:off x="334549" y="1011931"/>
            <a:ext cx="4073188" cy="1281255"/>
          </a:xfrm>
          <a:prstGeom prst="rect">
            <a:avLst/>
          </a:prstGeom>
          <a:noFill/>
          <a:ln/>
        </p:spPr>
        <p:txBody>
          <a:bodyPr wrap="square" lIns="18000" tIns="18000" rIns="18000" bIns="180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u="sng" dirty="0"/>
              <a:t>PCA: 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structure, results in heavy overlap among classes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compresses too much information into 2 axes</a:t>
            </a:r>
            <a:endParaRPr lang="en-US" sz="1200"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digit 1 has the clearest directional separation</a:t>
            </a:r>
            <a:endParaRPr lang="en-US" sz="12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84EA7AD-F7CA-ABD1-7733-B138886FEF43}"/>
              </a:ext>
            </a:extLst>
          </p:cNvPr>
          <p:cNvSpPr/>
          <p:nvPr/>
        </p:nvSpPr>
        <p:spPr>
          <a:xfrm>
            <a:off x="4572001" y="1011931"/>
            <a:ext cx="4374884" cy="1211101"/>
          </a:xfrm>
          <a:prstGeom prst="rect">
            <a:avLst/>
          </a:prstGeom>
          <a:noFill/>
          <a:ln/>
        </p:spPr>
        <p:txBody>
          <a:bodyPr wrap="square" lIns="18000" tIns="18000" rIns="18000" bIns="180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u="sng" dirty="0"/>
              <a:t>t-SNE: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Pre-step: PCA to 50D, then t-SNE to 2D, Perplexity = 30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non-linear structure and </a:t>
            </a:r>
            <a:r>
              <a:rPr lang="en-US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</a:t>
            </a:r>
            <a:r>
              <a:rPr lang="en-US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</a:t>
            </a:r>
            <a:endParaRPr lang="en-US" sz="12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much more distinct local clusters representing each class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Morphologically similar digits (e.g. 4 and 9, 3 and 5) are visually close / overlap each other</a:t>
            </a:r>
            <a:b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192B9C-25E6-C287-5089-3CAB0609D4D5}"/>
              </a:ext>
            </a:extLst>
          </p:cNvPr>
          <p:cNvSpPr/>
          <p:nvPr/>
        </p:nvSpPr>
        <p:spPr>
          <a:xfrm>
            <a:off x="6198208" y="2770577"/>
            <a:ext cx="733711" cy="122102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425771-8137-7FED-49DD-6FBD2B272F5D}"/>
              </a:ext>
            </a:extLst>
          </p:cNvPr>
          <p:cNvSpPr/>
          <p:nvPr/>
        </p:nvSpPr>
        <p:spPr>
          <a:xfrm>
            <a:off x="5770667" y="3789502"/>
            <a:ext cx="1029841" cy="9686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0334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34126-064B-C532-0A4D-37C37A14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2D07476-C7BA-0865-457B-092E0EFBB73A}"/>
              </a:ext>
            </a:extLst>
          </p:cNvPr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0CA7B61-32C9-F19E-756A-F6CBCBFAB752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0916520-D563-742E-B061-96D574370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05" y="1986097"/>
            <a:ext cx="7772400" cy="2723063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6DA7FC63-DA3E-E9DC-D014-F3E87DAA9B2D}"/>
              </a:ext>
            </a:extLst>
          </p:cNvPr>
          <p:cNvSpPr/>
          <p:nvPr/>
        </p:nvSpPr>
        <p:spPr>
          <a:xfrm>
            <a:off x="656507" y="1049246"/>
            <a:ext cx="4073188" cy="792162"/>
          </a:xfrm>
          <a:prstGeom prst="rect">
            <a:avLst/>
          </a:prstGeom>
          <a:noFill/>
          <a:ln/>
        </p:spPr>
        <p:txBody>
          <a:bodyPr wrap="square" lIns="18000" tIns="18000" rIns="18000" bIns="180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u="sng" dirty="0"/>
              <a:t>PCA: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9.54%  |  PC2: 7.16%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explained: 16.70%</a:t>
            </a: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36B3142-C0C2-D2C4-0764-C2B88F70673E}"/>
              </a:ext>
            </a:extLst>
          </p:cNvPr>
          <p:cNvSpPr/>
          <p:nvPr/>
        </p:nvSpPr>
        <p:spPr>
          <a:xfrm>
            <a:off x="525643" y="179009"/>
            <a:ext cx="78868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&amp; t-SNE Visualization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16.7% of the data’s variance is captured in PCA 2D, hence not being representative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B222C-90E2-23D7-DCB9-9B7723F45D8D}"/>
              </a:ext>
            </a:extLst>
          </p:cNvPr>
          <p:cNvSpPr/>
          <p:nvPr/>
        </p:nvSpPr>
        <p:spPr>
          <a:xfrm>
            <a:off x="1045811" y="2229687"/>
            <a:ext cx="224494" cy="22492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288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altLang="zh-CN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Ablation — Optimizer &amp; Weight Decay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architecture, best-checkpoint restoration. Single-run results (exploratory).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401280"/>
              </p:ext>
            </p:extLst>
          </p:nvPr>
        </p:nvGraphicFramePr>
        <p:xfrm>
          <a:off x="580644" y="1211580"/>
          <a:ext cx="7132320" cy="19202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Epoch/ValAcc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Epoch/ValAcc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0.9870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/ 0.9970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/ 0.9875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/ 0.9973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0.9878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/ 0.9978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0.9882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/ 0.9977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/ 0.9877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0.9972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3840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64008" cy="132588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Findings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 to optimizer &amp; weight decay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outperformed AdamW at fixed wd=5e-5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AdamW: wd=1e-4 -&gt; 98.60%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3337560"/>
            <a:ext cx="3840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11" name="Shape 8"/>
          <p:cNvSpPr/>
          <p:nvPr/>
        </p:nvSpPr>
        <p:spPr>
          <a:xfrm>
            <a:off x="4754880" y="3337560"/>
            <a:ext cx="64008" cy="132588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2" name="Text 9"/>
          <p:cNvSpPr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Findings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36576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Remarkably robust across all settings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range: 99.57% - 99.60%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wd=1e-4 marginally best (99.60%)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altLang="zh-CN" sz="18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" cy="5029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7D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is the strongest model — 99.65% test accuracy with per-sample data augmentation and best-checkpoint restoration.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008" cy="50292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7D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provides an excellent performance/complexity trade-off at 98.72%, especially after extending training and checkpoint selection.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64008" cy="50292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2860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7D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28600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a strong classical baseline (97.74%) — Euclidean distance + small k + 90% PCA retention is the sweet spot.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64008" cy="50292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8" name="Text 16"/>
          <p:cNvSpPr/>
          <p:nvPr/>
        </p:nvSpPr>
        <p:spPr>
          <a:xfrm>
            <a:off x="777240" y="28803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7D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288036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peaks at 92.27% — a linear decision boundary fundamentally limits performance on image classification.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64008" cy="50292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22" name="Text 20"/>
          <p:cNvSpPr/>
          <p:nvPr/>
        </p:nvSpPr>
        <p:spPr>
          <a:xfrm>
            <a:off x="777240" y="3474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7D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7472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reveals much clearer local class clusters than PCA, providing better visual insight into digit separability.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SG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64008" cy="502920"/>
          </a:xfrm>
          <a:prstGeom prst="rect">
            <a:avLst/>
          </a:prstGeom>
          <a:solidFill>
            <a:srgbClr val="3D7DC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26" name="Text 24"/>
          <p:cNvSpPr/>
          <p:nvPr/>
        </p:nvSpPr>
        <p:spPr>
          <a:xfrm>
            <a:off x="777240" y="40690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7D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06908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shows CNN is robust to optimizer/regularization choices, while MLP is more sensitive — AdamW + wd=1e-4 is a good default.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</a:rPr>
              <a:t>MSI 5102  |  MNIST Digit Recognition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3658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zh-SG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1813</Words>
  <Application>Microsoft Macintosh PowerPoint</Application>
  <PresentationFormat>全屏显示(16:9)</PresentationFormat>
  <Paragraphs>328</Paragraphs>
  <Slides>30</Slides>
  <Notes>30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Handwritten Digit Recognition</dc:title>
  <dc:subject>PptxGenJS Presentation</dc:subject>
  <dc:creator>MSI 5102</dc:creator>
  <cp:lastModifiedBy>Jia Jie</cp:lastModifiedBy>
  <cp:revision>11</cp:revision>
  <dcterms:created xsi:type="dcterms:W3CDTF">2026-04-05T15:05:24Z</dcterms:created>
  <dcterms:modified xsi:type="dcterms:W3CDTF">2026-04-07T04:12:50Z</dcterms:modified>
</cp:coreProperties>
</file>